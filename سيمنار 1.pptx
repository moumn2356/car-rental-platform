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3"/>
    <p:sldId id="257" r:id="rId4"/>
    <p:sldId id="258" r:id="rId5"/>
    <p:sldId id="259" r:id="rId6"/>
    <p:sldId id="260" r:id="rId7"/>
    <p:sldId id="261" r:id="rId8"/>
    <p:sldId id="262" r:id="rId9"/>
    <p:sldId id="263" r:id="rId10"/>
    <p:sldId id="264" r:id="rId11"/>
    <p:sldId id="265" r:id="rId12"/>
    <p:sldId id="266" r:id="rId13"/>
    <p:sldId id="276" r:id="rId14"/>
    <p:sldId id="267"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notesMaster" Target="notesMasters/notesMaster1.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2D380A-B25C-4554-9D12-6A864851EAA3}"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C53628-D422-490A-B670-D481D4DAFA63}"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E54A005-A4AE-48B5-9B72-AC59F9D0C9F3}" type="datetime1">
              <a:rPr lang="en-US" smtClean="0"/>
            </a:fld>
            <a:endParaRPr lang="en-US"/>
          </a:p>
        </p:txBody>
      </p:sp>
      <p:sp>
        <p:nvSpPr>
          <p:cNvPr id="5" name="Footer Placeholder 4"/>
          <p:cNvSpPr>
            <a:spLocks noGrp="1"/>
          </p:cNvSpPr>
          <p:nvPr>
            <p:ph type="ftr" sz="quarter" idx="11"/>
          </p:nvPr>
        </p:nvSpPr>
        <p:spPr/>
        <p:txBody>
          <a:bodyPr/>
          <a:lstStyle/>
          <a:p>
            <a:r>
              <a:rPr lang="ar-LB"/>
              <a:t>مشروع فصلي....</a:t>
            </a:r>
            <a:endParaRPr lang="en-US"/>
          </a:p>
        </p:txBody>
      </p:sp>
      <p:sp>
        <p:nvSpPr>
          <p:cNvPr id="6" name="Slide Number Placeholder 5"/>
          <p:cNvSpPr>
            <a:spLocks noGrp="1"/>
          </p:cNvSpPr>
          <p:nvPr>
            <p:ph type="sldNum" sz="quarter" idx="12"/>
          </p:nvPr>
        </p:nvSpPr>
        <p:spPr/>
        <p:txBody>
          <a:bodyPr/>
          <a:lstStyle/>
          <a:p>
            <a:fld id="{2C11977B-EEE1-4D56-A6CE-8035002D8A82}"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CF5F1D80-E922-4C56-BACD-EEFC21DCFF81}" type="datetime1">
              <a:rPr lang="en-US" smtClean="0"/>
            </a:fld>
            <a:endParaRPr lang="en-US"/>
          </a:p>
        </p:txBody>
      </p:sp>
      <p:sp>
        <p:nvSpPr>
          <p:cNvPr id="5" name="Footer Placeholder 4"/>
          <p:cNvSpPr>
            <a:spLocks noGrp="1"/>
          </p:cNvSpPr>
          <p:nvPr>
            <p:ph type="ftr" sz="quarter" idx="11"/>
          </p:nvPr>
        </p:nvSpPr>
        <p:spPr/>
        <p:txBody>
          <a:bodyPr/>
          <a:lstStyle/>
          <a:p>
            <a:r>
              <a:rPr lang="ar-LB"/>
              <a:t>مشروع فصلي....</a:t>
            </a:r>
            <a:endParaRPr lang="en-US"/>
          </a:p>
        </p:txBody>
      </p:sp>
      <p:sp>
        <p:nvSpPr>
          <p:cNvPr id="6" name="Slide Number Placeholder 5"/>
          <p:cNvSpPr>
            <a:spLocks noGrp="1"/>
          </p:cNvSpPr>
          <p:nvPr>
            <p:ph type="sldNum" sz="quarter" idx="12"/>
          </p:nvPr>
        </p:nvSpPr>
        <p:spPr/>
        <p:txBody>
          <a:bodyPr/>
          <a:lstStyle/>
          <a:p>
            <a:fld id="{2C11977B-EEE1-4D56-A6CE-8035002D8A82}"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49343454-2FB9-4C8F-B182-7B2E5743343C}" type="datetime1">
              <a:rPr lang="en-US" smtClean="0"/>
            </a:fld>
            <a:endParaRPr lang="en-US"/>
          </a:p>
        </p:txBody>
      </p:sp>
      <p:sp>
        <p:nvSpPr>
          <p:cNvPr id="5" name="Footer Placeholder 4"/>
          <p:cNvSpPr>
            <a:spLocks noGrp="1"/>
          </p:cNvSpPr>
          <p:nvPr>
            <p:ph type="ftr" sz="quarter" idx="11"/>
          </p:nvPr>
        </p:nvSpPr>
        <p:spPr/>
        <p:txBody>
          <a:bodyPr/>
          <a:lstStyle/>
          <a:p>
            <a:r>
              <a:rPr lang="ar-LB"/>
              <a:t>مشروع فصلي....</a:t>
            </a:r>
            <a:endParaRPr lang="en-US"/>
          </a:p>
        </p:txBody>
      </p:sp>
      <p:sp>
        <p:nvSpPr>
          <p:cNvPr id="6" name="Slide Number Placeholder 5"/>
          <p:cNvSpPr>
            <a:spLocks noGrp="1"/>
          </p:cNvSpPr>
          <p:nvPr>
            <p:ph type="sldNum" sz="quarter" idx="12"/>
          </p:nvPr>
        </p:nvSpPr>
        <p:spPr/>
        <p:txBody>
          <a:bodyPr/>
          <a:lstStyle/>
          <a:p>
            <a:fld id="{2C11977B-EEE1-4D56-A6CE-8035002D8A82}"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5D83650C-01B7-4756-A73F-6F4EA1E5431E}" type="datetime1">
              <a:rPr lang="en-US" smtClean="0"/>
            </a:fld>
            <a:endParaRPr lang="en-US"/>
          </a:p>
        </p:txBody>
      </p:sp>
      <p:sp>
        <p:nvSpPr>
          <p:cNvPr id="6" name="Footer Placeholder 5"/>
          <p:cNvSpPr>
            <a:spLocks noGrp="1"/>
          </p:cNvSpPr>
          <p:nvPr>
            <p:ph type="ftr" sz="quarter" idx="11"/>
          </p:nvPr>
        </p:nvSpPr>
        <p:spPr/>
        <p:txBody>
          <a:bodyPr/>
          <a:lstStyle/>
          <a:p>
            <a:r>
              <a:rPr lang="ar-LB"/>
              <a:t>مشروع فصلي....</a:t>
            </a:r>
            <a:endParaRPr lang="en-US"/>
          </a:p>
        </p:txBody>
      </p:sp>
      <p:sp>
        <p:nvSpPr>
          <p:cNvPr id="7" name="Slide Number Placeholder 6"/>
          <p:cNvSpPr>
            <a:spLocks noGrp="1"/>
          </p:cNvSpPr>
          <p:nvPr>
            <p:ph type="sldNum" sz="quarter" idx="12"/>
          </p:nvPr>
        </p:nvSpPr>
        <p:spPr/>
        <p:txBody>
          <a:bodyPr/>
          <a:lstStyle/>
          <a:p>
            <a:fld id="{2C11977B-EEE1-4D56-A6CE-8035002D8A82}"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733A1D95-9BF9-4CE1-A0EA-90FF297D19D0}" type="datetime1">
              <a:rPr lang="en-US" smtClean="0"/>
            </a:fld>
            <a:endParaRPr lang="en-US"/>
          </a:p>
        </p:txBody>
      </p:sp>
      <p:sp>
        <p:nvSpPr>
          <p:cNvPr id="8" name="Footer Placeholder 7"/>
          <p:cNvSpPr>
            <a:spLocks noGrp="1"/>
          </p:cNvSpPr>
          <p:nvPr>
            <p:ph type="ftr" sz="quarter" idx="11"/>
          </p:nvPr>
        </p:nvSpPr>
        <p:spPr/>
        <p:txBody>
          <a:bodyPr/>
          <a:lstStyle/>
          <a:p>
            <a:r>
              <a:rPr lang="ar-LB"/>
              <a:t>مشروع فصلي....</a:t>
            </a:r>
            <a:endParaRPr lang="en-US"/>
          </a:p>
        </p:txBody>
      </p:sp>
      <p:sp>
        <p:nvSpPr>
          <p:cNvPr id="9" name="Slide Number Placeholder 8"/>
          <p:cNvSpPr>
            <a:spLocks noGrp="1"/>
          </p:cNvSpPr>
          <p:nvPr>
            <p:ph type="sldNum" sz="quarter" idx="12"/>
          </p:nvPr>
        </p:nvSpPr>
        <p:spPr/>
        <p:txBody>
          <a:bodyPr/>
          <a:lstStyle/>
          <a:p>
            <a:fld id="{2C11977B-EEE1-4D56-A6CE-8035002D8A82}"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F9E80EBF-8A8A-40F0-86A7-7286F440E0F3}" type="datetime1">
              <a:rPr lang="en-US" smtClean="0"/>
            </a:fld>
            <a:endParaRPr lang="en-US"/>
          </a:p>
        </p:txBody>
      </p:sp>
      <p:sp>
        <p:nvSpPr>
          <p:cNvPr id="4" name="Footer Placeholder 3"/>
          <p:cNvSpPr>
            <a:spLocks noGrp="1"/>
          </p:cNvSpPr>
          <p:nvPr>
            <p:ph type="ftr" sz="quarter" idx="11"/>
          </p:nvPr>
        </p:nvSpPr>
        <p:spPr/>
        <p:txBody>
          <a:bodyPr/>
          <a:lstStyle/>
          <a:p>
            <a:r>
              <a:rPr lang="ar-LB"/>
              <a:t>مشروع فصلي....</a:t>
            </a:r>
            <a:endParaRPr lang="en-US"/>
          </a:p>
        </p:txBody>
      </p:sp>
      <p:sp>
        <p:nvSpPr>
          <p:cNvPr id="5" name="Slide Number Placeholder 4"/>
          <p:cNvSpPr>
            <a:spLocks noGrp="1"/>
          </p:cNvSpPr>
          <p:nvPr>
            <p:ph type="sldNum" sz="quarter" idx="12"/>
          </p:nvPr>
        </p:nvSpPr>
        <p:spPr/>
        <p:txBody>
          <a:bodyPr/>
          <a:lstStyle/>
          <a:p>
            <a:fld id="{2C11977B-EEE1-4D56-A6CE-8035002D8A82}"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EA7337-48F7-4AF7-9A31-C231AA9DABEB}" type="datetime1">
              <a:rPr lang="en-US" smtClean="0"/>
            </a:fld>
            <a:endParaRPr lang="en-US"/>
          </a:p>
        </p:txBody>
      </p:sp>
      <p:sp>
        <p:nvSpPr>
          <p:cNvPr id="3" name="Footer Placeholder 2"/>
          <p:cNvSpPr>
            <a:spLocks noGrp="1"/>
          </p:cNvSpPr>
          <p:nvPr>
            <p:ph type="ftr" sz="quarter" idx="11"/>
          </p:nvPr>
        </p:nvSpPr>
        <p:spPr/>
        <p:txBody>
          <a:bodyPr/>
          <a:lstStyle/>
          <a:p>
            <a:r>
              <a:rPr lang="ar-LB"/>
              <a:t>مشروع فصلي....</a:t>
            </a:r>
            <a:endParaRPr lang="en-US"/>
          </a:p>
        </p:txBody>
      </p:sp>
      <p:sp>
        <p:nvSpPr>
          <p:cNvPr id="4" name="Slide Number Placeholder 3"/>
          <p:cNvSpPr>
            <a:spLocks noGrp="1"/>
          </p:cNvSpPr>
          <p:nvPr>
            <p:ph type="sldNum" sz="quarter" idx="12"/>
          </p:nvPr>
        </p:nvSpPr>
        <p:spPr/>
        <p:txBody>
          <a:bodyPr/>
          <a:lstStyle/>
          <a:p>
            <a:fld id="{2C11977B-EEE1-4D56-A6CE-8035002D8A82}"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F9F60AB9-8616-4B55-B544-8181381708AB}" type="datetime1">
              <a:rPr lang="en-US" smtClean="0"/>
            </a:fld>
            <a:endParaRPr lang="en-US"/>
          </a:p>
        </p:txBody>
      </p:sp>
      <p:sp>
        <p:nvSpPr>
          <p:cNvPr id="6" name="Footer Placeholder 5"/>
          <p:cNvSpPr>
            <a:spLocks noGrp="1"/>
          </p:cNvSpPr>
          <p:nvPr>
            <p:ph type="ftr" sz="quarter" idx="11"/>
          </p:nvPr>
        </p:nvSpPr>
        <p:spPr/>
        <p:txBody>
          <a:bodyPr/>
          <a:lstStyle/>
          <a:p>
            <a:r>
              <a:rPr lang="ar-LB"/>
              <a:t>مشروع فصلي....</a:t>
            </a:r>
            <a:endParaRPr lang="en-US"/>
          </a:p>
        </p:txBody>
      </p:sp>
      <p:sp>
        <p:nvSpPr>
          <p:cNvPr id="7" name="Slide Number Placeholder 6"/>
          <p:cNvSpPr>
            <a:spLocks noGrp="1"/>
          </p:cNvSpPr>
          <p:nvPr>
            <p:ph type="sldNum" sz="quarter" idx="12"/>
          </p:nvPr>
        </p:nvSpPr>
        <p:spPr/>
        <p:txBody>
          <a:bodyPr/>
          <a:lstStyle/>
          <a:p>
            <a:fld id="{2C11977B-EEE1-4D56-A6CE-8035002D8A82}"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207D518-531C-4414-B657-2CD37CCA6B63}" type="datetime1">
              <a:rPr lang="en-US" smtClean="0"/>
            </a:fld>
            <a:endParaRPr lang="en-US"/>
          </a:p>
        </p:txBody>
      </p:sp>
      <p:sp>
        <p:nvSpPr>
          <p:cNvPr id="6" name="Footer Placeholder 5"/>
          <p:cNvSpPr>
            <a:spLocks noGrp="1"/>
          </p:cNvSpPr>
          <p:nvPr>
            <p:ph type="ftr" sz="quarter" idx="11"/>
          </p:nvPr>
        </p:nvSpPr>
        <p:spPr/>
        <p:txBody>
          <a:bodyPr/>
          <a:lstStyle/>
          <a:p>
            <a:r>
              <a:rPr lang="ar-LB"/>
              <a:t>مشروع فصلي....</a:t>
            </a:r>
            <a:endParaRPr lang="en-US"/>
          </a:p>
        </p:txBody>
      </p:sp>
      <p:sp>
        <p:nvSpPr>
          <p:cNvPr id="7" name="Slide Number Placeholder 6"/>
          <p:cNvSpPr>
            <a:spLocks noGrp="1"/>
          </p:cNvSpPr>
          <p:nvPr>
            <p:ph type="sldNum" sz="quarter" idx="12"/>
          </p:nvPr>
        </p:nvSpPr>
        <p:spPr/>
        <p:txBody>
          <a:bodyPr/>
          <a:lstStyle/>
          <a:p>
            <a:fld id="{2C11977B-EEE1-4D56-A6CE-8035002D8A82}"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07C97074-5979-461C-BB0D-F24AD7AEA7D7}" type="datetime1">
              <a:rPr lang="en-US" smtClean="0"/>
            </a:fld>
            <a:endParaRPr lang="en-US"/>
          </a:p>
        </p:txBody>
      </p:sp>
      <p:sp>
        <p:nvSpPr>
          <p:cNvPr id="5" name="Footer Placeholder 4"/>
          <p:cNvSpPr>
            <a:spLocks noGrp="1"/>
          </p:cNvSpPr>
          <p:nvPr>
            <p:ph type="ftr" sz="quarter" idx="11"/>
          </p:nvPr>
        </p:nvSpPr>
        <p:spPr/>
        <p:txBody>
          <a:bodyPr/>
          <a:lstStyle/>
          <a:p>
            <a:r>
              <a:rPr lang="ar-LB"/>
              <a:t>مشروع فصلي....</a:t>
            </a:r>
            <a:endParaRPr lang="en-US"/>
          </a:p>
        </p:txBody>
      </p:sp>
      <p:sp>
        <p:nvSpPr>
          <p:cNvPr id="6" name="Slide Number Placeholder 5"/>
          <p:cNvSpPr>
            <a:spLocks noGrp="1"/>
          </p:cNvSpPr>
          <p:nvPr>
            <p:ph type="sldNum" sz="quarter" idx="12"/>
          </p:nvPr>
        </p:nvSpPr>
        <p:spPr/>
        <p:txBody>
          <a:bodyPr/>
          <a:lstStyle/>
          <a:p>
            <a:fld id="{2C11977B-EEE1-4D56-A6CE-8035002D8A82}"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CF7CA7B2-F8F1-4C99-9A58-0619E9B4236C}" type="datetime1">
              <a:rPr lang="en-US" smtClean="0"/>
            </a:fld>
            <a:endParaRPr lang="en-US"/>
          </a:p>
        </p:txBody>
      </p:sp>
      <p:sp>
        <p:nvSpPr>
          <p:cNvPr id="5" name="Footer Placeholder 4"/>
          <p:cNvSpPr>
            <a:spLocks noGrp="1"/>
          </p:cNvSpPr>
          <p:nvPr>
            <p:ph type="ftr" sz="quarter" idx="11"/>
          </p:nvPr>
        </p:nvSpPr>
        <p:spPr/>
        <p:txBody>
          <a:bodyPr/>
          <a:lstStyle/>
          <a:p>
            <a:r>
              <a:rPr lang="ar-LB"/>
              <a:t>مشروع فصلي....</a:t>
            </a:r>
            <a:endParaRPr lang="en-US"/>
          </a:p>
        </p:txBody>
      </p:sp>
      <p:sp>
        <p:nvSpPr>
          <p:cNvPr id="6" name="Slide Number Placeholder 5"/>
          <p:cNvSpPr>
            <a:spLocks noGrp="1"/>
          </p:cNvSpPr>
          <p:nvPr>
            <p:ph type="sldNum" sz="quarter" idx="12"/>
          </p:nvPr>
        </p:nvSpPr>
        <p:spPr/>
        <p:txBody>
          <a:bodyPr/>
          <a:lstStyle/>
          <a:p>
            <a:fld id="{2C11977B-EEE1-4D56-A6CE-8035002D8A82}"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59F99F-ECCB-4E1D-B4DE-BB12197DD00B}" type="datetime1">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ar-LB"/>
              <a:t>مشروع فصلي....</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11977B-EEE1-4D56-A6CE-8035002D8A82}"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B12DB13-F674-44AD-AADD-3DB03F0B479D}" type="datetime1">
              <a:rPr lang="en-US" smtClean="0"/>
            </a:fld>
            <a:endParaRPr lang="en-US"/>
          </a:p>
        </p:txBody>
      </p:sp>
      <p:sp>
        <p:nvSpPr>
          <p:cNvPr id="5" name="Footer Placeholder 4"/>
          <p:cNvSpPr>
            <a:spLocks noGrp="1"/>
          </p:cNvSpPr>
          <p:nvPr>
            <p:ph type="ftr" sz="quarter" idx="11"/>
          </p:nvPr>
        </p:nvSpPr>
        <p:spPr/>
        <p:txBody>
          <a:bodyPr/>
          <a:lstStyle/>
          <a:p>
            <a:pPr rtl="1"/>
            <a:r>
              <a:rPr lang="ar-LB"/>
              <a:t>مشروع فصلي - Car Rental Platform</a:t>
            </a:r>
            <a:endParaRPr lang="en-US"/>
          </a:p>
        </p:txBody>
      </p:sp>
      <p:sp>
        <p:nvSpPr>
          <p:cNvPr id="6" name="Slide Number Placeholder 5"/>
          <p:cNvSpPr>
            <a:spLocks noGrp="1"/>
          </p:cNvSpPr>
          <p:nvPr>
            <p:ph type="sldNum" sz="quarter" idx="12"/>
          </p:nvPr>
        </p:nvSpPr>
        <p:spPr/>
        <p:txBody>
          <a:bodyPr/>
          <a:lstStyle/>
          <a:p>
            <a:r>
              <a:rPr sz="1000">
                <a:solidFill>
                  <a:srgbClr val="59697C"/>
                </a:solidFill>
                <a:latin typeface="Arial" panose="020B0604020202020204"/>
              </a:rPr>
              <a:t>1</a:t>
            </a:r>
            <a:endParaRPr sz="1000">
              <a:solidFill>
                <a:srgbClr val="59697C"/>
              </a:solidFill>
              <a:latin typeface="Arial" panose="020B0604020202020204"/>
            </a:endParaRPr>
          </a:p>
        </p:txBody>
      </p:sp>
      <p:sp>
        <p:nvSpPr>
          <p:cNvPr id="11" name="Rectangle 10"/>
          <p:cNvSpPr>
            <a:spLocks noChangeArrowheads="1"/>
          </p:cNvSpPr>
          <p:nvPr/>
        </p:nvSpPr>
        <p:spPr bwMode="auto">
          <a:xfrm>
            <a:off x="-1" y="0"/>
            <a:ext cx="23306673" cy="783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en-US"/>
          </a:p>
        </p:txBody>
      </p:sp>
      <p:pic>
        <p:nvPicPr>
          <p:cNvPr id="12" name="Picture 1" descr="SPU.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63096" y="683551"/>
            <a:ext cx="1878398" cy="998014"/>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a:spLocks noChangeArrowheads="1"/>
          </p:cNvSpPr>
          <p:nvPr/>
        </p:nvSpPr>
        <p:spPr bwMode="auto">
          <a:xfrm>
            <a:off x="-285751" y="72255"/>
            <a:ext cx="23306673" cy="815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1pPr>
            <a:lvl2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2pPr>
            <a:lvl3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3pPr>
            <a:lvl4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4pPr>
            <a:lvl5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5pPr>
            <a:lvl6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6pPr>
            <a:lvl7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7pPr>
            <a:lvl8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8pPr>
            <a:lvl9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9pPr>
          </a:lstStyle>
          <a:p>
            <a:pPr marL="0" marR="0" lvl="0" indent="0" algn="r" defTabSz="914400" rtl="1" eaLnBrk="0" fontAlgn="base" latinLnBrk="0" hangingPunct="0">
              <a:lnSpc>
                <a:spcPct val="100000"/>
              </a:lnSpc>
              <a:spcBef>
                <a:spcPct val="0"/>
              </a:spcBef>
              <a:spcAft>
                <a:spcPct val="0"/>
              </a:spcAft>
              <a:buClrTx/>
              <a:buSzTx/>
              <a:buFontTx/>
              <a:buNone/>
              <a:tabLst>
                <a:tab pos="2971800" algn="ctr"/>
                <a:tab pos="5943600" algn="r"/>
              </a:tabLst>
            </a:pPr>
            <a:r>
              <a:rPr kumimoji="0" lang="ar-SA" altLang="en-US" sz="1600" b="0" i="0" u="none" strike="noStrike" cap="none" normalizeH="0" baseline="0">
                <a:ln>
                  <a:noFill/>
                </a:ln>
                <a:solidFill>
                  <a:schemeClr val="tx1"/>
                </a:solidFill>
                <a:effectLst/>
                <a:latin typeface="Calibri Light" panose="020F0302020204030204" pitchFamily="34" charset="0"/>
                <a:ea typeface="Times New Roman" panose="02020603050405020304" pitchFamily="18" charset="0"/>
                <a:cs typeface="Times New Roman" panose="02020603050405020304" pitchFamily="18" charset="0"/>
              </a:rPr>
              <a:t>كليــــة الهندسة</a:t>
            </a:r>
            <a:endParaRPr kumimoji="0" lang="en-US" altLang="en-US" sz="800" b="0" i="0" u="none" strike="noStrike" cap="none" normalizeH="0" baseline="0">
              <a:ln>
                <a:noFill/>
              </a:ln>
              <a:solidFill>
                <a:schemeClr val="tx1"/>
              </a:solidFill>
              <a:effectLst/>
            </a:endParaRPr>
          </a:p>
          <a:p>
            <a:pPr marL="0" marR="0" lvl="0" indent="0" algn="r" defTabSz="914400" rtl="1" eaLnBrk="0" fontAlgn="base" latinLnBrk="0" hangingPunct="0">
              <a:lnSpc>
                <a:spcPct val="100000"/>
              </a:lnSpc>
              <a:spcBef>
                <a:spcPct val="0"/>
              </a:spcBef>
              <a:spcAft>
                <a:spcPct val="0"/>
              </a:spcAft>
              <a:buClrTx/>
              <a:buSzTx/>
              <a:buFontTx/>
              <a:buNone/>
              <a:tabLst>
                <a:tab pos="2971800" algn="ctr"/>
                <a:tab pos="5943600" algn="r"/>
              </a:tabLst>
            </a:pPr>
            <a:r>
              <a:rPr kumimoji="0" lang="ar-AE" altLang="en-US" sz="1600" b="0" i="0" u="none" strike="noStrike" cap="none" normalizeH="0" baseline="0">
                <a:ln>
                  <a:noFill/>
                </a:ln>
                <a:solidFill>
                  <a:schemeClr val="tx1"/>
                </a:solidFill>
                <a:effectLst/>
                <a:latin typeface="Calibri Light" panose="020F0302020204030204" pitchFamily="34" charset="0"/>
                <a:ea typeface="Times New Roman" panose="02020603050405020304" pitchFamily="18" charset="0"/>
                <a:cs typeface="Times New Roman" panose="02020603050405020304" pitchFamily="18" charset="0"/>
              </a:rPr>
              <a:t>قســــم هندسة الحاسوب والمعلوماتية</a:t>
            </a:r>
            <a:endParaRPr kumimoji="0" lang="en-US" altLang="en-US" sz="800" b="0" i="0" u="none" strike="noStrike" cap="none" normalizeH="0" baseline="0">
              <a:ln>
                <a:noFill/>
              </a:ln>
              <a:solidFill>
                <a:schemeClr val="tx1"/>
              </a:solidFill>
              <a:effectLst/>
            </a:endParaRPr>
          </a:p>
          <a:p>
            <a:pPr marL="0" marR="0" lvl="0" indent="0" algn="r" defTabSz="914400" rtl="1" eaLnBrk="0" fontAlgn="base" latinLnBrk="0" hangingPunct="0">
              <a:lnSpc>
                <a:spcPct val="100000"/>
              </a:lnSpc>
              <a:spcBef>
                <a:spcPct val="0"/>
              </a:spcBef>
              <a:spcAft>
                <a:spcPct val="0"/>
              </a:spcAft>
              <a:buClrTx/>
              <a:buSzTx/>
              <a:buFontTx/>
              <a:buNone/>
              <a:tabLst>
                <a:tab pos="2971800" algn="ctr"/>
                <a:tab pos="5943600" algn="r"/>
              </a:tabLst>
            </a:pPr>
            <a:r>
              <a:rPr kumimoji="0" lang="ar-SA"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 </a:t>
            </a:r>
            <a:endParaRPr kumimoji="0" lang="ar-SA" alt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14" name="TextBox 13"/>
          <p:cNvSpPr txBox="1"/>
          <p:nvPr/>
        </p:nvSpPr>
        <p:spPr>
          <a:xfrm>
            <a:off x="7690340" y="887863"/>
            <a:ext cx="3589564" cy="707886"/>
          </a:xfrm>
          <a:prstGeom prst="rect">
            <a:avLst/>
          </a:prstGeom>
          <a:noFill/>
        </p:spPr>
        <p:txBody>
          <a:bodyPr wrap="square">
            <a:spAutoFit/>
          </a:bodyPr>
          <a:lstStyle/>
          <a:p>
            <a:pPr marL="0" marR="0" algn="r" rtl="1">
              <a:buNone/>
              <a:tabLst>
                <a:tab pos="6343650" algn="r"/>
              </a:tabLst>
            </a:pPr>
            <a:r>
              <a:rPr lang="ar-SA" sz="2000" kern="1400" spc="-50" dirty="0">
                <a:effectLst/>
                <a:latin typeface="Calibri Light" panose="020F0302020204030204" pitchFamily="34" charset="0"/>
                <a:ea typeface="Times New Roman" panose="02020603050405020304" pitchFamily="18" charset="0"/>
                <a:cs typeface="Times New Roman" panose="02020603050405020304" pitchFamily="18" charset="0"/>
              </a:rPr>
              <a:t>كليــــة الهندسة</a:t>
            </a:r>
            <a:endParaRPr lang="en-US" sz="3600" kern="1400" spc="-50" dirty="0">
              <a:effectLst/>
              <a:latin typeface="Calibri Light" panose="020F0302020204030204" pitchFamily="34" charset="0"/>
              <a:ea typeface="Times New Roman" panose="02020603050405020304" pitchFamily="18" charset="0"/>
              <a:cs typeface="Times New Roman" panose="02020603050405020304" pitchFamily="18" charset="0"/>
            </a:endParaRPr>
          </a:p>
          <a:p>
            <a:pPr algn="r" rtl="1">
              <a:buNone/>
            </a:pPr>
            <a:r>
              <a:rPr lang="ar-AE" sz="2000" dirty="0">
                <a:effectLst/>
                <a:latin typeface="Calibri" panose="020F0502020204030204" pitchFamily="34" charset="0"/>
                <a:ea typeface="Calibri" panose="020F0502020204030204" pitchFamily="34" charset="0"/>
                <a:cs typeface="Arial" panose="020B0604020202020204" pitchFamily="34" charset="0"/>
              </a:rPr>
              <a:t>قســــم هندسة الحاسوب والمعلوماتية</a:t>
            </a:r>
            <a:endParaRPr lang="en-US" sz="2000" dirty="0"/>
          </a:p>
        </p:txBody>
      </p:sp>
      <p:sp>
        <p:nvSpPr>
          <p:cNvPr id="15" name="TextBox 14"/>
          <p:cNvSpPr txBox="1"/>
          <p:nvPr/>
        </p:nvSpPr>
        <p:spPr>
          <a:xfrm>
            <a:off x="1196000" y="2319761"/>
            <a:ext cx="9800000" cy="600000"/>
          </a:xfrm>
          <a:prstGeom prst="rect">
            <a:avLst/>
          </a:prstGeom>
          <a:noFill/>
        </p:spPr>
        <p:txBody>
          <a:bodyPr wrap="square">
            <a:spAutoFit/>
          </a:bodyPr>
          <a:lstStyle/>
          <a:p>
            <a:pPr marL="0" marR="0" algn="ctr" rtl="1">
              <a:lnSpc>
                <a:spcPct val="107000"/>
              </a:lnSpc>
              <a:spcAft>
                <a:spcPts val="800"/>
              </a:spcAft>
              <a:buNone/>
            </a:pPr>
            <a:r>
              <a:rPr lang="ar-SA" sz="2800" b="1" dirty="0">
                <a:solidFill>
                  <a:srgbClr val="1F3864"/>
                </a:solidFill>
                <a:effectLst/>
                <a:latin typeface="Calibri" panose="020F0502020204030204" pitchFamily="34" charset="0"/>
                <a:ea typeface="Calibri" panose="020F0502020204030204" pitchFamily="34" charset="0"/>
                <a:cs typeface="Times New Roman" panose="02020603050405020304" pitchFamily="18" charset="0"/>
              </a:rPr>
              <a:t>منصة تأجير السيارات  Car Rental Platform</a:t>
            </a:r>
            <a:endParaRPr lang="en-US" sz="1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16" name="TextBox 15"/>
          <p:cNvSpPr txBox="1"/>
          <p:nvPr/>
        </p:nvSpPr>
        <p:spPr>
          <a:xfrm>
            <a:off x="1942488" y="3332034"/>
            <a:ext cx="9387178" cy="2499787"/>
          </a:xfrm>
          <a:prstGeom prst="rect">
            <a:avLst/>
          </a:prstGeom>
          <a:noFill/>
        </p:spPr>
        <p:txBody>
          <a:bodyPr wrap="square">
            <a:spAutoFit/>
          </a:bodyPr>
          <a:lstStyle/>
          <a:p>
            <a:pPr marL="0" marR="0" algn="ctr" rtl="1">
              <a:lnSpc>
                <a:spcPct val="107000"/>
              </a:lnSpc>
              <a:spcAft>
                <a:spcPts val="800"/>
              </a:spcAft>
              <a:buNone/>
            </a:pPr>
            <a:r>
              <a:rPr lang="ar-SA" b="1" dirty="0">
                <a:effectLst/>
                <a:latin typeface="Calibri" panose="020F0502020204030204" pitchFamily="34" charset="0"/>
                <a:ea typeface="Calibri" panose="020F0502020204030204" pitchFamily="34" charset="0"/>
                <a:cs typeface="Times New Roman" panose="02020603050405020304" pitchFamily="18" charset="0"/>
              </a:rPr>
              <a:t>إعداد الطلاب</a:t>
            </a:r>
            <a:endParaRPr lang="en-US" sz="1200" dirty="0">
              <a:effectLst/>
              <a:latin typeface="Calibri" panose="020F0502020204030204" pitchFamily="34" charset="0"/>
              <a:ea typeface="Calibri" panose="020F0502020204030204" pitchFamily="34" charset="0"/>
              <a:cs typeface="Arial" panose="020B0604020202020204" pitchFamily="34" charset="0"/>
            </a:endParaRPr>
          </a:p>
          <a:p>
            <a:pPr marL="0" marR="0" algn="ctr" rtl="1">
              <a:lnSpc>
                <a:spcPct val="107000"/>
              </a:lnSpc>
              <a:spcAft>
                <a:spcPts val="800"/>
              </a:spcAft>
              <a:buNone/>
            </a:pPr>
            <a:r>
              <a:rPr lang="ar-LB" sz="1800" dirty="0">
                <a:effectLst/>
                <a:latin typeface="Calibri" panose="020F0502020204030204" pitchFamily="34" charset="0"/>
                <a:ea typeface="Calibri" panose="020F0502020204030204" pitchFamily="34" charset="0"/>
                <a:cs typeface="Simplified Arabic" panose="02020603050405020304" pitchFamily="18" charset="-78"/>
              </a:rPr>
              <a:t>محمد مؤمن غنام          أهيب فارس الزعبي</a:t>
            </a:r>
            <a:endParaRPr lang="en-US" sz="1200" dirty="0">
              <a:effectLst/>
              <a:latin typeface="Calibri" panose="020F0502020204030204" pitchFamily="34" charset="0"/>
              <a:ea typeface="Calibri" panose="020F0502020204030204" pitchFamily="34" charset="0"/>
              <a:cs typeface="Arial" panose="020B0604020202020204" pitchFamily="34" charset="0"/>
            </a:endParaRPr>
          </a:p>
          <a:p>
            <a:pPr marL="0" marR="0" algn="ctr" rtl="1">
              <a:lnSpc>
                <a:spcPct val="107000"/>
              </a:lnSpc>
              <a:spcAft>
                <a:spcPts val="800"/>
              </a:spcAft>
              <a:buNone/>
            </a:pPr>
            <a:r>
              <a:rPr lang="ar-AE" sz="1200" dirty="0">
                <a:effectLst/>
                <a:latin typeface="Calibri" panose="020F0502020204030204" pitchFamily="34" charset="0"/>
                <a:ea typeface="Calibri" panose="020F0502020204030204" pitchFamily="34" charset="0"/>
                <a:cs typeface="Arial" panose="020B0604020202020204" pitchFamily="34" charset="0"/>
              </a:rPr>
              <a:t> </a:t>
            </a:r>
            <a:endParaRPr lang="en-US" sz="1200" dirty="0">
              <a:effectLst/>
              <a:latin typeface="Calibri" panose="020F0502020204030204" pitchFamily="34" charset="0"/>
              <a:ea typeface="Calibri" panose="020F0502020204030204" pitchFamily="34" charset="0"/>
              <a:cs typeface="Arial" panose="020B0604020202020204" pitchFamily="34" charset="0"/>
            </a:endParaRPr>
          </a:p>
          <a:p>
            <a:pPr marL="0" marR="0" algn="ctr" rtl="1">
              <a:lnSpc>
                <a:spcPct val="107000"/>
              </a:lnSpc>
              <a:spcAft>
                <a:spcPts val="800"/>
              </a:spcAft>
              <a:buNone/>
            </a:pPr>
            <a:r>
              <a:rPr lang="ar-SA" b="1" dirty="0">
                <a:effectLst/>
                <a:latin typeface="Calibri" panose="020F0502020204030204" pitchFamily="34" charset="0"/>
                <a:ea typeface="Calibri" panose="020F0502020204030204" pitchFamily="34" charset="0"/>
                <a:cs typeface="Simplified Arabic" panose="02020603050405020304" pitchFamily="18" charset="-78"/>
              </a:rPr>
              <a:t>إشــراف</a:t>
            </a:r>
            <a:endParaRPr lang="en-US" sz="1200" dirty="0">
              <a:effectLst/>
              <a:latin typeface="Calibri" panose="020F0502020204030204" pitchFamily="34" charset="0"/>
              <a:ea typeface="Calibri" panose="020F0502020204030204" pitchFamily="34" charset="0"/>
              <a:cs typeface="Arial" panose="020B0604020202020204" pitchFamily="34" charset="0"/>
            </a:endParaRPr>
          </a:p>
          <a:p>
            <a:pPr marL="0" marR="0" algn="ctr" rtl="1">
              <a:lnSpc>
                <a:spcPct val="107000"/>
              </a:lnSpc>
              <a:spcAft>
                <a:spcPts val="800"/>
              </a:spcAft>
              <a:buNone/>
            </a:pPr>
            <a:r>
              <a:rPr lang="ar-LB" sz="1800" dirty="0">
                <a:effectLst/>
                <a:latin typeface="Calibri" panose="020F0502020204030204" pitchFamily="34" charset="0"/>
                <a:ea typeface="Calibri" panose="020F0502020204030204" pitchFamily="34" charset="0"/>
                <a:cs typeface="Simplified Arabic" panose="02020603050405020304" pitchFamily="18" charset="-78"/>
              </a:rPr>
              <a:t>د. أكرم مسوح          م. هديل عسراوي</a:t>
            </a:r>
            <a:endParaRPr lang="en-US" sz="1200" dirty="0">
              <a:effectLst/>
              <a:latin typeface="Calibri" panose="020F0502020204030204" pitchFamily="34" charset="0"/>
              <a:ea typeface="Calibri" panose="020F0502020204030204" pitchFamily="34" charset="0"/>
              <a:cs typeface="Arial" panose="020B0604020202020204" pitchFamily="34" charset="0"/>
            </a:endParaRPr>
          </a:p>
          <a:p>
            <a:pPr marL="0" marR="0" algn="ctr" rtl="1">
              <a:lnSpc>
                <a:spcPct val="107000"/>
              </a:lnSpc>
              <a:spcAft>
                <a:spcPts val="800"/>
              </a:spcAft>
              <a:buNone/>
            </a:pPr>
            <a:r>
              <a:rPr lang="en-US" sz="1200" dirty="0">
                <a:effectLst/>
                <a:latin typeface="Calibri" panose="020F0502020204030204" pitchFamily="34" charset="0"/>
                <a:ea typeface="Calibri" panose="020F0502020204030204" pitchFamily="34" charset="0"/>
                <a:cs typeface="Arial" panose="020B0604020202020204" pitchFamily="34" charset="0"/>
              </a:rPr>
              <a:t> </a:t>
            </a:r>
            <a:endParaRPr lang="en-US" sz="1200" dirty="0">
              <a:effectLst/>
              <a:latin typeface="Calibri" panose="020F0502020204030204" pitchFamily="34" charset="0"/>
              <a:ea typeface="Calibri" panose="020F0502020204030204" pitchFamily="34" charset="0"/>
              <a:cs typeface="Arial" panose="020B0604020202020204" pitchFamily="34" charset="0"/>
            </a:endParaRPr>
          </a:p>
          <a:p>
            <a:pPr algn="ctr" rtl="1">
              <a:buNone/>
            </a:pPr>
            <a:r>
              <a:rPr lang="ar-LB" b="1" u="sng" dirty="0">
                <a:effectLst/>
                <a:latin typeface="Calibri" panose="020F0502020204030204" pitchFamily="34" charset="0"/>
                <a:ea typeface="Calibri" panose="020F0502020204030204" pitchFamily="34" charset="0"/>
                <a:cs typeface="Simplified Arabic" panose="02020603050405020304" pitchFamily="18" charset="-78"/>
              </a:rPr>
              <a:t>2026 - تشرين الثاني</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F5F1D80-E922-4C56-BACD-EEFC21DCFF81}" type="datetime1">
              <a:rPr lang="en-US" smtClean="0"/>
            </a:fld>
            <a:endParaRPr lang="en-US"/>
          </a:p>
        </p:txBody>
      </p:sp>
      <p:sp>
        <p:nvSpPr>
          <p:cNvPr id="5" name="Footer Placeholder 4"/>
          <p:cNvSpPr>
            <a:spLocks noGrp="1"/>
          </p:cNvSpPr>
          <p:nvPr>
            <p:ph type="ftr" sz="quarter" idx="11"/>
          </p:nvPr>
        </p:nvSpPr>
        <p:spPr/>
        <p:txBody>
          <a:bodyPr/>
          <a:lstStyle/>
          <a:p>
            <a:pPr rtl="1"/>
            <a:r>
              <a:rPr lang="ar-LB"/>
              <a:t>مشروع فصلي - Car Rental Platform</a:t>
            </a:r>
            <a:endParaRPr lang="en-US"/>
          </a:p>
        </p:txBody>
      </p:sp>
      <p:sp>
        <p:nvSpPr>
          <p:cNvPr id="6" name="Slide Number Placeholder 5"/>
          <p:cNvSpPr>
            <a:spLocks noGrp="1"/>
          </p:cNvSpPr>
          <p:nvPr>
            <p:ph type="sldNum" sz="quarter" idx="12"/>
          </p:nvPr>
        </p:nvSpPr>
        <p:spPr/>
        <p:txBody>
          <a:bodyPr/>
          <a:lstStyle/>
          <a:p>
            <a:r>
              <a:rPr sz="1000">
                <a:solidFill>
                  <a:srgbClr val="59697C"/>
                </a:solidFill>
                <a:latin typeface="Arial" panose="020B0604020202020204"/>
              </a:rPr>
              <a:t>3</a:t>
            </a:r>
            <a:endParaRPr sz="1000">
              <a:solidFill>
                <a:srgbClr val="59697C"/>
              </a:solidFill>
              <a:latin typeface="Arial" panose="020B0604020202020204"/>
            </a:endParaRPr>
          </a:p>
        </p:txBody>
      </p:sp>
      <p:sp>
        <p:nvSpPr>
          <p:cNvPr id="8" name="TextBox 7"/>
          <p:cNvSpPr txBox="1"/>
          <p:nvPr/>
        </p:nvSpPr>
        <p:spPr>
          <a:xfrm>
            <a:off x="969264" y="475488"/>
            <a:ext cx="10305288" cy="1184491"/>
          </a:xfrm>
          <a:prstGeom prst="rect">
            <a:avLst/>
          </a:prstGeom>
          <a:noFill/>
        </p:spPr>
        <p:txBody>
          <a:bodyPr wrap="square">
            <a:spAutoFit/>
          </a:bodyPr>
          <a:lstStyle/>
          <a:p>
            <a:pPr marL="0" marR="0" algn="r" rtl="1">
              <a:lnSpc>
                <a:spcPct val="107000"/>
              </a:lnSpc>
              <a:spcBef>
                <a:spcPts val="200"/>
              </a:spcBef>
              <a:buNone/>
            </a:pPr>
            <a:r>
              <a:rPr lang="ar-SA" sz="2400" b="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أهمية المشروع</a:t>
            </a:r>
            <a:endParaRPr lang="en-US" sz="2000" b="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sp>
        <p:nvSpPr>
          <p:cNvPr id="9" name="TextBox 8"/>
          <p:cNvSpPr txBox="1"/>
          <p:nvPr/>
        </p:nvSpPr>
        <p:spPr>
          <a:xfrm>
            <a:off x="1439799" y="1659880"/>
            <a:ext cx="10305288" cy="1783715"/>
          </a:xfrm>
          <a:prstGeom prst="rect">
            <a:avLst/>
          </a:prstGeom>
          <a:noFill/>
        </p:spPr>
        <p:txBody>
          <a:bodyPr wrap="square">
            <a:spAutoFit/>
          </a:bodyPr>
          <a:lstStyle/>
          <a:p>
            <a:pPr marR="285750" lvl="1" indent="-285750" algn="just" rtl="1">
              <a:spcAft>
                <a:spcPts val="600"/>
              </a:spcAft>
              <a:buFont typeface="Arial" panose="020B0604020202020204"/>
              <a:buChar char="•"/>
            </a:pPr>
            <a:r>
              <a:rPr lang="ar-SA" altLang="en-US" sz="1800">
                <a:solidFill>
                  <a:srgbClr val="262626"/>
                </a:solidFill>
              </a:rPr>
              <a:t>المشكلة</a:t>
            </a:r>
            <a:r>
              <a:rPr lang="en-US" altLang="en-US" sz="1800">
                <a:solidFill>
                  <a:srgbClr val="262626"/>
                </a:solidFill>
              </a:rPr>
              <a:t>: </a:t>
            </a:r>
            <a:r>
              <a:rPr lang="ar-SA" altLang="en-US" sz="1800">
                <a:solidFill>
                  <a:srgbClr val="262626"/>
                </a:solidFill>
              </a:rPr>
              <a:t>إعلانات</a:t>
            </a:r>
            <a:r>
              <a:rPr lang="en-US" altLang="en-US" sz="1800">
                <a:solidFill>
                  <a:srgbClr val="262626"/>
                </a:solidFill>
              </a:rPr>
              <a:t> </a:t>
            </a:r>
            <a:r>
              <a:rPr lang="ar-SA" altLang="en-US" sz="1800">
                <a:solidFill>
                  <a:srgbClr val="262626"/>
                </a:solidFill>
              </a:rPr>
              <a:t>مبعثرة</a:t>
            </a:r>
            <a:r>
              <a:rPr lang="en-US" altLang="en-US" sz="1800">
                <a:solidFill>
                  <a:srgbClr val="262626"/>
                </a:solidFill>
              </a:rPr>
              <a:t> </a:t>
            </a:r>
            <a:r>
              <a:rPr lang="ar-SA" altLang="en-US" sz="1800">
                <a:solidFill>
                  <a:srgbClr val="262626"/>
                </a:solidFill>
              </a:rPr>
              <a:t>على</a:t>
            </a:r>
            <a:r>
              <a:rPr lang="en-US" altLang="en-US" sz="1800">
                <a:solidFill>
                  <a:srgbClr val="262626"/>
                </a:solidFill>
              </a:rPr>
              <a:t> </a:t>
            </a:r>
            <a:r>
              <a:rPr lang="ar-SA" altLang="en-US" sz="1800">
                <a:solidFill>
                  <a:srgbClr val="262626"/>
                </a:solidFill>
              </a:rPr>
              <a:t>وسائل</a:t>
            </a:r>
            <a:r>
              <a:rPr lang="en-US" altLang="en-US" sz="1800">
                <a:solidFill>
                  <a:srgbClr val="262626"/>
                </a:solidFill>
              </a:rPr>
              <a:t> </a:t>
            </a:r>
            <a:r>
              <a:rPr lang="ar-SA" altLang="en-US" sz="1800">
                <a:solidFill>
                  <a:srgbClr val="262626"/>
                </a:solidFill>
              </a:rPr>
              <a:t>التواصل،</a:t>
            </a:r>
            <a:r>
              <a:rPr lang="en-US" altLang="en-US" sz="1800">
                <a:solidFill>
                  <a:srgbClr val="262626"/>
                </a:solidFill>
              </a:rPr>
              <a:t> </a:t>
            </a:r>
            <a:r>
              <a:rPr lang="ar-SA" altLang="en-US" sz="1800">
                <a:solidFill>
                  <a:srgbClr val="262626"/>
                </a:solidFill>
              </a:rPr>
              <a:t>وطلبات</a:t>
            </a:r>
            <a:r>
              <a:rPr lang="en-US" altLang="en-US" sz="1800">
                <a:solidFill>
                  <a:srgbClr val="262626"/>
                </a:solidFill>
              </a:rPr>
              <a:t> </a:t>
            </a:r>
            <a:r>
              <a:rPr lang="ar-SA" altLang="en-US" sz="1800">
                <a:solidFill>
                  <a:srgbClr val="262626"/>
                </a:solidFill>
              </a:rPr>
              <a:t>معاينة</a:t>
            </a:r>
            <a:r>
              <a:rPr lang="en-US" altLang="en-US" sz="1800">
                <a:solidFill>
                  <a:srgbClr val="262626"/>
                </a:solidFill>
              </a:rPr>
              <a:t> </a:t>
            </a:r>
            <a:r>
              <a:rPr lang="ar-SA" altLang="en-US" sz="1800">
                <a:solidFill>
                  <a:srgbClr val="262626"/>
                </a:solidFill>
              </a:rPr>
              <a:t>واستئجار</a:t>
            </a:r>
            <a:r>
              <a:rPr lang="en-US" altLang="en-US" sz="1800">
                <a:solidFill>
                  <a:srgbClr val="262626"/>
                </a:solidFill>
              </a:rPr>
              <a:t> </a:t>
            </a:r>
            <a:r>
              <a:rPr lang="ar-SA" altLang="en-US" sz="1800">
                <a:solidFill>
                  <a:srgbClr val="262626"/>
                </a:solidFill>
              </a:rPr>
              <a:t>تُنسق</a:t>
            </a:r>
            <a:r>
              <a:rPr lang="en-US" altLang="en-US" sz="1800">
                <a:solidFill>
                  <a:srgbClr val="262626"/>
                </a:solidFill>
              </a:rPr>
              <a:t> </a:t>
            </a:r>
            <a:r>
              <a:rPr lang="ar-SA" altLang="en-US" sz="1800">
                <a:solidFill>
                  <a:srgbClr val="262626"/>
                </a:solidFill>
              </a:rPr>
              <a:t>يدويًا</a:t>
            </a:r>
            <a:r>
              <a:rPr lang="en-US" altLang="en-US" sz="1800">
                <a:solidFill>
                  <a:srgbClr val="262626"/>
                </a:solidFill>
              </a:rPr>
              <a:t> </a:t>
            </a:r>
            <a:r>
              <a:rPr lang="ar-SA" altLang="en-US" sz="1800">
                <a:solidFill>
                  <a:srgbClr val="262626"/>
                </a:solidFill>
              </a:rPr>
              <a:t>فتضيع</a:t>
            </a:r>
            <a:r>
              <a:rPr lang="en-US" altLang="en-US" sz="1800">
                <a:solidFill>
                  <a:srgbClr val="262626"/>
                </a:solidFill>
              </a:rPr>
              <a:t> </a:t>
            </a:r>
            <a:r>
              <a:rPr lang="ar-SA" altLang="en-US" sz="1800">
                <a:solidFill>
                  <a:srgbClr val="262626"/>
                </a:solidFill>
              </a:rPr>
              <a:t>وتتداخل</a:t>
            </a:r>
            <a:r>
              <a:rPr lang="en-US" altLang="en-US" sz="1800">
                <a:solidFill>
                  <a:srgbClr val="262626"/>
                </a:solidFill>
              </a:rPr>
              <a:t> </a:t>
            </a:r>
            <a:r>
              <a:rPr lang="ar-SA" altLang="en-US" sz="1800">
                <a:solidFill>
                  <a:srgbClr val="262626"/>
                </a:solidFill>
              </a:rPr>
              <a:t>مواعيدها</a:t>
            </a:r>
            <a:r>
              <a:rPr lang="en-US" altLang="en-US" sz="1800">
                <a:solidFill>
                  <a:srgbClr val="262626"/>
                </a:solidFill>
              </a:rPr>
              <a:t>.</a:t>
            </a:r>
            <a:endParaRPr lang="en-US" altLang="en-US" sz="1800">
              <a:solidFill>
                <a:srgbClr val="262626"/>
              </a:solidFill>
            </a:endParaRPr>
          </a:p>
          <a:p>
            <a:pPr marR="285750" lvl="1" indent="-285750" algn="just" rtl="1">
              <a:spcAft>
                <a:spcPts val="600"/>
              </a:spcAft>
              <a:buFont typeface="Arial" panose="020B0604020202020204"/>
              <a:buChar char="•"/>
            </a:pPr>
            <a:r>
              <a:rPr lang="ar-SA" altLang="en-US" sz="1800">
                <a:solidFill>
                  <a:srgbClr val="262626"/>
                </a:solidFill>
              </a:rPr>
              <a:t>للمكتب</a:t>
            </a:r>
            <a:r>
              <a:rPr lang="en-US" altLang="en-US" sz="1800">
                <a:solidFill>
                  <a:srgbClr val="262626"/>
                </a:solidFill>
              </a:rPr>
              <a:t>: </a:t>
            </a:r>
            <a:r>
              <a:rPr lang="ar-SA" altLang="en-US" sz="1800">
                <a:solidFill>
                  <a:srgbClr val="262626"/>
                </a:solidFill>
              </a:rPr>
              <a:t>لوحة</a:t>
            </a:r>
            <a:r>
              <a:rPr lang="en-US" altLang="en-US" sz="1800">
                <a:solidFill>
                  <a:srgbClr val="262626"/>
                </a:solidFill>
              </a:rPr>
              <a:t> </a:t>
            </a:r>
            <a:r>
              <a:rPr lang="ar-SA" altLang="en-US" sz="1800">
                <a:solidFill>
                  <a:srgbClr val="262626"/>
                </a:solidFill>
              </a:rPr>
              <a:t>تحكم</a:t>
            </a:r>
            <a:r>
              <a:rPr lang="en-US" altLang="en-US" sz="1800">
                <a:solidFill>
                  <a:srgbClr val="262626"/>
                </a:solidFill>
              </a:rPr>
              <a:t> </a:t>
            </a:r>
            <a:r>
              <a:rPr lang="ar-SA" altLang="en-US" sz="1800">
                <a:solidFill>
                  <a:srgbClr val="262626"/>
                </a:solidFill>
              </a:rPr>
              <a:t>سحابية</a:t>
            </a:r>
            <a:r>
              <a:rPr lang="en-US" altLang="en-US" sz="1800">
                <a:solidFill>
                  <a:srgbClr val="262626"/>
                </a:solidFill>
              </a:rPr>
              <a:t> </a:t>
            </a:r>
            <a:r>
              <a:rPr lang="ar-SA" altLang="en-US" sz="1800">
                <a:solidFill>
                  <a:srgbClr val="262626"/>
                </a:solidFill>
              </a:rPr>
              <a:t>تعمل</a:t>
            </a:r>
            <a:r>
              <a:rPr lang="en-US" altLang="en-US" sz="1800">
                <a:solidFill>
                  <a:srgbClr val="262626"/>
                </a:solidFill>
              </a:rPr>
              <a:t> 24 </a:t>
            </a:r>
            <a:r>
              <a:rPr lang="ar-SA" altLang="en-US" sz="1800">
                <a:solidFill>
                  <a:srgbClr val="262626"/>
                </a:solidFill>
              </a:rPr>
              <a:t>ساعة</a:t>
            </a:r>
            <a:r>
              <a:rPr lang="en-US" altLang="en-US" sz="1800">
                <a:solidFill>
                  <a:srgbClr val="262626"/>
                </a:solidFill>
              </a:rPr>
              <a:t> </a:t>
            </a:r>
            <a:r>
              <a:rPr lang="ar-SA" altLang="en-US" sz="1800">
                <a:solidFill>
                  <a:srgbClr val="262626"/>
                </a:solidFill>
              </a:rPr>
              <a:t>لعرض</a:t>
            </a:r>
            <a:r>
              <a:rPr lang="en-US" altLang="en-US" sz="1800">
                <a:solidFill>
                  <a:srgbClr val="262626"/>
                </a:solidFill>
              </a:rPr>
              <a:t> </a:t>
            </a:r>
            <a:r>
              <a:rPr lang="ar-SA" altLang="en-US" sz="1800">
                <a:solidFill>
                  <a:srgbClr val="262626"/>
                </a:solidFill>
              </a:rPr>
              <a:t>السيارات</a:t>
            </a:r>
            <a:r>
              <a:rPr lang="en-US" altLang="en-US" sz="1800">
                <a:solidFill>
                  <a:srgbClr val="262626"/>
                </a:solidFill>
              </a:rPr>
              <a:t> </a:t>
            </a:r>
            <a:r>
              <a:rPr lang="ar-SA" altLang="en-US" sz="1800">
                <a:solidFill>
                  <a:srgbClr val="262626"/>
                </a:solidFill>
              </a:rPr>
              <a:t>بالصور</a:t>
            </a:r>
            <a:r>
              <a:rPr lang="en-US" altLang="en-US" sz="1800">
                <a:solidFill>
                  <a:srgbClr val="262626"/>
                </a:solidFill>
              </a:rPr>
              <a:t> </a:t>
            </a:r>
            <a:r>
              <a:rPr lang="ar-SA" altLang="en-US" sz="1800">
                <a:solidFill>
                  <a:srgbClr val="262626"/>
                </a:solidFill>
              </a:rPr>
              <a:t>وإدارة</a:t>
            </a:r>
            <a:r>
              <a:rPr lang="en-US" altLang="en-US" sz="1800">
                <a:solidFill>
                  <a:srgbClr val="262626"/>
                </a:solidFill>
              </a:rPr>
              <a:t> </a:t>
            </a:r>
            <a:r>
              <a:rPr lang="ar-SA" altLang="en-US" sz="1800">
                <a:solidFill>
                  <a:srgbClr val="262626"/>
                </a:solidFill>
              </a:rPr>
              <a:t>الطلبات</a:t>
            </a:r>
            <a:r>
              <a:rPr lang="en-US" altLang="en-US" sz="1800">
                <a:solidFill>
                  <a:srgbClr val="262626"/>
                </a:solidFill>
              </a:rPr>
              <a:t> </a:t>
            </a:r>
            <a:r>
              <a:rPr lang="ar-SA" altLang="en-US" sz="1800">
                <a:solidFill>
                  <a:srgbClr val="262626"/>
                </a:solidFill>
              </a:rPr>
              <a:t>دون</a:t>
            </a:r>
            <a:r>
              <a:rPr lang="en-US" altLang="en-US" sz="1800">
                <a:solidFill>
                  <a:srgbClr val="262626"/>
                </a:solidFill>
              </a:rPr>
              <a:t> </a:t>
            </a:r>
            <a:r>
              <a:rPr lang="ar-SA" altLang="en-US" sz="1800">
                <a:solidFill>
                  <a:srgbClr val="262626"/>
                </a:solidFill>
              </a:rPr>
              <a:t>كلفة</a:t>
            </a:r>
            <a:r>
              <a:rPr lang="en-US" altLang="en-US" sz="1800">
                <a:solidFill>
                  <a:srgbClr val="262626"/>
                </a:solidFill>
              </a:rPr>
              <a:t> </a:t>
            </a:r>
            <a:r>
              <a:rPr lang="ar-SA" altLang="en-US" sz="1800">
                <a:solidFill>
                  <a:srgbClr val="262626"/>
                </a:solidFill>
              </a:rPr>
              <a:t>موقع</a:t>
            </a:r>
            <a:r>
              <a:rPr lang="en-US" altLang="en-US" sz="1800">
                <a:solidFill>
                  <a:srgbClr val="262626"/>
                </a:solidFill>
              </a:rPr>
              <a:t> </a:t>
            </a:r>
            <a:r>
              <a:rPr lang="ar-SA" altLang="en-US" sz="1800">
                <a:solidFill>
                  <a:srgbClr val="262626"/>
                </a:solidFill>
              </a:rPr>
              <a:t>خاص</a:t>
            </a:r>
            <a:r>
              <a:rPr lang="en-US" altLang="en-US" sz="1800">
                <a:solidFill>
                  <a:srgbClr val="262626"/>
                </a:solidFill>
              </a:rPr>
              <a:t>.</a:t>
            </a:r>
            <a:endParaRPr lang="en-US" altLang="en-US" sz="1800">
              <a:solidFill>
                <a:srgbClr val="262626"/>
              </a:solidFill>
            </a:endParaRPr>
          </a:p>
          <a:p>
            <a:pPr marR="285750" lvl="1" indent="-285750" algn="just" rtl="1">
              <a:spcAft>
                <a:spcPts val="600"/>
              </a:spcAft>
              <a:buFont typeface="Arial" panose="020B0604020202020204"/>
              <a:buChar char="•"/>
            </a:pPr>
            <a:r>
              <a:rPr lang="ar-SA" altLang="en-US" sz="1800">
                <a:solidFill>
                  <a:srgbClr val="262626"/>
                </a:solidFill>
              </a:rPr>
              <a:t>للزبون</a:t>
            </a:r>
            <a:r>
              <a:rPr lang="en-US" altLang="en-US" sz="1800">
                <a:solidFill>
                  <a:srgbClr val="262626"/>
                </a:solidFill>
              </a:rPr>
              <a:t>: </a:t>
            </a:r>
            <a:r>
              <a:rPr lang="ar-SA" altLang="en-US" sz="1800">
                <a:solidFill>
                  <a:srgbClr val="262626"/>
                </a:solidFill>
              </a:rPr>
              <a:t>كتالوج</a:t>
            </a:r>
            <a:r>
              <a:rPr lang="en-US" altLang="en-US" sz="1800">
                <a:solidFill>
                  <a:srgbClr val="262626"/>
                </a:solidFill>
              </a:rPr>
              <a:t> </a:t>
            </a:r>
            <a:r>
              <a:rPr lang="ar-SA" altLang="en-US" sz="1800">
                <a:solidFill>
                  <a:srgbClr val="262626"/>
                </a:solidFill>
              </a:rPr>
              <a:t>واحد</a:t>
            </a:r>
            <a:r>
              <a:rPr lang="en-US" altLang="en-US" sz="1800">
                <a:solidFill>
                  <a:srgbClr val="262626"/>
                </a:solidFill>
              </a:rPr>
              <a:t> </a:t>
            </a:r>
            <a:r>
              <a:rPr lang="ar-SA" altLang="en-US" sz="1800">
                <a:solidFill>
                  <a:srgbClr val="262626"/>
                </a:solidFill>
              </a:rPr>
              <a:t>لعدة</a:t>
            </a:r>
            <a:r>
              <a:rPr lang="en-US" altLang="en-US" sz="1800">
                <a:solidFill>
                  <a:srgbClr val="262626"/>
                </a:solidFill>
              </a:rPr>
              <a:t> </a:t>
            </a:r>
            <a:r>
              <a:rPr lang="ar-SA" altLang="en-US" sz="1800">
                <a:solidFill>
                  <a:srgbClr val="262626"/>
                </a:solidFill>
              </a:rPr>
              <a:t>مكاتب</a:t>
            </a:r>
            <a:r>
              <a:rPr lang="en-US" altLang="en-US" sz="1800">
                <a:solidFill>
                  <a:srgbClr val="262626"/>
                </a:solidFill>
              </a:rPr>
              <a:t> </a:t>
            </a:r>
            <a:r>
              <a:rPr lang="ar-SA" altLang="en-US" sz="1800">
                <a:solidFill>
                  <a:srgbClr val="262626"/>
                </a:solidFill>
              </a:rPr>
              <a:t>بفلاتر</a:t>
            </a:r>
            <a:r>
              <a:rPr lang="en-US" altLang="en-US" sz="1800">
                <a:solidFill>
                  <a:srgbClr val="262626"/>
                </a:solidFill>
              </a:rPr>
              <a:t> </a:t>
            </a:r>
            <a:r>
              <a:rPr lang="ar-SA" altLang="en-US" sz="1800">
                <a:solidFill>
                  <a:srgbClr val="262626"/>
                </a:solidFill>
              </a:rPr>
              <a:t>السعر</a:t>
            </a:r>
            <a:r>
              <a:rPr lang="en-US" altLang="en-US" sz="1800">
                <a:solidFill>
                  <a:srgbClr val="262626"/>
                </a:solidFill>
              </a:rPr>
              <a:t> </a:t>
            </a:r>
            <a:r>
              <a:rPr lang="ar-SA" altLang="en-US" sz="1800">
                <a:solidFill>
                  <a:srgbClr val="262626"/>
                </a:solidFill>
              </a:rPr>
              <a:t>والموقع</a:t>
            </a:r>
            <a:r>
              <a:rPr lang="en-US" altLang="en-US" sz="1800">
                <a:solidFill>
                  <a:srgbClr val="262626"/>
                </a:solidFill>
              </a:rPr>
              <a:t> </a:t>
            </a:r>
            <a:r>
              <a:rPr lang="ar-SA" altLang="en-US" sz="1800">
                <a:solidFill>
                  <a:srgbClr val="262626"/>
                </a:solidFill>
              </a:rPr>
              <a:t>والحالة</a:t>
            </a:r>
            <a:r>
              <a:rPr lang="en-US" altLang="en-US" sz="1800">
                <a:solidFill>
                  <a:srgbClr val="262626"/>
                </a:solidFill>
              </a:rPr>
              <a:t> </a:t>
            </a:r>
            <a:r>
              <a:rPr lang="ar-SA" altLang="en-US" sz="1800">
                <a:solidFill>
                  <a:srgbClr val="262626"/>
                </a:solidFill>
              </a:rPr>
              <a:t>والوقود،</a:t>
            </a:r>
            <a:r>
              <a:rPr lang="en-US" altLang="en-US" sz="1800">
                <a:solidFill>
                  <a:srgbClr val="262626"/>
                </a:solidFill>
              </a:rPr>
              <a:t> </a:t>
            </a:r>
            <a:r>
              <a:rPr lang="ar-SA" altLang="en-US" sz="1800">
                <a:solidFill>
                  <a:srgbClr val="262626"/>
                </a:solidFill>
              </a:rPr>
              <a:t>وطلب</a:t>
            </a:r>
            <a:r>
              <a:rPr lang="en-US" altLang="en-US" sz="1800">
                <a:solidFill>
                  <a:srgbClr val="262626"/>
                </a:solidFill>
              </a:rPr>
              <a:t> </a:t>
            </a:r>
            <a:r>
              <a:rPr lang="ar-SA" altLang="en-US" sz="1800">
                <a:solidFill>
                  <a:srgbClr val="262626"/>
                </a:solidFill>
              </a:rPr>
              <a:t>بموعد</a:t>
            </a:r>
            <a:r>
              <a:rPr lang="en-US" altLang="en-US" sz="1800">
                <a:solidFill>
                  <a:srgbClr val="262626"/>
                </a:solidFill>
              </a:rPr>
              <a:t> </a:t>
            </a:r>
            <a:r>
              <a:rPr lang="ar-SA" altLang="en-US" sz="1800">
                <a:solidFill>
                  <a:srgbClr val="262626"/>
                </a:solidFill>
              </a:rPr>
              <a:t>مفضل</a:t>
            </a:r>
            <a:r>
              <a:rPr lang="en-US" altLang="en-US" sz="1800">
                <a:solidFill>
                  <a:srgbClr val="262626"/>
                </a:solidFill>
              </a:rPr>
              <a:t> </a:t>
            </a:r>
            <a:r>
              <a:rPr lang="ar-SA" altLang="en-US" sz="1800">
                <a:solidFill>
                  <a:srgbClr val="262626"/>
                </a:solidFill>
              </a:rPr>
              <a:t>مع</a:t>
            </a:r>
            <a:r>
              <a:rPr lang="en-US" altLang="en-US" sz="1800">
                <a:solidFill>
                  <a:srgbClr val="262626"/>
                </a:solidFill>
              </a:rPr>
              <a:t> </a:t>
            </a:r>
            <a:r>
              <a:rPr lang="ar-SA" altLang="en-US" sz="1800">
                <a:solidFill>
                  <a:srgbClr val="262626"/>
                </a:solidFill>
              </a:rPr>
              <a:t>إشعارات</a:t>
            </a:r>
            <a:r>
              <a:rPr lang="en-US" altLang="en-US" sz="1800">
                <a:solidFill>
                  <a:srgbClr val="262626"/>
                </a:solidFill>
              </a:rPr>
              <a:t>.</a:t>
            </a:r>
            <a:endParaRPr lang="en-US" altLang="en-US" sz="1800">
              <a:solidFill>
                <a:srgbClr val="262626"/>
              </a:solidFill>
            </a:endParaRPr>
          </a:p>
          <a:p>
            <a:pPr marR="285750" lvl="1" indent="-285750" algn="just" rtl="1">
              <a:spcAft>
                <a:spcPts val="600"/>
              </a:spcAft>
              <a:buFont typeface="Arial" panose="020B0604020202020204"/>
              <a:buChar char="•"/>
            </a:pPr>
            <a:r>
              <a:rPr lang="ar-SA" altLang="en-US" sz="1800">
                <a:solidFill>
                  <a:srgbClr val="262626"/>
                </a:solidFill>
              </a:rPr>
              <a:t>للسوق</a:t>
            </a:r>
            <a:r>
              <a:rPr lang="en-US" altLang="en-US" sz="1800">
                <a:solidFill>
                  <a:srgbClr val="262626"/>
                </a:solidFill>
              </a:rPr>
              <a:t>: </a:t>
            </a:r>
            <a:r>
              <a:rPr lang="ar-SA" altLang="en-US" sz="1800">
                <a:solidFill>
                  <a:srgbClr val="262626"/>
                </a:solidFill>
              </a:rPr>
              <a:t>بيانات</a:t>
            </a:r>
            <a:r>
              <a:rPr lang="en-US" altLang="en-US" sz="1800">
                <a:solidFill>
                  <a:srgbClr val="262626"/>
                </a:solidFill>
              </a:rPr>
              <a:t> </a:t>
            </a:r>
            <a:r>
              <a:rPr lang="ar-SA" altLang="en-US" sz="1800">
                <a:solidFill>
                  <a:srgbClr val="262626"/>
                </a:solidFill>
              </a:rPr>
              <a:t>منظمة</a:t>
            </a:r>
            <a:r>
              <a:rPr lang="en-US" altLang="en-US" sz="1800">
                <a:solidFill>
                  <a:srgbClr val="262626"/>
                </a:solidFill>
              </a:rPr>
              <a:t> </a:t>
            </a:r>
            <a:r>
              <a:rPr lang="ar-SA" altLang="en-US" sz="1800">
                <a:solidFill>
                  <a:srgbClr val="262626"/>
                </a:solidFill>
              </a:rPr>
              <a:t>وإشراف</a:t>
            </a:r>
            <a:r>
              <a:rPr lang="en-US" altLang="en-US" sz="1800">
                <a:solidFill>
                  <a:srgbClr val="262626"/>
                </a:solidFill>
              </a:rPr>
              <a:t> </a:t>
            </a:r>
            <a:r>
              <a:rPr lang="ar-SA" altLang="en-US" sz="1800">
                <a:solidFill>
                  <a:srgbClr val="262626"/>
                </a:solidFill>
              </a:rPr>
              <a:t>مركزي</a:t>
            </a:r>
            <a:r>
              <a:rPr lang="en-US" altLang="en-US" sz="1800">
                <a:solidFill>
                  <a:srgbClr val="262626"/>
                </a:solidFill>
              </a:rPr>
              <a:t> </a:t>
            </a:r>
            <a:r>
              <a:rPr lang="ar-SA" altLang="en-US" sz="1800">
                <a:solidFill>
                  <a:srgbClr val="262626"/>
                </a:solidFill>
              </a:rPr>
              <a:t>يعتمد</a:t>
            </a:r>
            <a:r>
              <a:rPr lang="en-US" altLang="en-US" sz="1800">
                <a:solidFill>
                  <a:srgbClr val="262626"/>
                </a:solidFill>
              </a:rPr>
              <a:t> </a:t>
            </a:r>
            <a:r>
              <a:rPr lang="ar-SA" altLang="en-US" sz="1800">
                <a:solidFill>
                  <a:srgbClr val="262626"/>
                </a:solidFill>
              </a:rPr>
              <a:t>المكاتب</a:t>
            </a:r>
            <a:r>
              <a:rPr lang="en-US" altLang="en-US" sz="1800">
                <a:solidFill>
                  <a:srgbClr val="262626"/>
                </a:solidFill>
              </a:rPr>
              <a:t> </a:t>
            </a:r>
            <a:r>
              <a:rPr lang="ar-SA" altLang="en-US" sz="1800">
                <a:solidFill>
                  <a:srgbClr val="262626"/>
                </a:solidFill>
              </a:rPr>
              <a:t>قبل</a:t>
            </a:r>
            <a:r>
              <a:rPr lang="en-US" altLang="en-US" sz="1800">
                <a:solidFill>
                  <a:srgbClr val="262626"/>
                </a:solidFill>
              </a:rPr>
              <a:t> </a:t>
            </a:r>
            <a:r>
              <a:rPr lang="ar-SA" altLang="en-US" sz="1800">
                <a:solidFill>
                  <a:srgbClr val="262626"/>
                </a:solidFill>
              </a:rPr>
              <a:t>ظهورها</a:t>
            </a:r>
            <a:r>
              <a:rPr lang="en-US" altLang="en-US" sz="1800">
                <a:solidFill>
                  <a:srgbClr val="262626"/>
                </a:solidFill>
              </a:rPr>
              <a:t> </a:t>
            </a:r>
            <a:r>
              <a:rPr lang="ar-SA" altLang="en-US" sz="1800">
                <a:solidFill>
                  <a:srgbClr val="262626"/>
                </a:solidFill>
              </a:rPr>
              <a:t>للعامة</a:t>
            </a:r>
            <a:r>
              <a:rPr lang="en-US" altLang="en-US" sz="1800">
                <a:solidFill>
                  <a:srgbClr val="262626"/>
                </a:solidFill>
              </a:rPr>
              <a:t>.</a:t>
            </a:r>
            <a:endParaRPr lang="en-US" altLang="en-US" sz="1800">
              <a:solidFill>
                <a:srgbClr val="262626"/>
              </a:solidFill>
            </a:endParaRPr>
          </a:p>
          <a:p>
            <a:pPr marR="285750" lvl="1" indent="-285750" algn="just" rtl="1">
              <a:spcAft>
                <a:spcPts val="600"/>
              </a:spcAft>
              <a:buFont typeface="Arial" panose="020B0604020202020204"/>
              <a:buChar char="•"/>
            </a:pPr>
            <a:r>
              <a:rPr lang="ar-SA" altLang="en-US" sz="1800">
                <a:solidFill>
                  <a:srgbClr val="262626"/>
                </a:solidFill>
              </a:rPr>
              <a:t>الشاهد</a:t>
            </a:r>
            <a:r>
              <a:rPr lang="en-US" altLang="en-US" sz="1800">
                <a:solidFill>
                  <a:srgbClr val="262626"/>
                </a:solidFill>
              </a:rPr>
              <a:t>: 61% </a:t>
            </a:r>
            <a:r>
              <a:rPr lang="ar-SA" altLang="en-US" sz="1800">
                <a:solidFill>
                  <a:srgbClr val="262626"/>
                </a:solidFill>
              </a:rPr>
              <a:t>من</a:t>
            </a:r>
            <a:r>
              <a:rPr lang="en-US" altLang="en-US" sz="1800">
                <a:solidFill>
                  <a:srgbClr val="262626"/>
                </a:solidFill>
              </a:rPr>
              <a:t> </a:t>
            </a:r>
            <a:r>
              <a:rPr lang="ar-SA" altLang="en-US" sz="1800">
                <a:solidFill>
                  <a:srgbClr val="262626"/>
                </a:solidFill>
              </a:rPr>
              <a:t>وقت</a:t>
            </a:r>
            <a:r>
              <a:rPr lang="en-US" altLang="en-US" sz="1800">
                <a:solidFill>
                  <a:srgbClr val="262626"/>
                </a:solidFill>
              </a:rPr>
              <a:t> </a:t>
            </a:r>
            <a:r>
              <a:rPr lang="ar-SA" altLang="en-US" sz="1800">
                <a:solidFill>
                  <a:srgbClr val="262626"/>
                </a:solidFill>
              </a:rPr>
              <a:t>التسوق</a:t>
            </a:r>
            <a:r>
              <a:rPr lang="en-US" altLang="en-US" sz="1800">
                <a:solidFill>
                  <a:srgbClr val="262626"/>
                </a:solidFill>
              </a:rPr>
              <a:t> </a:t>
            </a:r>
            <a:r>
              <a:rPr lang="ar-SA" altLang="en-US" sz="1800">
                <a:solidFill>
                  <a:srgbClr val="262626"/>
                </a:solidFill>
              </a:rPr>
              <a:t>للسيارة</a:t>
            </a:r>
            <a:r>
              <a:rPr lang="en-US" altLang="en-US" sz="1800">
                <a:solidFill>
                  <a:srgbClr val="262626"/>
                </a:solidFill>
              </a:rPr>
              <a:t> </a:t>
            </a:r>
            <a:r>
              <a:rPr lang="ar-SA" altLang="en-US" sz="1800">
                <a:solidFill>
                  <a:srgbClr val="262626"/>
                </a:solidFill>
              </a:rPr>
              <a:t>يجري</a:t>
            </a:r>
            <a:r>
              <a:rPr lang="en-US" altLang="en-US" sz="1800">
                <a:solidFill>
                  <a:srgbClr val="262626"/>
                </a:solidFill>
              </a:rPr>
              <a:t> </a:t>
            </a:r>
            <a:r>
              <a:rPr lang="ar-SA" altLang="en-US" sz="1800">
                <a:solidFill>
                  <a:srgbClr val="262626"/>
                </a:solidFill>
              </a:rPr>
              <a:t>عبر</a:t>
            </a:r>
            <a:r>
              <a:rPr lang="en-US" altLang="en-US" sz="1800">
                <a:solidFill>
                  <a:srgbClr val="262626"/>
                </a:solidFill>
              </a:rPr>
              <a:t> </a:t>
            </a:r>
            <a:r>
              <a:rPr lang="ar-SA" altLang="en-US" sz="1800">
                <a:solidFill>
                  <a:srgbClr val="262626"/>
                </a:solidFill>
              </a:rPr>
              <a:t>الإنترنت،</a:t>
            </a:r>
            <a:r>
              <a:rPr lang="en-US" altLang="en-US" sz="1800">
                <a:solidFill>
                  <a:srgbClr val="262626"/>
                </a:solidFill>
              </a:rPr>
              <a:t> </a:t>
            </a:r>
            <a:r>
              <a:rPr lang="ar-SA" altLang="en-US" sz="1800">
                <a:solidFill>
                  <a:srgbClr val="262626"/>
                </a:solidFill>
              </a:rPr>
              <a:t>و</a:t>
            </a:r>
            <a:r>
              <a:rPr lang="en-US" altLang="en-US" sz="1800">
                <a:solidFill>
                  <a:srgbClr val="262626"/>
                </a:solidFill>
              </a:rPr>
              <a:t>41% </a:t>
            </a:r>
            <a:r>
              <a:rPr lang="ar-SA" altLang="en-US" sz="1800">
                <a:solidFill>
                  <a:srgbClr val="262626"/>
                </a:solidFill>
              </a:rPr>
              <a:t>يزورون</a:t>
            </a:r>
            <a:r>
              <a:rPr lang="en-US" altLang="en-US" sz="1800">
                <a:solidFill>
                  <a:srgbClr val="262626"/>
                </a:solidFill>
              </a:rPr>
              <a:t> </a:t>
            </a:r>
            <a:r>
              <a:rPr lang="ar-SA" altLang="en-US" sz="1800">
                <a:solidFill>
                  <a:srgbClr val="262626"/>
                </a:solidFill>
              </a:rPr>
              <a:t>معرضًا</a:t>
            </a:r>
            <a:r>
              <a:rPr lang="en-US" altLang="en-US" sz="1800">
                <a:solidFill>
                  <a:srgbClr val="262626"/>
                </a:solidFill>
              </a:rPr>
              <a:t> </a:t>
            </a:r>
            <a:r>
              <a:rPr lang="ar-SA" altLang="en-US" sz="1800">
                <a:solidFill>
                  <a:srgbClr val="262626"/>
                </a:solidFill>
              </a:rPr>
              <a:t>واحدًا</a:t>
            </a:r>
            <a:r>
              <a:rPr lang="en-US" altLang="en-US" sz="1800">
                <a:solidFill>
                  <a:srgbClr val="262626"/>
                </a:solidFill>
              </a:rPr>
              <a:t> </a:t>
            </a:r>
            <a:r>
              <a:rPr lang="ar-SA" altLang="en-US" sz="1800">
                <a:solidFill>
                  <a:srgbClr val="262626"/>
                </a:solidFill>
              </a:rPr>
              <a:t>فقط</a:t>
            </a:r>
            <a:r>
              <a:rPr lang="en-US" altLang="en-US" sz="1800">
                <a:solidFill>
                  <a:srgbClr val="262626"/>
                </a:solidFill>
              </a:rPr>
              <a:t> [Cox Automotive, 2019]</a:t>
            </a:r>
            <a:endParaRPr sz="1800">
              <a:solidFill>
                <a:srgbClr val="262626"/>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F5F1D80-E922-4C56-BACD-EEFC21DCFF81}" type="datetime1">
              <a:rPr lang="en-US" smtClean="0"/>
            </a:fld>
            <a:endParaRPr lang="en-US"/>
          </a:p>
        </p:txBody>
      </p:sp>
      <p:sp>
        <p:nvSpPr>
          <p:cNvPr id="5" name="Footer Placeholder 4"/>
          <p:cNvSpPr>
            <a:spLocks noGrp="1"/>
          </p:cNvSpPr>
          <p:nvPr>
            <p:ph type="ftr" sz="quarter" idx="11"/>
          </p:nvPr>
        </p:nvSpPr>
        <p:spPr/>
        <p:txBody>
          <a:bodyPr/>
          <a:lstStyle/>
          <a:p>
            <a:pPr rtl="1"/>
            <a:r>
              <a:rPr lang="ar-LB"/>
              <a:t>مشروع فصلي - Car Rental Platform</a:t>
            </a:r>
            <a:endParaRPr lang="en-US"/>
          </a:p>
        </p:txBody>
      </p:sp>
      <p:sp>
        <p:nvSpPr>
          <p:cNvPr id="6" name="Slide Number Placeholder 5"/>
          <p:cNvSpPr>
            <a:spLocks noGrp="1"/>
          </p:cNvSpPr>
          <p:nvPr>
            <p:ph type="sldNum" sz="quarter" idx="12"/>
          </p:nvPr>
        </p:nvSpPr>
        <p:spPr/>
        <p:txBody>
          <a:bodyPr/>
          <a:lstStyle/>
          <a:p>
            <a:r>
              <a:rPr sz="1000">
                <a:solidFill>
                  <a:srgbClr val="59697C"/>
                </a:solidFill>
                <a:latin typeface="Arial" panose="020B0604020202020204"/>
              </a:rPr>
              <a:t>4</a:t>
            </a:r>
            <a:endParaRPr sz="1000">
              <a:solidFill>
                <a:srgbClr val="59697C"/>
              </a:solidFill>
              <a:latin typeface="Arial" panose="020B0604020202020204"/>
            </a:endParaRPr>
          </a:p>
        </p:txBody>
      </p:sp>
      <p:sp>
        <p:nvSpPr>
          <p:cNvPr id="9" name="TextBox 8"/>
          <p:cNvSpPr txBox="1"/>
          <p:nvPr/>
        </p:nvSpPr>
        <p:spPr>
          <a:xfrm>
            <a:off x="4437126" y="217670"/>
            <a:ext cx="6094476" cy="461665"/>
          </a:xfrm>
          <a:prstGeom prst="rect">
            <a:avLst/>
          </a:prstGeom>
          <a:noFill/>
        </p:spPr>
        <p:txBody>
          <a:bodyPr wrap="square">
            <a:spAutoFit/>
          </a:bodyPr>
          <a:lstStyle/>
          <a:p>
            <a:pPr algn="r" rtl="1"/>
            <a:r>
              <a:rPr lang="ar-SA" sz="2400" b="1" dirty="0">
                <a:solidFill>
                  <a:srgbClr val="2F5496"/>
                </a:solidFill>
                <a:latin typeface="Calibri Light" panose="020F0302020204030204" pitchFamily="34" charset="0"/>
                <a:cs typeface="Times New Roman" panose="02020603050405020304" pitchFamily="18" charset="0"/>
              </a:rPr>
              <a:t>أهداف المشروع</a:t>
            </a:r>
            <a:endParaRPr lang="en-US" sz="2400" b="1" dirty="0">
              <a:solidFill>
                <a:srgbClr val="2F5496"/>
              </a:solidFill>
              <a:latin typeface="Calibri Light" panose="020F0302020204030204" pitchFamily="34" charset="0"/>
              <a:cs typeface="Times New Roman" panose="02020603050405020304" pitchFamily="18" charset="0"/>
            </a:endParaRPr>
          </a:p>
        </p:txBody>
      </p:sp>
      <p:sp>
        <p:nvSpPr>
          <p:cNvPr id="10" name="TextBox 9"/>
          <p:cNvSpPr txBox="1"/>
          <p:nvPr/>
        </p:nvSpPr>
        <p:spPr>
          <a:xfrm>
            <a:off x="969264" y="1050000"/>
            <a:ext cx="10305288" cy="2907665"/>
          </a:xfrm>
          <a:prstGeom prst="rect">
            <a:avLst/>
          </a:prstGeom>
          <a:noFill/>
        </p:spPr>
        <p:txBody>
          <a:bodyPr wrap="square">
            <a:spAutoFit/>
          </a:bodyPr>
          <a:lstStyle/>
          <a:p>
            <a:pPr algn="r" rtl="1">
              <a:spcAft>
                <a:spcPts val="1000"/>
              </a:spcAft>
            </a:pPr>
            <a:r>
              <a:rPr lang="en-US" altLang="en-US" sz="1900">
                <a:solidFill>
                  <a:srgbClr val="262626"/>
                </a:solidFill>
              </a:rPr>
              <a:t>1. </a:t>
            </a:r>
            <a:r>
              <a:rPr lang="ar-SA" altLang="en-US" sz="1900">
                <a:solidFill>
                  <a:srgbClr val="262626"/>
                </a:solidFill>
              </a:rPr>
              <a:t>توفير</a:t>
            </a:r>
            <a:r>
              <a:rPr lang="en-US" altLang="en-US" sz="1900">
                <a:solidFill>
                  <a:srgbClr val="262626"/>
                </a:solidFill>
              </a:rPr>
              <a:t> </a:t>
            </a:r>
            <a:r>
              <a:rPr lang="ar-SA" altLang="en-US" sz="1900">
                <a:solidFill>
                  <a:srgbClr val="262626"/>
                </a:solidFill>
              </a:rPr>
              <a:t>لوحة</a:t>
            </a:r>
            <a:r>
              <a:rPr lang="en-US" altLang="en-US" sz="1900">
                <a:solidFill>
                  <a:srgbClr val="262626"/>
                </a:solidFill>
              </a:rPr>
              <a:t> </a:t>
            </a:r>
            <a:r>
              <a:rPr lang="ar-SA" altLang="en-US" sz="1900">
                <a:solidFill>
                  <a:srgbClr val="262626"/>
                </a:solidFill>
              </a:rPr>
              <a:t>تحكم</a:t>
            </a:r>
            <a:r>
              <a:rPr lang="en-US" altLang="en-US" sz="1900">
                <a:solidFill>
                  <a:srgbClr val="262626"/>
                </a:solidFill>
              </a:rPr>
              <a:t> </a:t>
            </a:r>
            <a:r>
              <a:rPr lang="ar-SA" altLang="en-US" sz="1900">
                <a:solidFill>
                  <a:srgbClr val="262626"/>
                </a:solidFill>
              </a:rPr>
              <a:t>سحابية</a:t>
            </a:r>
            <a:r>
              <a:rPr lang="en-US" altLang="en-US" sz="1900">
                <a:solidFill>
                  <a:srgbClr val="262626"/>
                </a:solidFill>
              </a:rPr>
              <a:t> </a:t>
            </a:r>
            <a:r>
              <a:rPr lang="ar-SA" altLang="en-US" sz="1900">
                <a:solidFill>
                  <a:srgbClr val="262626"/>
                </a:solidFill>
              </a:rPr>
              <a:t>لكل</a:t>
            </a:r>
            <a:r>
              <a:rPr lang="en-US" altLang="en-US" sz="1900">
                <a:solidFill>
                  <a:srgbClr val="262626"/>
                </a:solidFill>
              </a:rPr>
              <a:t> </a:t>
            </a:r>
            <a:r>
              <a:rPr lang="ar-SA" altLang="en-US" sz="1900">
                <a:solidFill>
                  <a:srgbClr val="262626"/>
                </a:solidFill>
              </a:rPr>
              <a:t>مكتب</a:t>
            </a:r>
            <a:r>
              <a:rPr lang="en-US" altLang="en-US" sz="1900">
                <a:solidFill>
                  <a:srgbClr val="262626"/>
                </a:solidFill>
              </a:rPr>
              <a:t> </a:t>
            </a:r>
            <a:r>
              <a:rPr lang="ar-SA" altLang="en-US" sz="1900">
                <a:solidFill>
                  <a:srgbClr val="262626"/>
                </a:solidFill>
              </a:rPr>
              <a:t>لإدارة</a:t>
            </a:r>
            <a:r>
              <a:rPr lang="en-US" altLang="en-US" sz="1900">
                <a:solidFill>
                  <a:srgbClr val="262626"/>
                </a:solidFill>
              </a:rPr>
              <a:t> </a:t>
            </a:r>
            <a:r>
              <a:rPr lang="ar-SA" altLang="en-US" sz="1900">
                <a:solidFill>
                  <a:srgbClr val="262626"/>
                </a:solidFill>
              </a:rPr>
              <a:t>ملفه</a:t>
            </a:r>
            <a:r>
              <a:rPr lang="en-US" altLang="en-US" sz="1900">
                <a:solidFill>
                  <a:srgbClr val="262626"/>
                </a:solidFill>
              </a:rPr>
              <a:t> </a:t>
            </a:r>
            <a:r>
              <a:rPr lang="ar-SA" altLang="en-US" sz="1900">
                <a:solidFill>
                  <a:srgbClr val="262626"/>
                </a:solidFill>
              </a:rPr>
              <a:t>ومخزونه</a:t>
            </a:r>
            <a:r>
              <a:rPr lang="en-US" altLang="en-US" sz="1900">
                <a:solidFill>
                  <a:srgbClr val="262626"/>
                </a:solidFill>
              </a:rPr>
              <a:t> </a:t>
            </a:r>
            <a:r>
              <a:rPr lang="ar-SA" altLang="en-US" sz="1900">
                <a:solidFill>
                  <a:srgbClr val="262626"/>
                </a:solidFill>
              </a:rPr>
              <a:t>وطلباته</a:t>
            </a:r>
            <a:r>
              <a:rPr lang="en-US" altLang="en-US" sz="1900">
                <a:solidFill>
                  <a:srgbClr val="262626"/>
                </a:solidFill>
              </a:rPr>
              <a:t>.</a:t>
            </a:r>
            <a:endParaRPr lang="en-US" altLang="en-US" sz="1900">
              <a:solidFill>
                <a:srgbClr val="262626"/>
              </a:solidFill>
            </a:endParaRPr>
          </a:p>
          <a:p>
            <a:pPr algn="r" rtl="1">
              <a:spcAft>
                <a:spcPts val="1000"/>
              </a:spcAft>
            </a:pPr>
            <a:r>
              <a:rPr lang="en-US" altLang="en-US" sz="1900">
                <a:solidFill>
                  <a:srgbClr val="262626"/>
                </a:solidFill>
              </a:rPr>
              <a:t>2. </a:t>
            </a:r>
            <a:r>
              <a:rPr lang="ar-SA" altLang="en-US" sz="1900">
                <a:solidFill>
                  <a:srgbClr val="262626"/>
                </a:solidFill>
              </a:rPr>
              <a:t>بناء</a:t>
            </a:r>
            <a:r>
              <a:rPr lang="en-US" altLang="en-US" sz="1900">
                <a:solidFill>
                  <a:srgbClr val="262626"/>
                </a:solidFill>
              </a:rPr>
              <a:t> </a:t>
            </a:r>
            <a:r>
              <a:rPr lang="ar-SA" altLang="en-US" sz="1900">
                <a:solidFill>
                  <a:srgbClr val="262626"/>
                </a:solidFill>
              </a:rPr>
              <a:t>كتالوج</a:t>
            </a:r>
            <a:r>
              <a:rPr lang="en-US" altLang="en-US" sz="1900">
                <a:solidFill>
                  <a:srgbClr val="262626"/>
                </a:solidFill>
              </a:rPr>
              <a:t> </a:t>
            </a:r>
            <a:r>
              <a:rPr lang="ar-SA" altLang="en-US" sz="1900">
                <a:solidFill>
                  <a:srgbClr val="262626"/>
                </a:solidFill>
              </a:rPr>
              <a:t>عام</a:t>
            </a:r>
            <a:r>
              <a:rPr lang="en-US" altLang="en-US" sz="1900">
                <a:solidFill>
                  <a:srgbClr val="262626"/>
                </a:solidFill>
              </a:rPr>
              <a:t> </a:t>
            </a:r>
            <a:r>
              <a:rPr lang="ar-SA" altLang="en-US" sz="1900">
                <a:solidFill>
                  <a:srgbClr val="262626"/>
                </a:solidFill>
              </a:rPr>
              <a:t>موحد</a:t>
            </a:r>
            <a:r>
              <a:rPr lang="en-US" altLang="en-US" sz="1900">
                <a:solidFill>
                  <a:srgbClr val="262626"/>
                </a:solidFill>
              </a:rPr>
              <a:t> </a:t>
            </a:r>
            <a:r>
              <a:rPr lang="ar-SA" altLang="en-US" sz="1900">
                <a:solidFill>
                  <a:srgbClr val="262626"/>
                </a:solidFill>
              </a:rPr>
              <a:t>يعرض</a:t>
            </a:r>
            <a:r>
              <a:rPr lang="en-US" altLang="en-US" sz="1900">
                <a:solidFill>
                  <a:srgbClr val="262626"/>
                </a:solidFill>
              </a:rPr>
              <a:t> </a:t>
            </a:r>
            <a:r>
              <a:rPr lang="ar-SA" altLang="en-US" sz="1900">
                <a:solidFill>
                  <a:srgbClr val="262626"/>
                </a:solidFill>
              </a:rPr>
              <a:t>سيارات</a:t>
            </a:r>
            <a:r>
              <a:rPr lang="en-US" altLang="en-US" sz="1900">
                <a:solidFill>
                  <a:srgbClr val="262626"/>
                </a:solidFill>
              </a:rPr>
              <a:t> </a:t>
            </a:r>
            <a:r>
              <a:rPr lang="ar-SA" altLang="en-US" sz="1900">
                <a:solidFill>
                  <a:srgbClr val="262626"/>
                </a:solidFill>
              </a:rPr>
              <a:t>المكاتب</a:t>
            </a:r>
            <a:r>
              <a:rPr lang="en-US" altLang="en-US" sz="1900">
                <a:solidFill>
                  <a:srgbClr val="262626"/>
                </a:solidFill>
              </a:rPr>
              <a:t> </a:t>
            </a:r>
            <a:r>
              <a:rPr lang="ar-SA" altLang="en-US" sz="1900">
                <a:solidFill>
                  <a:srgbClr val="262626"/>
                </a:solidFill>
              </a:rPr>
              <a:t>المعتمدة</a:t>
            </a:r>
            <a:r>
              <a:rPr lang="en-US" altLang="en-US" sz="1900">
                <a:solidFill>
                  <a:srgbClr val="262626"/>
                </a:solidFill>
              </a:rPr>
              <a:t> </a:t>
            </a:r>
            <a:r>
              <a:rPr lang="ar-SA" altLang="en-US" sz="1900">
                <a:solidFill>
                  <a:srgbClr val="262626"/>
                </a:solidFill>
              </a:rPr>
              <a:t>فقط،</a:t>
            </a:r>
            <a:r>
              <a:rPr lang="en-US" altLang="en-US" sz="1900">
                <a:solidFill>
                  <a:srgbClr val="262626"/>
                </a:solidFill>
              </a:rPr>
              <a:t> </a:t>
            </a:r>
            <a:r>
              <a:rPr lang="ar-SA" altLang="en-US" sz="1900">
                <a:solidFill>
                  <a:srgbClr val="262626"/>
                </a:solidFill>
              </a:rPr>
              <a:t>مع</a:t>
            </a:r>
            <a:r>
              <a:rPr lang="en-US" altLang="en-US" sz="1900">
                <a:solidFill>
                  <a:srgbClr val="262626"/>
                </a:solidFill>
              </a:rPr>
              <a:t> </a:t>
            </a:r>
            <a:r>
              <a:rPr lang="ar-SA" altLang="en-US" sz="1900">
                <a:solidFill>
                  <a:srgbClr val="262626"/>
                </a:solidFill>
              </a:rPr>
              <a:t>بحث</a:t>
            </a:r>
            <a:r>
              <a:rPr lang="en-US" altLang="en-US" sz="1900">
                <a:solidFill>
                  <a:srgbClr val="262626"/>
                </a:solidFill>
              </a:rPr>
              <a:t> </a:t>
            </a:r>
            <a:r>
              <a:rPr lang="ar-SA" altLang="en-US" sz="1900">
                <a:solidFill>
                  <a:srgbClr val="262626"/>
                </a:solidFill>
              </a:rPr>
              <a:t>نصي</a:t>
            </a:r>
            <a:r>
              <a:rPr lang="en-US" altLang="en-US" sz="1900">
                <a:solidFill>
                  <a:srgbClr val="262626"/>
                </a:solidFill>
              </a:rPr>
              <a:t> </a:t>
            </a:r>
            <a:r>
              <a:rPr lang="ar-SA" altLang="en-US" sz="1900">
                <a:solidFill>
                  <a:srgbClr val="262626"/>
                </a:solidFill>
              </a:rPr>
              <a:t>وفلاتر</a:t>
            </a:r>
            <a:r>
              <a:rPr lang="en-US" altLang="en-US" sz="1900">
                <a:solidFill>
                  <a:srgbClr val="262626"/>
                </a:solidFill>
              </a:rPr>
              <a:t> </a:t>
            </a:r>
            <a:r>
              <a:rPr lang="ar-SA" altLang="en-US" sz="1900">
                <a:solidFill>
                  <a:srgbClr val="262626"/>
                </a:solidFill>
              </a:rPr>
              <a:t>مجتمعة</a:t>
            </a:r>
            <a:r>
              <a:rPr lang="en-US" altLang="en-US" sz="1900">
                <a:solidFill>
                  <a:srgbClr val="262626"/>
                </a:solidFill>
              </a:rPr>
              <a:t>.</a:t>
            </a:r>
            <a:endParaRPr lang="en-US" altLang="en-US" sz="1900">
              <a:solidFill>
                <a:srgbClr val="262626"/>
              </a:solidFill>
            </a:endParaRPr>
          </a:p>
          <a:p>
            <a:pPr algn="r" rtl="1">
              <a:spcAft>
                <a:spcPts val="1000"/>
              </a:spcAft>
            </a:pPr>
            <a:r>
              <a:rPr lang="en-US" altLang="en-US" sz="1900">
                <a:solidFill>
                  <a:srgbClr val="262626"/>
                </a:solidFill>
              </a:rPr>
              <a:t>3. </a:t>
            </a:r>
            <a:r>
              <a:rPr lang="ar-SA" altLang="en-US" sz="1900">
                <a:solidFill>
                  <a:srgbClr val="262626"/>
                </a:solidFill>
              </a:rPr>
              <a:t>تمكين</a:t>
            </a:r>
            <a:r>
              <a:rPr lang="en-US" altLang="en-US" sz="1900">
                <a:solidFill>
                  <a:srgbClr val="262626"/>
                </a:solidFill>
              </a:rPr>
              <a:t> </a:t>
            </a:r>
            <a:r>
              <a:rPr lang="ar-SA" altLang="en-US" sz="1900">
                <a:solidFill>
                  <a:srgbClr val="262626"/>
                </a:solidFill>
              </a:rPr>
              <a:t>الزبون</a:t>
            </a:r>
            <a:r>
              <a:rPr lang="en-US" altLang="en-US" sz="1900">
                <a:solidFill>
                  <a:srgbClr val="262626"/>
                </a:solidFill>
              </a:rPr>
              <a:t> </a:t>
            </a:r>
            <a:r>
              <a:rPr lang="ar-SA" altLang="en-US" sz="1900">
                <a:solidFill>
                  <a:srgbClr val="262626"/>
                </a:solidFill>
              </a:rPr>
              <a:t>من</a:t>
            </a:r>
            <a:r>
              <a:rPr lang="en-US" altLang="en-US" sz="1900">
                <a:solidFill>
                  <a:srgbClr val="262626"/>
                </a:solidFill>
              </a:rPr>
              <a:t> </a:t>
            </a:r>
            <a:r>
              <a:rPr lang="ar-SA" altLang="en-US" sz="1900">
                <a:solidFill>
                  <a:srgbClr val="262626"/>
                </a:solidFill>
              </a:rPr>
              <a:t>إرسال</a:t>
            </a:r>
            <a:r>
              <a:rPr lang="en-US" altLang="en-US" sz="1900">
                <a:solidFill>
                  <a:srgbClr val="262626"/>
                </a:solidFill>
              </a:rPr>
              <a:t> </a:t>
            </a:r>
            <a:r>
              <a:rPr lang="ar-SA" altLang="en-US" sz="1900">
                <a:solidFill>
                  <a:srgbClr val="262626"/>
                </a:solidFill>
              </a:rPr>
              <a:t>طلب</a:t>
            </a:r>
            <a:r>
              <a:rPr lang="en-US" altLang="en-US" sz="1900">
                <a:solidFill>
                  <a:srgbClr val="262626"/>
                </a:solidFill>
              </a:rPr>
              <a:t> </a:t>
            </a:r>
            <a:r>
              <a:rPr lang="ar-SA" altLang="en-US" sz="1900">
                <a:solidFill>
                  <a:srgbClr val="262626"/>
                </a:solidFill>
              </a:rPr>
              <a:t>معاينة</a:t>
            </a:r>
            <a:r>
              <a:rPr lang="en-US" altLang="en-US" sz="1900">
                <a:solidFill>
                  <a:srgbClr val="262626"/>
                </a:solidFill>
              </a:rPr>
              <a:t> </a:t>
            </a:r>
            <a:r>
              <a:rPr lang="ar-SA" altLang="en-US" sz="1900">
                <a:solidFill>
                  <a:srgbClr val="262626"/>
                </a:solidFill>
              </a:rPr>
              <a:t>أو</a:t>
            </a:r>
            <a:r>
              <a:rPr lang="en-US" altLang="en-US" sz="1900">
                <a:solidFill>
                  <a:srgbClr val="262626"/>
                </a:solidFill>
              </a:rPr>
              <a:t> </a:t>
            </a:r>
            <a:r>
              <a:rPr lang="ar-SA" altLang="en-US" sz="1900">
                <a:solidFill>
                  <a:srgbClr val="262626"/>
                </a:solidFill>
              </a:rPr>
              <a:t>استئجار</a:t>
            </a:r>
            <a:r>
              <a:rPr lang="en-US" altLang="en-US" sz="1900">
                <a:solidFill>
                  <a:srgbClr val="262626"/>
                </a:solidFill>
              </a:rPr>
              <a:t> </a:t>
            </a:r>
            <a:r>
              <a:rPr lang="ar-SA" altLang="en-US" sz="1900">
                <a:solidFill>
                  <a:srgbClr val="262626"/>
                </a:solidFill>
              </a:rPr>
              <a:t>أو</a:t>
            </a:r>
            <a:r>
              <a:rPr lang="en-US" altLang="en-US" sz="1900">
                <a:solidFill>
                  <a:srgbClr val="262626"/>
                </a:solidFill>
              </a:rPr>
              <a:t> </a:t>
            </a:r>
            <a:r>
              <a:rPr lang="ar-SA" altLang="en-US" sz="1900">
                <a:solidFill>
                  <a:srgbClr val="262626"/>
                </a:solidFill>
              </a:rPr>
              <a:t>شراء</a:t>
            </a:r>
            <a:r>
              <a:rPr lang="en-US" altLang="en-US" sz="1900">
                <a:solidFill>
                  <a:srgbClr val="262626"/>
                </a:solidFill>
              </a:rPr>
              <a:t> </a:t>
            </a:r>
            <a:r>
              <a:rPr lang="ar-SA" altLang="en-US" sz="1900">
                <a:solidFill>
                  <a:srgbClr val="262626"/>
                </a:solidFill>
              </a:rPr>
              <a:t>بموعد</a:t>
            </a:r>
            <a:r>
              <a:rPr lang="en-US" altLang="en-US" sz="1900">
                <a:solidFill>
                  <a:srgbClr val="262626"/>
                </a:solidFill>
              </a:rPr>
              <a:t> </a:t>
            </a:r>
            <a:r>
              <a:rPr lang="ar-SA" altLang="en-US" sz="1900">
                <a:solidFill>
                  <a:srgbClr val="262626"/>
                </a:solidFill>
              </a:rPr>
              <a:t>مفضل</a:t>
            </a:r>
            <a:r>
              <a:rPr lang="en-US" altLang="en-US" sz="1900">
                <a:solidFill>
                  <a:srgbClr val="262626"/>
                </a:solidFill>
              </a:rPr>
              <a:t> </a:t>
            </a:r>
            <a:r>
              <a:rPr lang="ar-SA" altLang="en-US" sz="1900">
                <a:solidFill>
                  <a:srgbClr val="262626"/>
                </a:solidFill>
              </a:rPr>
              <a:t>خلال</a:t>
            </a:r>
            <a:r>
              <a:rPr lang="en-US" altLang="en-US" sz="1900">
                <a:solidFill>
                  <a:srgbClr val="262626"/>
                </a:solidFill>
              </a:rPr>
              <a:t> </a:t>
            </a:r>
            <a:r>
              <a:rPr lang="ar-SA" altLang="en-US" sz="1900">
                <a:solidFill>
                  <a:srgbClr val="262626"/>
                </a:solidFill>
              </a:rPr>
              <a:t>أقل</a:t>
            </a:r>
            <a:r>
              <a:rPr lang="en-US" altLang="en-US" sz="1900">
                <a:solidFill>
                  <a:srgbClr val="262626"/>
                </a:solidFill>
              </a:rPr>
              <a:t> </a:t>
            </a:r>
            <a:r>
              <a:rPr lang="ar-SA" altLang="en-US" sz="1900">
                <a:solidFill>
                  <a:srgbClr val="262626"/>
                </a:solidFill>
              </a:rPr>
              <a:t>من</a:t>
            </a:r>
            <a:r>
              <a:rPr lang="en-US" altLang="en-US" sz="1900">
                <a:solidFill>
                  <a:srgbClr val="262626"/>
                </a:solidFill>
              </a:rPr>
              <a:t> 3 </a:t>
            </a:r>
            <a:r>
              <a:rPr lang="ar-SA" altLang="en-US" sz="1900">
                <a:solidFill>
                  <a:srgbClr val="262626"/>
                </a:solidFill>
              </a:rPr>
              <a:t>دقائق</a:t>
            </a:r>
            <a:r>
              <a:rPr lang="en-US" altLang="en-US" sz="1900">
                <a:solidFill>
                  <a:srgbClr val="262626"/>
                </a:solidFill>
              </a:rPr>
              <a:t> </a:t>
            </a:r>
            <a:r>
              <a:rPr lang="ar-SA" altLang="en-US" sz="1900">
                <a:solidFill>
                  <a:srgbClr val="262626"/>
                </a:solidFill>
              </a:rPr>
              <a:t>من</a:t>
            </a:r>
            <a:r>
              <a:rPr lang="en-US" altLang="en-US" sz="1900">
                <a:solidFill>
                  <a:srgbClr val="262626"/>
                </a:solidFill>
              </a:rPr>
              <a:t> </a:t>
            </a:r>
            <a:r>
              <a:rPr lang="ar-SA" altLang="en-US" sz="1900">
                <a:solidFill>
                  <a:srgbClr val="262626"/>
                </a:solidFill>
              </a:rPr>
              <a:t>التسجيل</a:t>
            </a:r>
            <a:r>
              <a:rPr lang="en-US" altLang="en-US" sz="1900">
                <a:solidFill>
                  <a:srgbClr val="262626"/>
                </a:solidFill>
              </a:rPr>
              <a:t>.</a:t>
            </a:r>
            <a:endParaRPr lang="en-US" altLang="en-US" sz="1900">
              <a:solidFill>
                <a:srgbClr val="262626"/>
              </a:solidFill>
            </a:endParaRPr>
          </a:p>
          <a:p>
            <a:pPr algn="r" rtl="1">
              <a:spcAft>
                <a:spcPts val="1000"/>
              </a:spcAft>
            </a:pPr>
            <a:r>
              <a:rPr lang="en-US" altLang="en-US" sz="1900">
                <a:solidFill>
                  <a:srgbClr val="262626"/>
                </a:solidFill>
              </a:rPr>
              <a:t>4. </a:t>
            </a:r>
            <a:r>
              <a:rPr lang="ar-SA" altLang="en-US" sz="1900">
                <a:solidFill>
                  <a:srgbClr val="262626"/>
                </a:solidFill>
              </a:rPr>
              <a:t>إبلاغ</a:t>
            </a:r>
            <a:r>
              <a:rPr lang="en-US" altLang="en-US" sz="1900">
                <a:solidFill>
                  <a:srgbClr val="262626"/>
                </a:solidFill>
              </a:rPr>
              <a:t> </a:t>
            </a:r>
            <a:r>
              <a:rPr lang="ar-SA" altLang="en-US" sz="1900">
                <a:solidFill>
                  <a:srgbClr val="262626"/>
                </a:solidFill>
              </a:rPr>
              <a:t>الطرفين</a:t>
            </a:r>
            <a:r>
              <a:rPr lang="en-US" altLang="en-US" sz="1900">
                <a:solidFill>
                  <a:srgbClr val="262626"/>
                </a:solidFill>
              </a:rPr>
              <a:t> </a:t>
            </a:r>
            <a:r>
              <a:rPr lang="ar-SA" altLang="en-US" sz="1900">
                <a:solidFill>
                  <a:srgbClr val="262626"/>
                </a:solidFill>
              </a:rPr>
              <a:t>بإشعارات</a:t>
            </a:r>
            <a:r>
              <a:rPr lang="en-US" altLang="en-US" sz="1900">
                <a:solidFill>
                  <a:srgbClr val="262626"/>
                </a:solidFill>
              </a:rPr>
              <a:t> </a:t>
            </a:r>
            <a:r>
              <a:rPr lang="ar-SA" altLang="en-US" sz="1900">
                <a:solidFill>
                  <a:srgbClr val="262626"/>
                </a:solidFill>
              </a:rPr>
              <a:t>داخل</a:t>
            </a:r>
            <a:r>
              <a:rPr lang="en-US" altLang="en-US" sz="1900">
                <a:solidFill>
                  <a:srgbClr val="262626"/>
                </a:solidFill>
              </a:rPr>
              <a:t> </a:t>
            </a:r>
            <a:r>
              <a:rPr lang="ar-SA" altLang="en-US" sz="1900">
                <a:solidFill>
                  <a:srgbClr val="262626"/>
                </a:solidFill>
              </a:rPr>
              <a:t>التطبيق</a:t>
            </a:r>
            <a:r>
              <a:rPr lang="en-US" altLang="en-US" sz="1900">
                <a:solidFill>
                  <a:srgbClr val="262626"/>
                </a:solidFill>
              </a:rPr>
              <a:t> </a:t>
            </a:r>
            <a:r>
              <a:rPr lang="ar-SA" altLang="en-US" sz="1900">
                <a:solidFill>
                  <a:srgbClr val="262626"/>
                </a:solidFill>
              </a:rPr>
              <a:t>مع</a:t>
            </a:r>
            <a:r>
              <a:rPr lang="en-US" altLang="en-US" sz="1900">
                <a:solidFill>
                  <a:srgbClr val="262626"/>
                </a:solidFill>
              </a:rPr>
              <a:t> </a:t>
            </a:r>
            <a:r>
              <a:rPr lang="ar-SA" altLang="en-US" sz="1900">
                <a:solidFill>
                  <a:srgbClr val="262626"/>
                </a:solidFill>
              </a:rPr>
              <a:t>كل</a:t>
            </a:r>
            <a:r>
              <a:rPr lang="en-US" altLang="en-US" sz="1900">
                <a:solidFill>
                  <a:srgbClr val="262626"/>
                </a:solidFill>
              </a:rPr>
              <a:t> </a:t>
            </a:r>
            <a:r>
              <a:rPr lang="ar-SA" altLang="en-US" sz="1900">
                <a:solidFill>
                  <a:srgbClr val="262626"/>
                </a:solidFill>
              </a:rPr>
              <a:t>تغيير</a:t>
            </a:r>
            <a:r>
              <a:rPr lang="en-US" altLang="en-US" sz="1900">
                <a:solidFill>
                  <a:srgbClr val="262626"/>
                </a:solidFill>
              </a:rPr>
              <a:t> </a:t>
            </a:r>
            <a:r>
              <a:rPr lang="ar-SA" altLang="en-US" sz="1900">
                <a:solidFill>
                  <a:srgbClr val="262626"/>
                </a:solidFill>
              </a:rPr>
              <a:t>في</a:t>
            </a:r>
            <a:r>
              <a:rPr lang="en-US" altLang="en-US" sz="1900">
                <a:solidFill>
                  <a:srgbClr val="262626"/>
                </a:solidFill>
              </a:rPr>
              <a:t> </a:t>
            </a:r>
            <a:r>
              <a:rPr lang="ar-SA" altLang="en-US" sz="1900">
                <a:solidFill>
                  <a:srgbClr val="262626"/>
                </a:solidFill>
              </a:rPr>
              <a:t>حالة</a:t>
            </a:r>
            <a:r>
              <a:rPr lang="en-US" altLang="en-US" sz="1900">
                <a:solidFill>
                  <a:srgbClr val="262626"/>
                </a:solidFill>
              </a:rPr>
              <a:t> </a:t>
            </a:r>
            <a:r>
              <a:rPr lang="ar-SA" altLang="en-US" sz="1900">
                <a:solidFill>
                  <a:srgbClr val="262626"/>
                </a:solidFill>
              </a:rPr>
              <a:t>الطلب</a:t>
            </a:r>
            <a:r>
              <a:rPr lang="en-US" altLang="en-US" sz="1900">
                <a:solidFill>
                  <a:srgbClr val="262626"/>
                </a:solidFill>
              </a:rPr>
              <a:t>.</a:t>
            </a:r>
            <a:endParaRPr lang="en-US" altLang="en-US" sz="1900">
              <a:solidFill>
                <a:srgbClr val="262626"/>
              </a:solidFill>
            </a:endParaRPr>
          </a:p>
          <a:p>
            <a:pPr algn="r" rtl="1">
              <a:spcAft>
                <a:spcPts val="1000"/>
              </a:spcAft>
            </a:pPr>
            <a:r>
              <a:rPr lang="en-US" altLang="en-US" sz="1900">
                <a:solidFill>
                  <a:srgbClr val="262626"/>
                </a:solidFill>
              </a:rPr>
              <a:t>5. </a:t>
            </a:r>
            <a:r>
              <a:rPr lang="ar-SA" altLang="en-US" sz="1900">
                <a:solidFill>
                  <a:srgbClr val="262626"/>
                </a:solidFill>
              </a:rPr>
              <a:t>منح</a:t>
            </a:r>
            <a:r>
              <a:rPr lang="en-US" altLang="en-US" sz="1900">
                <a:solidFill>
                  <a:srgbClr val="262626"/>
                </a:solidFill>
              </a:rPr>
              <a:t> </a:t>
            </a:r>
            <a:r>
              <a:rPr lang="ar-SA" altLang="en-US" sz="1900">
                <a:solidFill>
                  <a:srgbClr val="262626"/>
                </a:solidFill>
              </a:rPr>
              <a:t>المدير</a:t>
            </a:r>
            <a:r>
              <a:rPr lang="en-US" altLang="en-US" sz="1900">
                <a:solidFill>
                  <a:srgbClr val="262626"/>
                </a:solidFill>
              </a:rPr>
              <a:t> </a:t>
            </a:r>
            <a:r>
              <a:rPr lang="ar-SA" altLang="en-US" sz="1900">
                <a:solidFill>
                  <a:srgbClr val="262626"/>
                </a:solidFill>
              </a:rPr>
              <a:t>العام</a:t>
            </a:r>
            <a:r>
              <a:rPr lang="en-US" altLang="en-US" sz="1900">
                <a:solidFill>
                  <a:srgbClr val="262626"/>
                </a:solidFill>
              </a:rPr>
              <a:t> </a:t>
            </a:r>
            <a:r>
              <a:rPr lang="ar-SA" altLang="en-US" sz="1900">
                <a:solidFill>
                  <a:srgbClr val="262626"/>
                </a:solidFill>
              </a:rPr>
              <a:t>رقابة</a:t>
            </a:r>
            <a:r>
              <a:rPr lang="en-US" altLang="en-US" sz="1900">
                <a:solidFill>
                  <a:srgbClr val="262626"/>
                </a:solidFill>
              </a:rPr>
              <a:t> </a:t>
            </a:r>
            <a:r>
              <a:rPr lang="ar-SA" altLang="en-US" sz="1900">
                <a:solidFill>
                  <a:srgbClr val="262626"/>
                </a:solidFill>
              </a:rPr>
              <a:t>مركزية</a:t>
            </a:r>
            <a:r>
              <a:rPr lang="en-US" altLang="en-US" sz="1900">
                <a:solidFill>
                  <a:srgbClr val="262626"/>
                </a:solidFill>
              </a:rPr>
              <a:t>: </a:t>
            </a:r>
            <a:r>
              <a:rPr lang="ar-SA" altLang="en-US" sz="1900">
                <a:solidFill>
                  <a:srgbClr val="262626"/>
                </a:solidFill>
              </a:rPr>
              <a:t>اعتماد</a:t>
            </a:r>
            <a:r>
              <a:rPr lang="en-US" altLang="en-US" sz="1900">
                <a:solidFill>
                  <a:srgbClr val="262626"/>
                </a:solidFill>
              </a:rPr>
              <a:t> </a:t>
            </a:r>
            <a:r>
              <a:rPr lang="ar-SA" altLang="en-US" sz="1900">
                <a:solidFill>
                  <a:srgbClr val="262626"/>
                </a:solidFill>
              </a:rPr>
              <a:t>المكاتب،</a:t>
            </a:r>
            <a:r>
              <a:rPr lang="en-US" altLang="en-US" sz="1900">
                <a:solidFill>
                  <a:srgbClr val="262626"/>
                </a:solidFill>
              </a:rPr>
              <a:t> </a:t>
            </a:r>
            <a:r>
              <a:rPr lang="ar-SA" altLang="en-US" sz="1900">
                <a:solidFill>
                  <a:srgbClr val="262626"/>
                </a:solidFill>
              </a:rPr>
              <a:t>إيقاف</a:t>
            </a:r>
            <a:r>
              <a:rPr lang="en-US" altLang="en-US" sz="1900">
                <a:solidFill>
                  <a:srgbClr val="262626"/>
                </a:solidFill>
              </a:rPr>
              <a:t> </a:t>
            </a:r>
            <a:r>
              <a:rPr lang="ar-SA" altLang="en-US" sz="1900">
                <a:solidFill>
                  <a:srgbClr val="262626"/>
                </a:solidFill>
              </a:rPr>
              <a:t>الحسابات،</a:t>
            </a:r>
            <a:r>
              <a:rPr lang="en-US" altLang="en-US" sz="1900">
                <a:solidFill>
                  <a:srgbClr val="262626"/>
                </a:solidFill>
              </a:rPr>
              <a:t> </a:t>
            </a:r>
            <a:r>
              <a:rPr lang="ar-SA" altLang="en-US" sz="1900">
                <a:solidFill>
                  <a:srgbClr val="262626"/>
                </a:solidFill>
              </a:rPr>
              <a:t>وإحصاءات</a:t>
            </a:r>
            <a:r>
              <a:rPr lang="en-US" altLang="en-US" sz="1900">
                <a:solidFill>
                  <a:srgbClr val="262626"/>
                </a:solidFill>
              </a:rPr>
              <a:t> </a:t>
            </a:r>
            <a:r>
              <a:rPr lang="ar-SA" altLang="en-US" sz="1900">
                <a:solidFill>
                  <a:srgbClr val="262626"/>
                </a:solidFill>
              </a:rPr>
              <a:t>النظام</a:t>
            </a:r>
            <a:r>
              <a:rPr lang="en-US" altLang="en-US" sz="1900">
                <a:solidFill>
                  <a:srgbClr val="262626"/>
                </a:solidFill>
              </a:rPr>
              <a:t>.</a:t>
            </a:r>
            <a:endParaRPr lang="en-US" altLang="en-US" sz="1900">
              <a:solidFill>
                <a:srgbClr val="262626"/>
              </a:solidFill>
            </a:endParaRPr>
          </a:p>
          <a:p>
            <a:pPr algn="r" rtl="1">
              <a:spcAft>
                <a:spcPts val="1000"/>
              </a:spcAft>
            </a:pPr>
            <a:r>
              <a:rPr lang="en-US" altLang="en-US" sz="1900">
                <a:solidFill>
                  <a:srgbClr val="262626"/>
                </a:solidFill>
              </a:rPr>
              <a:t>6. </a:t>
            </a:r>
            <a:r>
              <a:rPr lang="ar-SA" altLang="en-US" sz="1900">
                <a:solidFill>
                  <a:srgbClr val="262626"/>
                </a:solidFill>
              </a:rPr>
              <a:t>حماية</a:t>
            </a:r>
            <a:r>
              <a:rPr lang="en-US" altLang="en-US" sz="1900">
                <a:solidFill>
                  <a:srgbClr val="262626"/>
                </a:solidFill>
              </a:rPr>
              <a:t> </a:t>
            </a:r>
            <a:r>
              <a:rPr lang="ar-SA" altLang="en-US" sz="1900">
                <a:solidFill>
                  <a:srgbClr val="262626"/>
                </a:solidFill>
              </a:rPr>
              <a:t>البيانات</a:t>
            </a:r>
            <a:r>
              <a:rPr lang="en-US" altLang="en-US" sz="1900">
                <a:solidFill>
                  <a:srgbClr val="262626"/>
                </a:solidFill>
              </a:rPr>
              <a:t> </a:t>
            </a:r>
            <a:r>
              <a:rPr lang="ar-SA" altLang="en-US" sz="1900">
                <a:solidFill>
                  <a:srgbClr val="262626"/>
                </a:solidFill>
              </a:rPr>
              <a:t>بمصادقة</a:t>
            </a:r>
            <a:r>
              <a:rPr lang="en-US" altLang="en-US" sz="1900">
                <a:solidFill>
                  <a:srgbClr val="262626"/>
                </a:solidFill>
              </a:rPr>
              <a:t> JWT </a:t>
            </a:r>
            <a:r>
              <a:rPr lang="ar-SA" altLang="en-US" sz="1900">
                <a:solidFill>
                  <a:srgbClr val="262626"/>
                </a:solidFill>
              </a:rPr>
              <a:t>وتشفير</a:t>
            </a:r>
            <a:r>
              <a:rPr lang="en-US" altLang="en-US" sz="1900">
                <a:solidFill>
                  <a:srgbClr val="262626"/>
                </a:solidFill>
              </a:rPr>
              <a:t> bcrypt </a:t>
            </a:r>
            <a:r>
              <a:rPr lang="ar-SA" altLang="en-US" sz="1900">
                <a:solidFill>
                  <a:srgbClr val="262626"/>
                </a:solidFill>
              </a:rPr>
              <a:t>وصلاحيات</a:t>
            </a:r>
            <a:r>
              <a:rPr lang="en-US" altLang="en-US" sz="1900">
                <a:solidFill>
                  <a:srgbClr val="262626"/>
                </a:solidFill>
              </a:rPr>
              <a:t> </a:t>
            </a:r>
            <a:r>
              <a:rPr lang="ar-SA" altLang="en-US" sz="1900">
                <a:solidFill>
                  <a:srgbClr val="262626"/>
                </a:solidFill>
              </a:rPr>
              <a:t>حسب</a:t>
            </a:r>
            <a:r>
              <a:rPr lang="en-US" altLang="en-US" sz="1900">
                <a:solidFill>
                  <a:srgbClr val="262626"/>
                </a:solidFill>
              </a:rPr>
              <a:t> </a:t>
            </a:r>
            <a:r>
              <a:rPr lang="ar-SA" altLang="en-US" sz="1900">
                <a:solidFill>
                  <a:srgbClr val="262626"/>
                </a:solidFill>
              </a:rPr>
              <a:t>الدور،</a:t>
            </a:r>
            <a:r>
              <a:rPr lang="en-US" altLang="en-US" sz="1900">
                <a:solidFill>
                  <a:srgbClr val="262626"/>
                </a:solidFill>
              </a:rPr>
              <a:t> </a:t>
            </a:r>
            <a:r>
              <a:rPr lang="ar-SA" altLang="en-US" sz="1900">
                <a:solidFill>
                  <a:srgbClr val="262626"/>
                </a:solidFill>
              </a:rPr>
              <a:t>وضمان</a:t>
            </a:r>
            <a:r>
              <a:rPr lang="en-US" altLang="en-US" sz="1900">
                <a:solidFill>
                  <a:srgbClr val="262626"/>
                </a:solidFill>
              </a:rPr>
              <a:t> </a:t>
            </a:r>
            <a:r>
              <a:rPr lang="ar-SA" altLang="en-US" sz="1900">
                <a:solidFill>
                  <a:srgbClr val="262626"/>
                </a:solidFill>
              </a:rPr>
              <a:t>سلامتها</a:t>
            </a:r>
            <a:r>
              <a:rPr lang="en-US" altLang="en-US" sz="1900">
                <a:solidFill>
                  <a:srgbClr val="262626"/>
                </a:solidFill>
              </a:rPr>
              <a:t> </a:t>
            </a:r>
            <a:r>
              <a:rPr lang="ar-SA" altLang="en-US" sz="1900">
                <a:solidFill>
                  <a:srgbClr val="262626"/>
                </a:solidFill>
              </a:rPr>
              <a:t>عند</a:t>
            </a:r>
            <a:r>
              <a:rPr lang="en-US" altLang="en-US" sz="1900">
                <a:solidFill>
                  <a:srgbClr val="262626"/>
                </a:solidFill>
              </a:rPr>
              <a:t> </a:t>
            </a:r>
            <a:r>
              <a:rPr lang="ar-SA" altLang="en-US" sz="1900">
                <a:solidFill>
                  <a:srgbClr val="262626"/>
                </a:solidFill>
              </a:rPr>
              <a:t>الأعطال</a:t>
            </a:r>
            <a:r>
              <a:rPr lang="en-US" altLang="en-US" sz="1900">
                <a:solidFill>
                  <a:srgbClr val="262626"/>
                </a:solidFill>
              </a:rPr>
              <a:t>.</a:t>
            </a:r>
            <a:endParaRPr lang="en-US" altLang="en-US" sz="1900">
              <a:solidFill>
                <a:srgbClr val="262626"/>
              </a:solidFill>
            </a:endParaRPr>
          </a:p>
          <a:p>
            <a:pPr algn="r" rtl="1">
              <a:spcAft>
                <a:spcPts val="1000"/>
              </a:spcAft>
            </a:pPr>
            <a:r>
              <a:rPr lang="ar-SA" altLang="en-US" sz="1900">
                <a:solidFill>
                  <a:srgbClr val="262626"/>
                </a:solidFill>
              </a:rPr>
              <a:t>نطاق</a:t>
            </a:r>
            <a:r>
              <a:rPr lang="en-US" altLang="en-US" sz="1900">
                <a:solidFill>
                  <a:srgbClr val="262626"/>
                </a:solidFill>
              </a:rPr>
              <a:t> </a:t>
            </a:r>
            <a:r>
              <a:rPr lang="ar-SA" altLang="en-US" sz="1900">
                <a:solidFill>
                  <a:srgbClr val="262626"/>
                </a:solidFill>
              </a:rPr>
              <a:t>النسخة</a:t>
            </a:r>
            <a:r>
              <a:rPr lang="en-US" altLang="en-US" sz="1900">
                <a:solidFill>
                  <a:srgbClr val="262626"/>
                </a:solidFill>
              </a:rPr>
              <a:t> </a:t>
            </a:r>
            <a:r>
              <a:rPr lang="ar-SA" altLang="en-US" sz="1900">
                <a:solidFill>
                  <a:srgbClr val="262626"/>
                </a:solidFill>
              </a:rPr>
              <a:t>الأولى</a:t>
            </a:r>
            <a:r>
              <a:rPr lang="en-US" altLang="en-US" sz="1900">
                <a:solidFill>
                  <a:srgbClr val="262626"/>
                </a:solidFill>
              </a:rPr>
              <a:t> (MVP): </a:t>
            </a:r>
            <a:r>
              <a:rPr lang="ar-SA" altLang="en-US" sz="1900">
                <a:solidFill>
                  <a:srgbClr val="262626"/>
                </a:solidFill>
              </a:rPr>
              <a:t>بلا</a:t>
            </a:r>
            <a:r>
              <a:rPr lang="en-US" altLang="en-US" sz="1900">
                <a:solidFill>
                  <a:srgbClr val="262626"/>
                </a:solidFill>
              </a:rPr>
              <a:t> </a:t>
            </a:r>
            <a:r>
              <a:rPr lang="ar-SA" altLang="en-US" sz="1900">
                <a:solidFill>
                  <a:srgbClr val="262626"/>
                </a:solidFill>
              </a:rPr>
              <a:t>دفع</a:t>
            </a:r>
            <a:r>
              <a:rPr lang="en-US" altLang="en-US" sz="1900">
                <a:solidFill>
                  <a:srgbClr val="262626"/>
                </a:solidFill>
              </a:rPr>
              <a:t> </a:t>
            </a:r>
            <a:r>
              <a:rPr lang="ar-SA" altLang="en-US" sz="1900">
                <a:solidFill>
                  <a:srgbClr val="262626"/>
                </a:solidFill>
              </a:rPr>
              <a:t>إلكتروني،</a:t>
            </a:r>
            <a:r>
              <a:rPr lang="en-US" altLang="en-US" sz="1900">
                <a:solidFill>
                  <a:srgbClr val="262626"/>
                </a:solidFill>
              </a:rPr>
              <a:t> </a:t>
            </a:r>
            <a:r>
              <a:rPr lang="ar-SA" altLang="en-US" sz="1900">
                <a:solidFill>
                  <a:srgbClr val="262626"/>
                </a:solidFill>
              </a:rPr>
              <a:t>والصفقة</a:t>
            </a:r>
            <a:r>
              <a:rPr lang="en-US" altLang="en-US" sz="1900">
                <a:solidFill>
                  <a:srgbClr val="262626"/>
                </a:solidFill>
              </a:rPr>
              <a:t> </a:t>
            </a:r>
            <a:r>
              <a:rPr lang="ar-SA" altLang="en-US" sz="1900">
                <a:solidFill>
                  <a:srgbClr val="262626"/>
                </a:solidFill>
              </a:rPr>
              <a:t>تتم</a:t>
            </a:r>
            <a:r>
              <a:rPr lang="en-US" altLang="en-US" sz="1900">
                <a:solidFill>
                  <a:srgbClr val="262626"/>
                </a:solidFill>
              </a:rPr>
              <a:t> </a:t>
            </a:r>
            <a:r>
              <a:rPr lang="ar-SA" altLang="en-US" sz="1900">
                <a:solidFill>
                  <a:srgbClr val="262626"/>
                </a:solidFill>
              </a:rPr>
              <a:t>في</a:t>
            </a:r>
            <a:r>
              <a:rPr lang="en-US" altLang="en-US" sz="1900">
                <a:solidFill>
                  <a:srgbClr val="262626"/>
                </a:solidFill>
              </a:rPr>
              <a:t> </a:t>
            </a:r>
            <a:r>
              <a:rPr lang="ar-SA" altLang="en-US" sz="1900">
                <a:solidFill>
                  <a:srgbClr val="262626"/>
                </a:solidFill>
              </a:rPr>
              <a:t>المكتب</a:t>
            </a:r>
            <a:endParaRPr sz="1900">
              <a:solidFill>
                <a:srgbClr val="262626"/>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F5F1D80-E922-4C56-BACD-EEFC21DCFF81}" type="datetime1">
              <a:rPr lang="en-US" smtClean="0"/>
            </a:fld>
            <a:endParaRPr lang="en-US"/>
          </a:p>
        </p:txBody>
      </p:sp>
      <p:sp>
        <p:nvSpPr>
          <p:cNvPr id="5" name="Footer Placeholder 4"/>
          <p:cNvSpPr>
            <a:spLocks noGrp="1"/>
          </p:cNvSpPr>
          <p:nvPr>
            <p:ph type="ftr" sz="quarter" idx="11"/>
          </p:nvPr>
        </p:nvSpPr>
        <p:spPr/>
        <p:txBody>
          <a:bodyPr/>
          <a:lstStyle/>
          <a:p>
            <a:pPr rtl="1"/>
            <a:r>
              <a:rPr lang="ar-LB"/>
              <a:t>مشروع فصلي - Car Rental Platform</a:t>
            </a:r>
            <a:endParaRPr lang="en-US"/>
          </a:p>
        </p:txBody>
      </p:sp>
      <p:sp>
        <p:nvSpPr>
          <p:cNvPr id="6" name="Slide Number Placeholder 5"/>
          <p:cNvSpPr>
            <a:spLocks noGrp="1"/>
          </p:cNvSpPr>
          <p:nvPr>
            <p:ph type="sldNum" sz="quarter" idx="12"/>
          </p:nvPr>
        </p:nvSpPr>
        <p:spPr/>
        <p:txBody>
          <a:bodyPr/>
          <a:lstStyle/>
          <a:p>
            <a:r>
              <a:rPr sz="1000">
                <a:solidFill>
                  <a:srgbClr val="59697C"/>
                </a:solidFill>
                <a:latin typeface="Arial" panose="020B0604020202020204"/>
              </a:rPr>
              <a:t>5</a:t>
            </a:r>
            <a:endParaRPr sz="1000">
              <a:solidFill>
                <a:srgbClr val="59697C"/>
              </a:solidFill>
              <a:latin typeface="Arial" panose="020B0604020202020204"/>
            </a:endParaRPr>
          </a:p>
        </p:txBody>
      </p:sp>
      <p:sp>
        <p:nvSpPr>
          <p:cNvPr id="7" name="TextBox 6"/>
          <p:cNvSpPr txBox="1"/>
          <p:nvPr/>
        </p:nvSpPr>
        <p:spPr>
          <a:xfrm>
            <a:off x="5141214" y="463187"/>
            <a:ext cx="6094476" cy="490199"/>
          </a:xfrm>
          <a:prstGeom prst="rect">
            <a:avLst/>
          </a:prstGeom>
          <a:noFill/>
        </p:spPr>
        <p:txBody>
          <a:bodyPr wrap="square">
            <a:spAutoFit/>
          </a:bodyPr>
          <a:lstStyle/>
          <a:p>
            <a:pPr marL="0" marR="0" algn="r" rtl="1">
              <a:lnSpc>
                <a:spcPct val="115000"/>
              </a:lnSpc>
              <a:spcAft>
                <a:spcPts val="800"/>
              </a:spcAft>
              <a:buNone/>
            </a:pPr>
            <a:r>
              <a:rPr lang="ar-SA" sz="2400" b="1" dirty="0">
                <a:solidFill>
                  <a:srgbClr val="2F5496"/>
                </a:solidFill>
                <a:latin typeface="Calibri Light" panose="020F0302020204030204" pitchFamily="34" charset="0"/>
                <a:cs typeface="Times New Roman" panose="02020603050405020304" pitchFamily="18" charset="0"/>
              </a:rPr>
              <a:t>الدراسات</a:t>
            </a:r>
            <a:r>
              <a:rPr lang="ar-SA" sz="1800" b="1" kern="100" dirty="0">
                <a:effectLst/>
                <a:latin typeface="Calibri" panose="020F0502020204030204" pitchFamily="34" charset="0"/>
                <a:ea typeface="Calibri" panose="020F0502020204030204" pitchFamily="34" charset="0"/>
                <a:cs typeface="Arial" panose="020B0604020202020204" pitchFamily="34" charset="0"/>
              </a:rPr>
              <a:t> </a:t>
            </a:r>
            <a:r>
              <a:rPr lang="ar-SA" sz="2400" b="1" dirty="0">
                <a:solidFill>
                  <a:srgbClr val="2F5496"/>
                </a:solidFill>
                <a:latin typeface="Calibri Light" panose="020F0302020204030204" pitchFamily="34" charset="0"/>
                <a:cs typeface="Times New Roman" panose="02020603050405020304" pitchFamily="18" charset="0"/>
              </a:rPr>
              <a:t>المرجعية والأعمال السابقة</a:t>
            </a:r>
            <a:endParaRPr lang="en-US" sz="2400" b="1" dirty="0">
              <a:solidFill>
                <a:srgbClr val="2F5496"/>
              </a:solidFill>
              <a:latin typeface="Calibri Light" panose="020F0302020204030204" pitchFamily="34" charset="0"/>
              <a:cs typeface="Times New Roman" panose="02020603050405020304" pitchFamily="18" charset="0"/>
            </a:endParaRPr>
          </a:p>
        </p:txBody>
      </p:sp>
      <p:sp>
        <p:nvSpPr>
          <p:cNvPr id="8" name="TextBox 7"/>
          <p:cNvSpPr txBox="1"/>
          <p:nvPr/>
        </p:nvSpPr>
        <p:spPr>
          <a:xfrm>
            <a:off x="417576" y="1264282"/>
            <a:ext cx="11100816" cy="3126369"/>
          </a:xfrm>
          <a:prstGeom prst="rect">
            <a:avLst/>
          </a:prstGeom>
          <a:noFill/>
        </p:spPr>
        <p:txBody>
          <a:bodyPr wrap="square">
            <a:spAutoFit/>
          </a:bodyPr>
          <a:lstStyle/>
          <a:p>
            <a:pPr marL="0" marR="0" algn="r" rtl="1">
              <a:lnSpc>
                <a:spcPct val="115000"/>
              </a:lnSpc>
              <a:spcAft>
                <a:spcPts val="800"/>
              </a:spcAft>
              <a:buNone/>
            </a:pPr>
            <a:r>
              <a:rPr lang="ar-SA" sz="1700" b="1" kern="100" dirty="0">
                <a:effectLst/>
                <a:latin typeface="Calibri" panose="020F0502020204030204" pitchFamily="34" charset="0"/>
                <a:ea typeface="Calibri" panose="020F0502020204030204" pitchFamily="34" charset="0"/>
                <a:cs typeface="Arial" panose="020B0604020202020204" pitchFamily="34" charset="0"/>
              </a:rPr>
              <a:t>الدراسة الأولى [10]: نظام ويب لإدارة تأجير السيارات بـ PHP و SQL Server مع اختبارات MSUnit (2024)</a:t>
            </a:r>
            <a:endParaRPr lang="en-US" sz="2400" kern="100" dirty="0">
              <a:effectLst/>
              <a:latin typeface="Calibri" panose="020F0502020204030204" pitchFamily="34" charset="0"/>
              <a:ea typeface="Calibri" panose="020F0502020204030204" pitchFamily="34" charset="0"/>
              <a:cs typeface="Arial" panose="020B0604020202020204" pitchFamily="34" charset="0"/>
            </a:endParaRPr>
          </a:p>
          <a:p>
            <a:pPr algn="r" rtl="1">
              <a:lnSpc>
                <a:spcPct val="115000"/>
              </a:lnSpc>
              <a:spcAft>
                <a:spcPts val="800"/>
              </a:spcAft>
            </a:pPr>
            <a:r>
              <a:rPr lang="ar-SA" sz="1700" b="1" kern="100" dirty="0">
                <a:effectLst/>
                <a:latin typeface="Calibri" panose="020F0502020204030204" pitchFamily="34" charset="0"/>
                <a:ea typeface="Calibri" panose="020F0502020204030204" pitchFamily="34" charset="0"/>
                <a:cs typeface="Arial" panose="020B0604020202020204" pitchFamily="34" charset="0"/>
              </a:rPr>
              <a:t>الدراسة الثانية [11]: نظام إدارة تأجير بـ PHP و MySQL يقلل العمل الورقي (2024)</a:t>
            </a:r>
            <a:endParaRPr lang="en-US" sz="2400" kern="100" dirty="0">
              <a:latin typeface="Calibri" panose="020F0502020204030204" pitchFamily="34" charset="0"/>
              <a:ea typeface="Calibri" panose="020F0502020204030204" pitchFamily="34" charset="0"/>
              <a:cs typeface="Arial" panose="020B0604020202020204" pitchFamily="34" charset="0"/>
            </a:endParaRPr>
          </a:p>
          <a:p>
            <a:pPr algn="r" rtl="1">
              <a:lnSpc>
                <a:spcPct val="115000"/>
              </a:lnSpc>
              <a:spcAft>
                <a:spcPts val="800"/>
              </a:spcAft>
            </a:pPr>
            <a:r>
              <a:rPr lang="ar-SA" sz="1700" b="1" kern="100" dirty="0">
                <a:effectLst/>
                <a:latin typeface="Calibri" panose="020F0502020204030204" pitchFamily="34" charset="0"/>
                <a:ea typeface="Calibri" panose="020F0502020204030204" pitchFamily="34" charset="0"/>
                <a:cs typeface="Arial" panose="020B0604020202020204" pitchFamily="34" charset="0"/>
              </a:rPr>
              <a:t>الدراسة الثالثة [12]: نظام تأجير بـ Spring Boot و Vue.js مع دفع وتقييم (2024)</a:t>
            </a:r>
            <a:endParaRPr lang="en-US" sz="2400" kern="100" dirty="0">
              <a:latin typeface="Calibri" panose="020F0502020204030204" pitchFamily="34" charset="0"/>
              <a:ea typeface="Calibri" panose="020F0502020204030204" pitchFamily="34" charset="0"/>
              <a:cs typeface="Arial" panose="020B0604020202020204" pitchFamily="34" charset="0"/>
            </a:endParaRPr>
          </a:p>
          <a:p>
            <a:pPr algn="r" rtl="1">
              <a:lnSpc>
                <a:spcPct val="115000"/>
              </a:lnSpc>
              <a:spcAft>
                <a:spcPts val="800"/>
              </a:spcAft>
            </a:pPr>
            <a:r>
              <a:rPr lang="ar-SA" sz="1700" b="1" kern="100" dirty="0">
                <a:latin typeface="Calibri" panose="020F0502020204030204" pitchFamily="34" charset="0"/>
                <a:ea typeface="Calibri" panose="020F0502020204030204" pitchFamily="34" charset="0"/>
                <a:cs typeface="Arial" panose="020B0604020202020204" pitchFamily="34" charset="0"/>
              </a:rPr>
              <a:t>الدراسة الرابعة [13]: منصة تأجير بتقنيات MERN لعدة مالكين مع دفع إلكتروني (2025)</a:t>
            </a:r>
            <a:endParaRPr lang="en-US" sz="2400" kern="100" dirty="0">
              <a:latin typeface="Calibri" panose="020F0502020204030204" pitchFamily="34" charset="0"/>
              <a:ea typeface="Calibri" panose="020F0502020204030204" pitchFamily="34" charset="0"/>
              <a:cs typeface="Arial" panose="020B0604020202020204" pitchFamily="34" charset="0"/>
            </a:endParaRPr>
          </a:p>
          <a:p>
            <a:pPr algn="r" rtl="1">
              <a:lnSpc>
                <a:spcPct val="115000"/>
              </a:lnSpc>
              <a:spcAft>
                <a:spcPts val="800"/>
              </a:spcAft>
            </a:pPr>
            <a:r>
              <a:rPr lang="ar-SA" sz="1700" b="1" kern="100" dirty="0">
                <a:latin typeface="Calibri" panose="020F0502020204030204" pitchFamily="34" charset="0"/>
                <a:ea typeface="Calibri" panose="020F0502020204030204" pitchFamily="34" charset="0"/>
                <a:cs typeface="Arial" panose="020B0604020202020204" pitchFamily="34" charset="0"/>
              </a:rPr>
              <a:t>الدراسة الخامسة [14]: منصة تأجير سيارات فاخرة بـ React و Node.js مع JWT و RBAC (2026)</a:t>
            </a:r>
            <a:endParaRPr lang="en-US" sz="2400" kern="100" dirty="0">
              <a:latin typeface="Calibri" panose="020F0502020204030204" pitchFamily="34" charset="0"/>
              <a:ea typeface="Calibri" panose="020F0502020204030204" pitchFamily="34" charset="0"/>
              <a:cs typeface="Arial" panose="020B0604020202020204" pitchFamily="34" charset="0"/>
            </a:endParaRPr>
          </a:p>
          <a:p>
            <a:pPr algn="r" rtl="1">
              <a:lnSpc>
                <a:spcPct val="115000"/>
              </a:lnSpc>
              <a:spcAft>
                <a:spcPts val="800"/>
              </a:spcAft>
            </a:pPr>
            <a:r>
              <a:rPr lang="ar-SA" sz="1700" b="1" kern="100" dirty="0">
                <a:latin typeface="Calibri" panose="020F0502020204030204" pitchFamily="34" charset="0"/>
                <a:ea typeface="Calibri" panose="020F0502020204030204" pitchFamily="34" charset="0"/>
                <a:cs typeface="Arial" panose="020B0604020202020204" pitchFamily="34" charset="0"/>
              </a:rPr>
              <a:t>الدراسة السادسة [15]: نظام تأجير بـ PHP و MySQL بقاعدة من عشرة جداول (2026)</a:t>
            </a:r>
            <a:endParaRPr lang="en-US" sz="2400" kern="100" dirty="0">
              <a:latin typeface="Calibri" panose="020F0502020204030204" pitchFamily="34" charset="0"/>
              <a:ea typeface="Calibri" panose="020F0502020204030204" pitchFamily="34" charset="0"/>
              <a:cs typeface="Arial" panose="020B0604020202020204" pitchFamily="34" charset="0"/>
            </a:endParaRPr>
          </a:p>
        </p:txBody>
      </p:sp>
      <p:sp>
        <p:nvSpPr>
          <p:cNvPr id="9" name="TextBox 8"/>
          <p:cNvSpPr txBox="1"/>
          <p:nvPr/>
        </p:nvSpPr>
        <p:spPr>
          <a:xfrm>
            <a:off x="417576" y="4550000"/>
            <a:ext cx="11100816" cy="1300000"/>
          </a:xfrm>
          <a:prstGeom prst="rect">
            <a:avLst/>
          </a:prstGeom>
          <a:noFill/>
        </p:spPr>
        <p:txBody>
          <a:bodyPr wrap="square">
            <a:spAutoFit/>
          </a:bodyPr>
          <a:lstStyle/>
          <a:p>
            <a:pPr algn="r" rtl="1">
              <a:spcAft>
                <a:spcPts val="600"/>
              </a:spcAft>
            </a:pPr>
            <a:r>
              <a:rPr sz="1600">
                <a:solidFill>
                  <a:srgbClr val="8B1A1A"/>
                </a:solidFill>
              </a:rPr>
              <a:t>الفجوة: كلها تخدم مكتبًا أو شركة واحدة، ولا تملك مسار اعتماد للمكاتب ولا آلة حالات موثقة للطلب، وقليل منها يوثق الـ API أو يقدم اختبارات آلية.</a:t>
            </a:r>
            <a:endParaRPr sz="1600">
              <a:solidFill>
                <a:srgbClr val="8B1A1A"/>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F5F1D80-E922-4C56-BACD-EEFC21DCFF81}" type="datetime1">
              <a:rPr lang="en-US" smtClean="0"/>
            </a:fld>
            <a:endParaRPr lang="en-US"/>
          </a:p>
        </p:txBody>
      </p:sp>
      <p:sp>
        <p:nvSpPr>
          <p:cNvPr id="5" name="Footer Placeholder 4"/>
          <p:cNvSpPr>
            <a:spLocks noGrp="1"/>
          </p:cNvSpPr>
          <p:nvPr>
            <p:ph type="ftr" sz="quarter" idx="11"/>
          </p:nvPr>
        </p:nvSpPr>
        <p:spPr/>
        <p:txBody>
          <a:bodyPr/>
          <a:lstStyle/>
          <a:p>
            <a:pPr rtl="1"/>
            <a:r>
              <a:rPr lang="ar-LB"/>
              <a:t>مشروع فصلي - Car Rental Platform</a:t>
            </a:r>
            <a:endParaRPr lang="en-US"/>
          </a:p>
        </p:txBody>
      </p:sp>
      <p:sp>
        <p:nvSpPr>
          <p:cNvPr id="6" name="Slide Number Placeholder 5"/>
          <p:cNvSpPr>
            <a:spLocks noGrp="1"/>
          </p:cNvSpPr>
          <p:nvPr>
            <p:ph type="sldNum" sz="quarter" idx="12"/>
          </p:nvPr>
        </p:nvSpPr>
        <p:spPr/>
        <p:txBody>
          <a:bodyPr/>
          <a:lstStyle/>
          <a:p>
            <a:r>
              <a:rPr sz="1000">
                <a:solidFill>
                  <a:srgbClr val="59697C"/>
                </a:solidFill>
                <a:latin typeface="Arial" panose="020B0604020202020204"/>
              </a:rPr>
              <a:t>6</a:t>
            </a:r>
            <a:endParaRPr sz="1000">
              <a:solidFill>
                <a:srgbClr val="59697C"/>
              </a:solidFill>
              <a:latin typeface="Arial" panose="020B0604020202020204"/>
            </a:endParaRPr>
          </a:p>
        </p:txBody>
      </p:sp>
      <p:sp>
        <p:nvSpPr>
          <p:cNvPr id="7" name="TextBox 6"/>
          <p:cNvSpPr txBox="1"/>
          <p:nvPr/>
        </p:nvSpPr>
        <p:spPr>
          <a:xfrm>
            <a:off x="4766310" y="444899"/>
            <a:ext cx="6094476" cy="490199"/>
          </a:xfrm>
          <a:prstGeom prst="rect">
            <a:avLst/>
          </a:prstGeom>
          <a:noFill/>
        </p:spPr>
        <p:txBody>
          <a:bodyPr wrap="square">
            <a:spAutoFit/>
          </a:bodyPr>
          <a:lstStyle/>
          <a:p>
            <a:pPr marL="0" marR="0" algn="r" rtl="1">
              <a:lnSpc>
                <a:spcPct val="115000"/>
              </a:lnSpc>
              <a:spcAft>
                <a:spcPts val="800"/>
              </a:spcAft>
              <a:buNone/>
            </a:pPr>
            <a:r>
              <a:rPr lang="ar-SA" sz="2400" b="1" dirty="0">
                <a:solidFill>
                  <a:srgbClr val="2F5496"/>
                </a:solidFill>
                <a:latin typeface="Calibri Light" panose="020F0302020204030204" pitchFamily="34" charset="0"/>
                <a:cs typeface="Times New Roman" panose="02020603050405020304" pitchFamily="18" charset="0"/>
              </a:rPr>
              <a:t>مقارنة الدراسات السابقة</a:t>
            </a:r>
            <a:endParaRPr lang="en-US" sz="2400" b="1" dirty="0">
              <a:solidFill>
                <a:srgbClr val="2F5496"/>
              </a:solidFill>
              <a:latin typeface="Calibri Light" panose="020F0302020204030204" pitchFamily="34" charset="0"/>
              <a:cs typeface="Times New Roman" panose="02020603050405020304" pitchFamily="18" charset="0"/>
            </a:endParaRPr>
          </a:p>
        </p:txBody>
      </p:sp>
      <p:graphicFrame>
        <p:nvGraphicFramePr>
          <p:cNvPr id="2" name="Table 1"/>
          <p:cNvGraphicFramePr>
            <a:graphicFrameLocks noGrp="1"/>
          </p:cNvGraphicFramePr>
          <p:nvPr/>
        </p:nvGraphicFramePr>
        <p:xfrm>
          <a:off x="500000" y="1124362"/>
          <a:ext cx="11200000" cy="2821235"/>
        </p:xfrm>
        <a:graphic>
          <a:graphicData uri="http://schemas.openxmlformats.org/drawingml/2006/table">
            <a:tbl>
              <a:tblPr firstRow="1" firstCol="1" bandRow="1">
                <a:tableStyleId>{5C22544A-7EE6-4342-B048-85BDC9FD1C3A}</a:tableStyleId>
              </a:tblPr>
              <a:tblGrid>
                <a:gridCol w="2300000"/>
                <a:gridCol w="2600000"/>
                <a:gridCol w="1700000"/>
                <a:gridCol w="1500000"/>
                <a:gridCol w="3100000"/>
              </a:tblGrid>
              <a:tr h="721235">
                <a:tc>
                  <a:txBody>
                    <a:bodyPr/>
                    <a:lstStyle/>
                    <a:p>
                      <a:pPr marL="0" marR="0" algn="ctr" rtl="1">
                        <a:lnSpc>
                          <a:spcPct val="107000"/>
                        </a:lnSpc>
                        <a:spcAft>
                          <a:spcPts val="800"/>
                        </a:spcAft>
                        <a:buNone/>
                      </a:pPr>
                      <a:r>
                        <a:rPr lang="ar-SA" sz="1300" b="1">
                          <a:effectLst/>
                        </a:rPr>
                        <a:t>الدراسة</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rtl="1">
                        <a:lnSpc>
                          <a:spcPct val="107000"/>
                        </a:lnSpc>
                        <a:spcAft>
                          <a:spcPts val="800"/>
                        </a:spcAft>
                        <a:buNone/>
                      </a:pPr>
                      <a:r>
                        <a:rPr lang="ar-SA" sz="1300" b="1">
                          <a:effectLst/>
                        </a:rPr>
                        <a:t>التقنيات المستخدمة</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rtl="1">
                        <a:lnSpc>
                          <a:spcPct val="107000"/>
                        </a:lnSpc>
                        <a:spcAft>
                          <a:spcPts val="800"/>
                        </a:spcAft>
                        <a:buNone/>
                      </a:pPr>
                      <a:r>
                        <a:rPr lang="ar-SA" sz="1300" b="1">
                          <a:effectLst/>
                        </a:rPr>
                        <a:t>عدة مكاتب</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rtl="1">
                        <a:lnSpc>
                          <a:spcPct val="107000"/>
                        </a:lnSpc>
                        <a:spcAft>
                          <a:spcPts val="800"/>
                        </a:spcAft>
                        <a:buNone/>
                      </a:pPr>
                      <a:r>
                        <a:rPr lang="ar-SA" sz="1300" b="1">
                          <a:effectLst/>
                        </a:rPr>
                        <a:t>دفع إلكتروني</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rtl="1">
                        <a:lnSpc>
                          <a:spcPct val="107000"/>
                        </a:lnSpc>
                        <a:spcAft>
                          <a:spcPts val="800"/>
                        </a:spcAft>
                        <a:buNone/>
                      </a:pPr>
                      <a:r>
                        <a:rPr lang="ar-SA" sz="1300" b="1">
                          <a:effectLst/>
                        </a:rPr>
                        <a:t>نقاط القوة</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r>
              <a:tr h="300000">
                <a:tc>
                  <a:txBody>
                    <a:bodyPr/>
                    <a:lstStyle/>
                    <a:p>
                      <a:pPr marL="0" marR="0" algn="ctr">
                        <a:lnSpc>
                          <a:spcPct val="107000"/>
                        </a:lnSpc>
                        <a:spcAft>
                          <a:spcPts val="800"/>
                        </a:spcAft>
                        <a:buNone/>
                      </a:pPr>
                      <a:r>
                        <a:rPr lang="en-US" sz="1100">
                          <a:effectLst/>
                        </a:rPr>
                        <a:t>Ogbiti &amp; Aaron, 2024 [10]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rtl="1">
                        <a:lnSpc>
                          <a:spcPct val="107000"/>
                        </a:lnSpc>
                        <a:spcAft>
                          <a:spcPts val="800"/>
                        </a:spcAft>
                        <a:buNone/>
                      </a:pPr>
                      <a:r>
                        <a:rPr lang="en-US" sz="1100">
                          <a:effectLst/>
                        </a:rPr>
                        <a:t>PHP، Bootstrap، SQL Server، IIS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rtl="1">
                        <a:lnSpc>
                          <a:spcPct val="107000"/>
                        </a:lnSpc>
                        <a:spcAft>
                          <a:spcPts val="800"/>
                        </a:spcAft>
                        <a:buNone/>
                      </a:pPr>
                      <a:r>
                        <a:rPr lang="en-US" sz="1100">
                          <a:effectLst/>
                        </a:rPr>
                        <a:t>نعم (مكتب واحد)</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rtl="1">
                        <a:lnSpc>
                          <a:spcPct val="107000"/>
                        </a:lnSpc>
                        <a:spcAft>
                          <a:spcPts val="800"/>
                        </a:spcAft>
                        <a:buNone/>
                      </a:pPr>
                      <a:r>
                        <a:rPr lang="en-US" sz="1100">
                          <a:effectLst/>
                        </a:rPr>
                        <a:t>لا</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rtl="1">
                        <a:lnSpc>
                          <a:spcPct val="107000"/>
                        </a:lnSpc>
                        <a:spcAft>
                          <a:spcPts val="800"/>
                        </a:spcAft>
                        <a:buNone/>
                      </a:pPr>
                      <a:r>
                        <a:rPr lang="en-US" sz="1100" dirty="0">
                          <a:effectLst/>
                        </a:rPr>
                        <a:t>منهجية نماذج أولية ومصفوفة تتبع واختبارات</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r>
              <a:tr h="300000">
                <a:tc>
                  <a:txBody>
                    <a:bodyPr/>
                    <a:lstStyle/>
                    <a:p>
                      <a:pPr marL="0" marR="0" algn="ctr">
                        <a:lnSpc>
                          <a:spcPct val="107000"/>
                        </a:lnSpc>
                        <a:spcAft>
                          <a:spcPts val="800"/>
                        </a:spcAft>
                        <a:buNone/>
                      </a:pPr>
                      <a:r>
                        <a:rPr lang="en-US" sz="1100">
                          <a:effectLst/>
                        </a:rPr>
                        <a:t>Linghuraj et al., 2024 [11]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rtl="1">
                        <a:lnSpc>
                          <a:spcPct val="107000"/>
                        </a:lnSpc>
                        <a:spcAft>
                          <a:spcPts val="800"/>
                        </a:spcAft>
                        <a:buNone/>
                      </a:pPr>
                      <a:r>
                        <a:rPr lang="en-US" sz="1100">
                          <a:effectLst/>
                        </a:rPr>
                        <a:t>PHP، MySQL، Apache، XAMPP</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rtl="1">
                        <a:lnSpc>
                          <a:spcPct val="107000"/>
                        </a:lnSpc>
                        <a:spcAft>
                          <a:spcPts val="800"/>
                        </a:spcAft>
                        <a:buNone/>
                      </a:pPr>
                      <a:r>
                        <a:rPr lang="en-US" sz="1100">
                          <a:effectLst/>
                        </a:rPr>
                        <a:t>نعم (مكتب واحد)</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rtl="1">
                        <a:lnSpc>
                          <a:spcPct val="107000"/>
                        </a:lnSpc>
                        <a:spcAft>
                          <a:spcPts val="800"/>
                        </a:spcAft>
                        <a:buNone/>
                      </a:pPr>
                      <a:r>
                        <a:rPr lang="en-US" sz="1100">
                          <a:effectLst/>
                        </a:rPr>
                        <a:t>لا</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rtl="1">
                        <a:lnSpc>
                          <a:spcPct val="107000"/>
                        </a:lnSpc>
                        <a:spcAft>
                          <a:spcPts val="800"/>
                        </a:spcAft>
                        <a:buNone/>
                      </a:pPr>
                      <a:r>
                        <a:rPr lang="en-US" sz="1100" dirty="0">
                          <a:effectLst/>
                        </a:rPr>
                        <a:t>بساطة وسهولة استخدام</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r>
              <a:tr h="300000">
                <a:tc>
                  <a:txBody>
                    <a:bodyPr/>
                    <a:lstStyle/>
                    <a:p>
                      <a:pPr marL="0" marR="0" algn="ctr">
                        <a:lnSpc>
                          <a:spcPct val="107000"/>
                        </a:lnSpc>
                        <a:spcAft>
                          <a:spcPts val="800"/>
                        </a:spcAft>
                        <a:buNone/>
                      </a:pPr>
                      <a:r>
                        <a:rPr lang="en-US" sz="1100">
                          <a:effectLst/>
                        </a:rPr>
                        <a:t>Lu et al., 2024 [12]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rtl="1">
                        <a:lnSpc>
                          <a:spcPct val="107000"/>
                        </a:lnSpc>
                        <a:spcAft>
                          <a:spcPts val="800"/>
                        </a:spcAft>
                        <a:buNone/>
                      </a:pPr>
                      <a:r>
                        <a:rPr lang="en-US" sz="1100">
                          <a:effectLst/>
                        </a:rPr>
                        <a:t>Spring Boot، Vue.js، MySQL</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rtl="1">
                        <a:lnSpc>
                          <a:spcPct val="107000"/>
                        </a:lnSpc>
                        <a:spcAft>
                          <a:spcPts val="800"/>
                        </a:spcAft>
                        <a:buNone/>
                      </a:pPr>
                      <a:r>
                        <a:rPr lang="en-US" sz="1100">
                          <a:effectLst/>
                        </a:rPr>
                        <a:t>نعم (مكتب واحد)</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rtl="1">
                        <a:lnSpc>
                          <a:spcPct val="107000"/>
                        </a:lnSpc>
                        <a:spcAft>
                          <a:spcPts val="800"/>
                        </a:spcAft>
                        <a:buNone/>
                      </a:pPr>
                      <a:r>
                        <a:rPr lang="en-US" sz="1100">
                          <a:effectLst/>
                        </a:rPr>
                        <a:t>نعم (دفع إلكتروني)</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rtl="1">
                        <a:lnSpc>
                          <a:spcPct val="107000"/>
                        </a:lnSpc>
                        <a:spcAft>
                          <a:spcPts val="800"/>
                        </a:spcAft>
                        <a:buNone/>
                      </a:pPr>
                      <a:r>
                        <a:rPr lang="en-US" sz="1100" dirty="0">
                          <a:effectLst/>
                        </a:rPr>
                        <a:t>فصل الواجهة عن الخادم وتغطية واسعة للوظائف</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r>
              <a:tr h="300000">
                <a:tc>
                  <a:txBody>
                    <a:bodyPr/>
                    <a:lstStyle/>
                    <a:p>
                      <a:pPr marL="0" marR="0" algn="ctr">
                        <a:lnSpc>
                          <a:spcPct val="107000"/>
                        </a:lnSpc>
                        <a:spcAft>
                          <a:spcPts val="800"/>
                        </a:spcAft>
                        <a:buNone/>
                      </a:pPr>
                      <a:r>
                        <a:rPr lang="en-US" sz="1100">
                          <a:effectLst/>
                        </a:rPr>
                        <a:t>Gupta Nayan et al., 2025 [13]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rtl="1">
                        <a:lnSpc>
                          <a:spcPct val="107000"/>
                        </a:lnSpc>
                        <a:spcAft>
                          <a:spcPts val="800"/>
                        </a:spcAft>
                        <a:buNone/>
                      </a:pPr>
                      <a:r>
                        <a:rPr lang="en-US" sz="1100">
                          <a:effectLst/>
                        </a:rPr>
                        <a:t>React، Node.js، Express، MongoDB</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rtl="1">
                        <a:lnSpc>
                          <a:spcPct val="107000"/>
                        </a:lnSpc>
                        <a:spcAft>
                          <a:spcPts val="800"/>
                        </a:spcAft>
                        <a:buNone/>
                      </a:pPr>
                      <a:r>
                        <a:rPr lang="en-US" sz="1100">
                          <a:effectLst/>
                        </a:rPr>
                        <a:t>نعم (عدة مالكين)</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rtl="1">
                        <a:lnSpc>
                          <a:spcPct val="107000"/>
                        </a:lnSpc>
                        <a:spcAft>
                          <a:spcPts val="800"/>
                        </a:spcAft>
                        <a:buNone/>
                      </a:pPr>
                      <a:r>
                        <a:rPr lang="en-US" sz="1100">
                          <a:effectLst/>
                        </a:rPr>
                        <a:t>نعم (دفع إلكتروني)</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rtl="1">
                        <a:lnSpc>
                          <a:spcPct val="107000"/>
                        </a:lnSpc>
                        <a:spcAft>
                          <a:spcPts val="800"/>
                        </a:spcAft>
                        <a:buNone/>
                      </a:pPr>
                      <a:r>
                        <a:rPr lang="en-US" sz="1100" dirty="0">
                          <a:effectLst/>
                        </a:rPr>
                        <a:t>قابلية توسع وعدة مالكين</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r>
              <a:tr h="300000">
                <a:tc>
                  <a:txBody>
                    <a:bodyPr/>
                    <a:lstStyle/>
                    <a:p>
                      <a:pPr marL="0" marR="0" algn="ctr">
                        <a:lnSpc>
                          <a:spcPct val="107000"/>
                        </a:lnSpc>
                        <a:spcAft>
                          <a:spcPts val="800"/>
                        </a:spcAft>
                        <a:buNone/>
                      </a:pPr>
                      <a:r>
                        <a:rPr lang="en-US" sz="1100">
                          <a:effectLst/>
                        </a:rPr>
                        <a:t>Khreim, 2026 [14]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rtl="1">
                        <a:lnSpc>
                          <a:spcPct val="107000"/>
                        </a:lnSpc>
                        <a:spcAft>
                          <a:spcPts val="800"/>
                        </a:spcAft>
                        <a:buNone/>
                      </a:pPr>
                      <a:r>
                        <a:rPr lang="en-US" sz="1100">
                          <a:effectLst/>
                        </a:rPr>
                        <a:t>React، TypeScript، Node.js، PostgreSQL، JWT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rtl="1">
                        <a:lnSpc>
                          <a:spcPct val="107000"/>
                        </a:lnSpc>
                        <a:spcAft>
                          <a:spcPts val="800"/>
                        </a:spcAft>
                        <a:buNone/>
                      </a:pPr>
                      <a:r>
                        <a:rPr lang="en-US" sz="1100">
                          <a:effectLst/>
                        </a:rPr>
                        <a:t>نعم (شركة واحدة)</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rtl="1">
                        <a:lnSpc>
                          <a:spcPct val="107000"/>
                        </a:lnSpc>
                        <a:spcAft>
                          <a:spcPts val="800"/>
                        </a:spcAft>
                        <a:buNone/>
                      </a:pPr>
                      <a:r>
                        <a:rPr lang="en-US" sz="1100">
                          <a:effectLst/>
                        </a:rPr>
                        <a:t>لا</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rtl="1">
                        <a:lnSpc>
                          <a:spcPct val="107000"/>
                        </a:lnSpc>
                        <a:spcAft>
                          <a:spcPts val="800"/>
                        </a:spcAft>
                        <a:buNone/>
                      </a:pPr>
                      <a:r>
                        <a:rPr lang="en-US" sz="1100" dirty="0">
                          <a:effectLst/>
                        </a:rPr>
                        <a:t>JWT و RBAC وإشعارات للمدير</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r>
              <a:tr h="300000">
                <a:tc>
                  <a:txBody>
                    <a:bodyPr/>
                    <a:lstStyle/>
                    <a:p>
                      <a:pPr marL="0" marR="0" algn="ctr">
                        <a:lnSpc>
                          <a:spcPct val="107000"/>
                        </a:lnSpc>
                        <a:spcAft>
                          <a:spcPts val="800"/>
                        </a:spcAft>
                        <a:buNone/>
                      </a:pPr>
                      <a:r>
                        <a:rPr lang="en-US" sz="1100">
                          <a:effectLst/>
                        </a:rPr>
                        <a:t>Srivastava et al., 2026 [15]</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rtl="1">
                        <a:lnSpc>
                          <a:spcPct val="107000"/>
                        </a:lnSpc>
                        <a:spcAft>
                          <a:spcPts val="800"/>
                        </a:spcAft>
                        <a:buNone/>
                      </a:pPr>
                      <a:r>
                        <a:rPr lang="en-US" sz="1100">
                          <a:effectLst/>
                        </a:rPr>
                        <a:t>PHP، MySQL، Apache، Bootstrap</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rtl="1">
                        <a:lnSpc>
                          <a:spcPct val="107000"/>
                        </a:lnSpc>
                        <a:spcAft>
                          <a:spcPts val="800"/>
                        </a:spcAft>
                        <a:buNone/>
                      </a:pPr>
                      <a:r>
                        <a:rPr lang="en-US" sz="1100">
                          <a:effectLst/>
                        </a:rPr>
                        <a:t>نعم (مكتب واحد)</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rtl="1">
                        <a:lnSpc>
                          <a:spcPct val="107000"/>
                        </a:lnSpc>
                        <a:spcAft>
                          <a:spcPts val="800"/>
                        </a:spcAft>
                        <a:buNone/>
                      </a:pPr>
                      <a:r>
                        <a:rPr lang="en-US" sz="1100">
                          <a:effectLst/>
                        </a:rPr>
                        <a:t>لا</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rtl="1">
                        <a:lnSpc>
                          <a:spcPct val="107000"/>
                        </a:lnSpc>
                        <a:spcAft>
                          <a:spcPts val="800"/>
                        </a:spcAft>
                        <a:buNone/>
                      </a:pPr>
                      <a:r>
                        <a:rPr lang="en-US" sz="1100" dirty="0">
                          <a:effectLst/>
                        </a:rPr>
                        <a:t>قاعدة بيانات مطبّعة وفصل طبقات</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r>
              <a:tr h="300000">
                <a:tc>
                  <a:txBody>
                    <a:bodyPr/>
                    <a:lstStyle/>
                    <a:p>
                      <a:pPr marL="0" marR="0" algn="ctr" rtl="1">
                        <a:lnSpc>
                          <a:spcPct val="107000"/>
                        </a:lnSpc>
                        <a:spcAft>
                          <a:spcPts val="800"/>
                        </a:spcAft>
                        <a:buNone/>
                      </a:pPr>
                      <a:r>
                        <a:rPr lang="en-US" sz="1100">
                          <a:effectLst/>
                        </a:rPr>
                        <a:t>Car Rental Platform (مشروعنا)</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rtl="1">
                        <a:lnSpc>
                          <a:spcPct val="107000"/>
                        </a:lnSpc>
                        <a:spcAft>
                          <a:spcPts val="800"/>
                        </a:spcAft>
                        <a:buNone/>
                      </a:pPr>
                      <a:r>
                        <a:rPr lang="en-US" sz="1100">
                          <a:effectLst/>
                        </a:rPr>
                        <a:t>Flask، SQLAlchemy، JWT، SQL Server/SQLite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rtl="1">
                        <a:lnSpc>
                          <a:spcPct val="107000"/>
                        </a:lnSpc>
                        <a:spcAft>
                          <a:spcPts val="800"/>
                        </a:spcAft>
                        <a:buNone/>
                      </a:pPr>
                      <a:r>
                        <a:rPr lang="en-US" sz="1100">
                          <a:effectLst/>
                        </a:rPr>
                        <a:t>نعم (عدة مكاتب معتمدة)</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rtl="1">
                        <a:lnSpc>
                          <a:spcPct val="107000"/>
                        </a:lnSpc>
                        <a:spcAft>
                          <a:spcPts val="800"/>
                        </a:spcAft>
                        <a:buNone/>
                      </a:pPr>
                      <a:r>
                        <a:rPr lang="en-US" sz="1100">
                          <a:effectLst/>
                        </a:rPr>
                        <a:t>لا (بقرار نطاق)</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rtl="1">
                        <a:lnSpc>
                          <a:spcPct val="107000"/>
                        </a:lnSpc>
                        <a:spcAft>
                          <a:spcPts val="800"/>
                        </a:spcAft>
                        <a:buNone/>
                      </a:pPr>
                      <a:r>
                        <a:rPr lang="en-US" sz="1100" dirty="0">
                          <a:effectLst/>
                        </a:rPr>
                        <a:t>تعدد مستأجرين، اعتماد مكاتب، آلة حالات للطلب، OpenAPI، اختبارات آلية</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F5F1D80-E922-4C56-BACD-EEFC21DCFF81}" type="datetime1">
              <a:rPr lang="en-US" smtClean="0"/>
            </a:fld>
            <a:endParaRPr lang="en-US"/>
          </a:p>
        </p:txBody>
      </p:sp>
      <p:sp>
        <p:nvSpPr>
          <p:cNvPr id="5" name="Footer Placeholder 4"/>
          <p:cNvSpPr>
            <a:spLocks noGrp="1"/>
          </p:cNvSpPr>
          <p:nvPr>
            <p:ph type="ftr" sz="quarter" idx="11"/>
          </p:nvPr>
        </p:nvSpPr>
        <p:spPr/>
        <p:txBody>
          <a:bodyPr/>
          <a:lstStyle/>
          <a:p>
            <a:pPr rtl="1"/>
            <a:r>
              <a:rPr lang="ar-LB"/>
              <a:t>مشروع فصلي - Car Rental Platform</a:t>
            </a:r>
            <a:endParaRPr lang="en-US"/>
          </a:p>
        </p:txBody>
      </p:sp>
      <p:sp>
        <p:nvSpPr>
          <p:cNvPr id="6" name="Slide Number Placeholder 5"/>
          <p:cNvSpPr>
            <a:spLocks noGrp="1"/>
          </p:cNvSpPr>
          <p:nvPr>
            <p:ph type="sldNum" sz="quarter" idx="12"/>
          </p:nvPr>
        </p:nvSpPr>
        <p:spPr/>
        <p:txBody>
          <a:bodyPr/>
          <a:lstStyle/>
          <a:p>
            <a:r>
              <a:rPr sz="1000">
                <a:solidFill>
                  <a:srgbClr val="59697C"/>
                </a:solidFill>
                <a:latin typeface="Arial" panose="020B0604020202020204"/>
              </a:rPr>
              <a:t>7</a:t>
            </a:r>
            <a:endParaRPr sz="1000">
              <a:solidFill>
                <a:srgbClr val="59697C"/>
              </a:solidFill>
              <a:latin typeface="Arial" panose="020B0604020202020204"/>
            </a:endParaRPr>
          </a:p>
        </p:txBody>
      </p:sp>
      <p:sp>
        <p:nvSpPr>
          <p:cNvPr id="7" name="TextBox 6"/>
          <p:cNvSpPr txBox="1"/>
          <p:nvPr/>
        </p:nvSpPr>
        <p:spPr>
          <a:xfrm>
            <a:off x="283464" y="522851"/>
            <a:ext cx="10449306" cy="490199"/>
          </a:xfrm>
          <a:prstGeom prst="rect">
            <a:avLst/>
          </a:prstGeom>
          <a:noFill/>
        </p:spPr>
        <p:txBody>
          <a:bodyPr wrap="square">
            <a:spAutoFit/>
          </a:bodyPr>
          <a:lstStyle/>
          <a:p>
            <a:pPr marL="0" marR="0" algn="r" rtl="1">
              <a:lnSpc>
                <a:spcPct val="115000"/>
              </a:lnSpc>
              <a:spcAft>
                <a:spcPts val="800"/>
              </a:spcAft>
              <a:buNone/>
            </a:pPr>
            <a:r>
              <a:rPr lang="ar-LB" sz="2400" b="1" dirty="0">
                <a:solidFill>
                  <a:srgbClr val="2F5496"/>
                </a:solidFill>
                <a:latin typeface="Calibri Light" panose="020F0302020204030204" pitchFamily="34" charset="0"/>
                <a:cs typeface="Times New Roman" panose="02020603050405020304" pitchFamily="18" charset="0"/>
              </a:rPr>
              <a:t>متطلبات النظام الوظيفية العامة</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p:txBody>
      </p:sp>
      <p:graphicFrame>
        <p:nvGraphicFramePr>
          <p:cNvPr id="8" name="Table 7"/>
          <p:cNvGraphicFramePr>
            <a:graphicFrameLocks noGrp="1"/>
          </p:cNvGraphicFramePr>
          <p:nvPr/>
        </p:nvGraphicFramePr>
        <p:xfrm>
          <a:off x="1581913" y="1152144"/>
          <a:ext cx="9345168" cy="4654201"/>
        </p:xfrm>
        <a:graphic>
          <a:graphicData uri="http://schemas.openxmlformats.org/drawingml/2006/table">
            <a:tbl>
              <a:tblPr firstRow="1" firstCol="1" bandRow="1">
                <a:tableStyleId>{5C22544A-7EE6-4342-B048-85BDC9FD1C3A}</a:tableStyleId>
              </a:tblPr>
              <a:tblGrid>
                <a:gridCol w="2176114"/>
                <a:gridCol w="7169054"/>
              </a:tblGrid>
              <a:tr h="1054201">
                <a:tc>
                  <a:txBody>
                    <a:bodyPr/>
                    <a:lstStyle/>
                    <a:p>
                      <a:pPr marL="0" marR="0" algn="ctr" rtl="1">
                        <a:lnSpc>
                          <a:spcPct val="115000"/>
                        </a:lnSpc>
                        <a:spcAft>
                          <a:spcPts val="800"/>
                        </a:spcAft>
                        <a:buNone/>
                      </a:pPr>
                      <a:r>
                        <a:rPr lang="ar-LB" sz="1800" kern="100" dirty="0">
                          <a:effectLst/>
                        </a:rPr>
                        <a:t>(الكود)</a:t>
                      </a:r>
                      <a:r>
                        <a:rPr lang="en-US" sz="1800" kern="100" dirty="0">
                          <a:effectLst/>
                        </a:rPr>
                        <a:t>	</a:t>
                      </a:r>
                      <a:r>
                        <a:rPr lang="ar-LB" sz="1800" kern="100" dirty="0">
                          <a:effectLst/>
                        </a:rPr>
                        <a:t>الرمز</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ar-LB" sz="1800" kern="100" dirty="0">
                          <a:effectLst/>
                        </a:rPr>
                        <a:t>المتطلب الوظيفي العام</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r>
              <a:tr h="300000">
                <a:tc>
                  <a:txBody>
                    <a:bodyPr/>
                    <a:lstStyle/>
                    <a:p>
                      <a:pPr marL="0" marR="0" algn="ctr">
                        <a:lnSpc>
                          <a:spcPct val="115000"/>
                        </a:lnSpc>
                        <a:spcAft>
                          <a:spcPts val="800"/>
                        </a:spcAft>
                        <a:buNone/>
                      </a:pPr>
                      <a:r>
                        <a:rPr lang="en-US" sz="1300" kern="100">
                          <a:effectLst/>
                        </a:rPr>
                        <a:t>FR-G01</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ar-LB" sz="1300" kern="100" dirty="0">
                          <a:effectLst/>
                        </a:rPr>
                        <a:t>يجب أن يتيح النظام إنشاء حسابات وتسجيل الدخول مع التحقق من البيانات.</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r>
              <a:tr h="300000">
                <a:tc>
                  <a:txBody>
                    <a:bodyPr/>
                    <a:lstStyle/>
                    <a:p>
                      <a:pPr marL="0" marR="0" algn="ctr">
                        <a:lnSpc>
                          <a:spcPct val="115000"/>
                        </a:lnSpc>
                        <a:spcAft>
                          <a:spcPts val="800"/>
                        </a:spcAft>
                        <a:buNone/>
                      </a:pPr>
                      <a:r>
                        <a:rPr lang="en-US" sz="1300" kern="100">
                          <a:effectLst/>
                        </a:rPr>
                        <a:t>FR-G02</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ar-LB" sz="1300" kern="100" dirty="0">
                          <a:effectLst/>
                        </a:rPr>
                        <a:t>يجب أن يقيد النظام الوصول إلى الوظائف حسب دور المستخدم.</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r>
              <a:tr h="300000">
                <a:tc>
                  <a:txBody>
                    <a:bodyPr/>
                    <a:lstStyle/>
                    <a:p>
                      <a:pPr marL="0" marR="0" algn="ctr">
                        <a:lnSpc>
                          <a:spcPct val="115000"/>
                        </a:lnSpc>
                        <a:spcAft>
                          <a:spcPts val="800"/>
                        </a:spcAft>
                        <a:buNone/>
                      </a:pPr>
                      <a:r>
                        <a:rPr lang="en-US" sz="1300" kern="100">
                          <a:effectLst/>
                        </a:rPr>
                        <a:t>FR-G03</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ar-LB" sz="1300" kern="100" dirty="0">
                          <a:effectLst/>
                        </a:rPr>
                        <a:t>يجب أن يتيح النظام للبائع إنشاء ملف تعريفي وتعديله.</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r>
              <a:tr h="300000">
                <a:tc>
                  <a:txBody>
                    <a:bodyPr/>
                    <a:lstStyle/>
                    <a:p>
                      <a:pPr marL="0" marR="0" algn="ctr">
                        <a:lnSpc>
                          <a:spcPct val="115000"/>
                        </a:lnSpc>
                        <a:spcAft>
                          <a:spcPts val="800"/>
                        </a:spcAft>
                        <a:buNone/>
                      </a:pPr>
                      <a:r>
                        <a:rPr lang="en-US" sz="1300" kern="100">
                          <a:effectLst/>
                        </a:rPr>
                        <a:t>FR-G04</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ar-LB" sz="1300" kern="100" dirty="0">
                          <a:effectLst/>
                        </a:rPr>
                        <a:t>يجب أن يتيح النظام إضافة العناصر المعروضة وتعديلها وحذفها مع صورها.</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r>
              <a:tr h="300000">
                <a:tc>
                  <a:txBody>
                    <a:bodyPr/>
                    <a:lstStyle/>
                    <a:p>
                      <a:pPr marL="0" marR="0" algn="ctr">
                        <a:lnSpc>
                          <a:spcPct val="115000"/>
                        </a:lnSpc>
                        <a:spcAft>
                          <a:spcPts val="800"/>
                        </a:spcAft>
                        <a:buNone/>
                      </a:pPr>
                      <a:r>
                        <a:rPr lang="en-US" sz="1300" kern="100">
                          <a:effectLst/>
                        </a:rPr>
                        <a:t>FR-G05</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ar-LB" sz="1300" kern="100" dirty="0">
                          <a:effectLst/>
                        </a:rPr>
                        <a:t>يجب أن يعرض النظام كتالوجًا عامًا قابلًا للبحث والفلترة وترقيم الصفحات.</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r>
              <a:tr h="300000">
                <a:tc>
                  <a:txBody>
                    <a:bodyPr/>
                    <a:lstStyle/>
                    <a:p>
                      <a:pPr marL="0" marR="0" algn="ctr">
                        <a:lnSpc>
                          <a:spcPct val="115000"/>
                        </a:lnSpc>
                        <a:spcAft>
                          <a:spcPts val="800"/>
                        </a:spcAft>
                        <a:buNone/>
                      </a:pPr>
                      <a:r>
                        <a:rPr lang="en-US" sz="1300" kern="100">
                          <a:effectLst/>
                        </a:rPr>
                        <a:t>FR-G06</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ar-LB" sz="1300" kern="100" dirty="0">
                          <a:effectLst/>
                        </a:rPr>
                        <a:t>يجب أن يعرض النظام صفحة تفاصيل لكل عنصر معروض.</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r>
              <a:tr h="300000">
                <a:tc>
                  <a:txBody>
                    <a:bodyPr/>
                    <a:lstStyle/>
                    <a:p>
                      <a:pPr marL="0" marR="0" algn="ctr">
                        <a:lnSpc>
                          <a:spcPct val="115000"/>
                        </a:lnSpc>
                        <a:spcAft>
                          <a:spcPts val="800"/>
                        </a:spcAft>
                        <a:buNone/>
                      </a:pPr>
                      <a:r>
                        <a:rPr lang="en-US" sz="1300" kern="100">
                          <a:effectLst/>
                        </a:rPr>
                        <a:t>FR-G07</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ar-LB" sz="1300" kern="100" dirty="0">
                          <a:effectLst/>
                        </a:rPr>
                        <a:t>يجب أن يتيح النظام للزبون إرسال طلب مرتبط بعنصر محدد.</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r>
              <a:tr h="300000">
                <a:tc>
                  <a:txBody>
                    <a:bodyPr/>
                    <a:lstStyle/>
                    <a:p>
                      <a:pPr marL="0" marR="0" algn="ctr">
                        <a:lnSpc>
                          <a:spcPct val="115000"/>
                        </a:lnSpc>
                        <a:spcAft>
                          <a:spcPts val="800"/>
                        </a:spcAft>
                        <a:buNone/>
                      </a:pPr>
                      <a:r>
                        <a:rPr lang="en-US" sz="1300" kern="100">
                          <a:effectLst/>
                        </a:rPr>
                        <a:t>FR-G08</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ar-LB" sz="1300" kern="100" dirty="0">
                          <a:effectLst/>
                        </a:rPr>
                        <a:t>يجب أن يتيح النظام للبائع تغيير حالة الطلب ضمن مسار محدد.</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r>
              <a:tr h="300000">
                <a:tc>
                  <a:txBody>
                    <a:bodyPr/>
                    <a:lstStyle/>
                    <a:p>
                      <a:pPr marL="0" marR="0" algn="ctr">
                        <a:lnSpc>
                          <a:spcPct val="115000"/>
                        </a:lnSpc>
                        <a:spcAft>
                          <a:spcPts val="800"/>
                        </a:spcAft>
                        <a:buNone/>
                      </a:pPr>
                      <a:r>
                        <a:rPr lang="en-US" sz="1300" kern="100">
                          <a:effectLst/>
                        </a:rPr>
                        <a:t>FR-G09</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ar-LB" sz="1300" kern="100" dirty="0">
                          <a:effectLst/>
                        </a:rPr>
                        <a:t>يجب أن يرسل النظام إشعارات للأطراف عند الأحداث المهمة.</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r>
              <a:tr h="300000">
                <a:tc>
                  <a:txBody>
                    <a:bodyPr/>
                    <a:lstStyle/>
                    <a:p>
                      <a:pPr marL="0" marR="0" algn="ctr">
                        <a:lnSpc>
                          <a:spcPct val="115000"/>
                        </a:lnSpc>
                        <a:spcAft>
                          <a:spcPts val="800"/>
                        </a:spcAft>
                        <a:buNone/>
                      </a:pPr>
                      <a:r>
                        <a:rPr lang="en-US" sz="1300" kern="100">
                          <a:effectLst/>
                        </a:rPr>
                        <a:t>FR-G10</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ar-LB" sz="1300" kern="100" dirty="0">
                          <a:effectLst/>
                        </a:rPr>
                        <a:t>يجب أن يوفر النظام لوحة إشراف للمدير مع إحصاءات.</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r>
              <a:tr h="300000">
                <a:tc>
                  <a:txBody>
                    <a:bodyPr/>
                    <a:lstStyle/>
                    <a:p>
                      <a:pPr marL="0" marR="0" algn="ctr">
                        <a:lnSpc>
                          <a:spcPct val="115000"/>
                        </a:lnSpc>
                        <a:spcAft>
                          <a:spcPts val="800"/>
                        </a:spcAft>
                        <a:buNone/>
                      </a:pPr>
                      <a:r>
                        <a:rPr lang="en-US" sz="1300" kern="100">
                          <a:effectLst/>
                        </a:rPr>
                        <a:t>FR-G11</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ar-LB" sz="1300" kern="100" dirty="0">
                          <a:effectLst/>
                        </a:rPr>
                        <a:t>يجب أن يتيح النظام للمدير إيقاف الحسابات وإعادة تفعيلها.</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r>
              <a:tr h="300000">
                <a:tc>
                  <a:txBody>
                    <a:bodyPr/>
                    <a:lstStyle/>
                    <a:p>
                      <a:pPr marL="0" marR="0" algn="ctr">
                        <a:lnSpc>
                          <a:spcPct val="115000"/>
                        </a:lnSpc>
                        <a:spcAft>
                          <a:spcPts val="800"/>
                        </a:spcAft>
                        <a:buNone/>
                      </a:pPr>
                      <a:r>
                        <a:rPr lang="en-US" sz="1300" kern="100">
                          <a:effectLst/>
                        </a:rPr>
                        <a:t>FR-G12</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ar-LB" sz="1300" kern="100" dirty="0">
                          <a:effectLst/>
                        </a:rPr>
                        <a:t>يجب أن يوفر النظام واجهة برمجية موثقة للتكامل مع أنظمة أخرى.</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F5F1D80-E922-4C56-BACD-EEFC21DCFF81}" type="datetime1">
              <a:rPr lang="en-US" smtClean="0"/>
            </a:fld>
            <a:endParaRPr lang="en-US"/>
          </a:p>
        </p:txBody>
      </p:sp>
      <p:sp>
        <p:nvSpPr>
          <p:cNvPr id="5" name="Footer Placeholder 4"/>
          <p:cNvSpPr>
            <a:spLocks noGrp="1"/>
          </p:cNvSpPr>
          <p:nvPr>
            <p:ph type="ftr" sz="quarter" idx="11"/>
          </p:nvPr>
        </p:nvSpPr>
        <p:spPr/>
        <p:txBody>
          <a:bodyPr/>
          <a:lstStyle/>
          <a:p>
            <a:pPr rtl="1"/>
            <a:r>
              <a:rPr lang="ar-LB"/>
              <a:t>مشروع فصلي - Car Rental Platform</a:t>
            </a:r>
            <a:endParaRPr lang="en-US"/>
          </a:p>
        </p:txBody>
      </p:sp>
      <p:sp>
        <p:nvSpPr>
          <p:cNvPr id="6" name="Slide Number Placeholder 5"/>
          <p:cNvSpPr>
            <a:spLocks noGrp="1"/>
          </p:cNvSpPr>
          <p:nvPr>
            <p:ph type="sldNum" sz="quarter" idx="12"/>
          </p:nvPr>
        </p:nvSpPr>
        <p:spPr/>
        <p:txBody>
          <a:bodyPr/>
          <a:lstStyle/>
          <a:p>
            <a:r>
              <a:rPr sz="1000">
                <a:solidFill>
                  <a:srgbClr val="59697C"/>
                </a:solidFill>
                <a:latin typeface="Arial" panose="020B0604020202020204"/>
              </a:rPr>
              <a:t>8</a:t>
            </a:r>
            <a:endParaRPr sz="1000">
              <a:solidFill>
                <a:srgbClr val="59697C"/>
              </a:solidFill>
              <a:latin typeface="Arial" panose="020B0604020202020204"/>
            </a:endParaRPr>
          </a:p>
        </p:txBody>
      </p:sp>
      <p:sp>
        <p:nvSpPr>
          <p:cNvPr id="7" name="TextBox 6"/>
          <p:cNvSpPr txBox="1"/>
          <p:nvPr/>
        </p:nvSpPr>
        <p:spPr>
          <a:xfrm>
            <a:off x="5177790" y="600347"/>
            <a:ext cx="6094476" cy="490199"/>
          </a:xfrm>
          <a:prstGeom prst="rect">
            <a:avLst/>
          </a:prstGeom>
          <a:noFill/>
        </p:spPr>
        <p:txBody>
          <a:bodyPr wrap="square">
            <a:spAutoFit/>
          </a:bodyPr>
          <a:lstStyle/>
          <a:p>
            <a:pPr marL="0" marR="0" algn="r" rtl="1">
              <a:lnSpc>
                <a:spcPct val="115000"/>
              </a:lnSpc>
              <a:spcAft>
                <a:spcPts val="800"/>
              </a:spcAft>
              <a:buNone/>
            </a:pPr>
            <a:r>
              <a:rPr lang="ar-LB" sz="2400" b="1" dirty="0">
                <a:solidFill>
                  <a:srgbClr val="2F5496"/>
                </a:solidFill>
                <a:latin typeface="Calibri Light" panose="020F0302020204030204" pitchFamily="34" charset="0"/>
                <a:cs typeface="Times New Roman" panose="02020603050405020304" pitchFamily="18" charset="0"/>
              </a:rPr>
              <a:t>المتطلبات غير الوظيفية</a:t>
            </a:r>
            <a:endParaRPr lang="en-US" sz="2400" b="1" dirty="0">
              <a:solidFill>
                <a:srgbClr val="2F5496"/>
              </a:solidFill>
              <a:latin typeface="Calibri Light" panose="020F0302020204030204" pitchFamily="34" charset="0"/>
              <a:cs typeface="Times New Roman" panose="02020603050405020304" pitchFamily="18" charset="0"/>
            </a:endParaRPr>
          </a:p>
        </p:txBody>
      </p:sp>
      <p:graphicFrame>
        <p:nvGraphicFramePr>
          <p:cNvPr id="8" name="Table 7"/>
          <p:cNvGraphicFramePr>
            <a:graphicFrameLocks noGrp="1"/>
          </p:cNvGraphicFramePr>
          <p:nvPr/>
        </p:nvGraphicFramePr>
        <p:xfrm>
          <a:off x="996696" y="1225296"/>
          <a:ext cx="10104121" cy="4681872"/>
        </p:xfrm>
        <a:graphic>
          <a:graphicData uri="http://schemas.openxmlformats.org/drawingml/2006/table">
            <a:tbl>
              <a:tblPr firstRow="1" firstCol="1" bandRow="1">
                <a:tableStyleId>{5C22544A-7EE6-4342-B048-85BDC9FD1C3A}</a:tableStyleId>
              </a:tblPr>
              <a:tblGrid>
                <a:gridCol w="1453481"/>
                <a:gridCol w="6410359"/>
                <a:gridCol w="2240281"/>
              </a:tblGrid>
              <a:tr h="1261872">
                <a:tc>
                  <a:txBody>
                    <a:bodyPr/>
                    <a:lstStyle/>
                    <a:p>
                      <a:pPr marL="0" marR="0" algn="ctr" rtl="1">
                        <a:lnSpc>
                          <a:spcPct val="115000"/>
                        </a:lnSpc>
                        <a:spcAft>
                          <a:spcPts val="800"/>
                        </a:spcAft>
                        <a:buNone/>
                      </a:pPr>
                      <a:r>
                        <a:rPr lang="ar-LB" sz="1800" kern="100" dirty="0">
                          <a:effectLst/>
                        </a:rPr>
                        <a:t>(الكود) الرمز</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ar-LB" sz="1800" kern="100" dirty="0">
                          <a:effectLst/>
                        </a:rPr>
                        <a:t>الشرح</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ar-LB" sz="1800" kern="100">
                          <a:effectLst/>
                        </a:rPr>
                        <a:t>المتطلب غير الوظيفي</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r>
              <a:tr h="380000">
                <a:tc>
                  <a:txBody>
                    <a:bodyPr/>
                    <a:lstStyle/>
                    <a:p>
                      <a:pPr marL="0" marR="0" algn="ctr">
                        <a:lnSpc>
                          <a:spcPct val="115000"/>
                        </a:lnSpc>
                        <a:spcAft>
                          <a:spcPts val="800"/>
                        </a:spcAft>
                        <a:buNone/>
                      </a:pPr>
                      <a:r>
                        <a:rPr lang="en-US" sz="1300" kern="100" dirty="0">
                          <a:effectLst/>
                        </a:rPr>
                        <a:t>NFR-01</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ar-LB" sz="1300" kern="100" dirty="0">
                          <a:effectLst/>
                        </a:rPr>
                        <a:t>تجزئة كلمات المرور بـ bcrypt بمعامل 12، ولا تُخزن نصًا صريحًا.</a:t>
                      </a:r>
                      <a:endParaRPr lang="ar-LB" sz="1300" kern="100" dirty="0">
                        <a:effectLst/>
                      </a:endParaRPr>
                    </a:p>
                  </a:txBody>
                  <a:tcPr marL="68580" marR="68580" marT="0" marB="0"/>
                </a:tc>
                <a:tc>
                  <a:txBody>
                    <a:bodyPr/>
                    <a:lstStyle/>
                    <a:p>
                      <a:pPr marL="0" marR="0" algn="ctr" rtl="1">
                        <a:lnSpc>
                          <a:spcPct val="115000"/>
                        </a:lnSpc>
                        <a:spcAft>
                          <a:spcPts val="800"/>
                        </a:spcAft>
                        <a:buNone/>
                      </a:pPr>
                      <a:r>
                        <a:rPr lang="ar-LB" sz="1300" kern="100" dirty="0">
                          <a:effectLst/>
                        </a:rPr>
                        <a:t>الأمان</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r>
              <a:tr h="380000">
                <a:tc>
                  <a:txBody>
                    <a:bodyPr/>
                    <a:lstStyle/>
                    <a:p>
                      <a:pPr marL="0" marR="0" algn="ctr">
                        <a:lnSpc>
                          <a:spcPct val="115000"/>
                        </a:lnSpc>
                        <a:spcAft>
                          <a:spcPts val="800"/>
                        </a:spcAft>
                        <a:buNone/>
                      </a:pPr>
                      <a:r>
                        <a:rPr lang="en-US" sz="1300" kern="100" dirty="0">
                          <a:effectLst/>
                        </a:rPr>
                        <a:t>NFR-02</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ar-LB" sz="1300" kern="100" dirty="0">
                          <a:effectLst/>
                        </a:rPr>
                        <a:t>كل نقطة محمية تتطلب JWT صالحًا مدته 24 ساعة مع إمكانية التجديد.</a:t>
                      </a:r>
                      <a:endParaRPr lang="ar-LB" sz="1300" kern="100" dirty="0">
                        <a:effectLst/>
                      </a:endParaRPr>
                    </a:p>
                  </a:txBody>
                  <a:tcPr marL="68580" marR="68580" marT="0" marB="0"/>
                </a:tc>
                <a:tc>
                  <a:txBody>
                    <a:bodyPr/>
                    <a:lstStyle/>
                    <a:p>
                      <a:pPr marL="0" marR="0" algn="ctr" rtl="1">
                        <a:lnSpc>
                          <a:spcPct val="115000"/>
                        </a:lnSpc>
                        <a:spcAft>
                          <a:spcPts val="800"/>
                        </a:spcAft>
                        <a:buNone/>
                      </a:pPr>
                      <a:r>
                        <a:rPr lang="ar-LB" sz="1300" kern="100" dirty="0">
                          <a:effectLst/>
                        </a:rPr>
                        <a:t>الأمان</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r>
              <a:tr h="380000">
                <a:tc>
                  <a:txBody>
                    <a:bodyPr/>
                    <a:lstStyle/>
                    <a:p>
                      <a:pPr marL="0" marR="0" algn="ctr">
                        <a:lnSpc>
                          <a:spcPct val="115000"/>
                        </a:lnSpc>
                        <a:spcAft>
                          <a:spcPts val="800"/>
                        </a:spcAft>
                        <a:buNone/>
                      </a:pPr>
                      <a:r>
                        <a:rPr lang="en-US" sz="1300" kern="100" dirty="0">
                          <a:effectLst/>
                        </a:rPr>
                        <a:t>NFR-03</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ar-LB" sz="1300" kern="100" dirty="0">
                          <a:effectLst/>
                        </a:rPr>
                        <a:t>تحقق من كل مدخل (النوع والطول والقيم)، واستعلامات عبر ORM فقط.</a:t>
                      </a:r>
                      <a:endParaRPr lang="ar-LB" sz="1300" kern="100" dirty="0">
                        <a:effectLst/>
                      </a:endParaRPr>
                    </a:p>
                  </a:txBody>
                  <a:tcPr marL="68580" marR="68580" marT="0" marB="0"/>
                </a:tc>
                <a:tc>
                  <a:txBody>
                    <a:bodyPr/>
                    <a:lstStyle/>
                    <a:p>
                      <a:pPr marL="0" marR="0" algn="ctr" rtl="1">
                        <a:lnSpc>
                          <a:spcPct val="115000"/>
                        </a:lnSpc>
                        <a:spcAft>
                          <a:spcPts val="800"/>
                        </a:spcAft>
                        <a:buNone/>
                      </a:pPr>
                      <a:r>
                        <a:rPr lang="ar-LB" sz="1300" kern="100" dirty="0">
                          <a:effectLst/>
                        </a:rPr>
                        <a:t>الأمان</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r>
              <a:tr h="380000">
                <a:tc>
                  <a:txBody>
                    <a:bodyPr/>
                    <a:lstStyle/>
                    <a:p>
                      <a:pPr marL="0" marR="0" algn="ctr">
                        <a:lnSpc>
                          <a:spcPct val="115000"/>
                        </a:lnSpc>
                        <a:spcAft>
                          <a:spcPts val="800"/>
                        </a:spcAft>
                        <a:buNone/>
                      </a:pPr>
                      <a:r>
                        <a:rPr lang="en-US" sz="1300" kern="100" dirty="0">
                          <a:effectLst/>
                        </a:rPr>
                        <a:t>NFR-04</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ar-LB" sz="1300" kern="100" dirty="0">
                          <a:effectLst/>
                        </a:rPr>
                        <a:t>قبول صور JPEG و PNG و WebP فقط بحجم أقصى 5 MB.</a:t>
                      </a:r>
                      <a:endParaRPr lang="ar-LB" sz="1300" kern="100" dirty="0">
                        <a:effectLst/>
                      </a:endParaRPr>
                    </a:p>
                  </a:txBody>
                  <a:tcPr marL="68580" marR="68580" marT="0" marB="0"/>
                </a:tc>
                <a:tc>
                  <a:txBody>
                    <a:bodyPr/>
                    <a:lstStyle/>
                    <a:p>
                      <a:pPr marL="0" marR="0" algn="ctr" rtl="1">
                        <a:lnSpc>
                          <a:spcPct val="115000"/>
                        </a:lnSpc>
                        <a:spcAft>
                          <a:spcPts val="800"/>
                        </a:spcAft>
                        <a:buNone/>
                      </a:pPr>
                      <a:r>
                        <a:rPr lang="ar-LB" sz="1300" kern="100" dirty="0">
                          <a:effectLst/>
                        </a:rPr>
                        <a:t>الأمان</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r>
              <a:tr h="380000">
                <a:tc>
                  <a:txBody>
                    <a:bodyPr/>
                    <a:lstStyle/>
                    <a:p>
                      <a:pPr marL="0" marR="0" algn="ctr">
                        <a:lnSpc>
                          <a:spcPct val="115000"/>
                        </a:lnSpc>
                        <a:spcAft>
                          <a:spcPts val="800"/>
                        </a:spcAft>
                        <a:buNone/>
                      </a:pPr>
                      <a:r>
                        <a:rPr lang="en-US" sz="1300" kern="100" dirty="0">
                          <a:effectLst/>
                        </a:rPr>
                        <a:t>NFR-06</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ar-LB" sz="1300" kern="100" dirty="0">
                          <a:effectLst/>
                        </a:rPr>
                        <a:t>إنشاء الطلب والإشعار في معاملة واحدة ذرية.</a:t>
                      </a:r>
                      <a:endParaRPr lang="ar-LB" sz="1300" kern="100" dirty="0">
                        <a:effectLst/>
                      </a:endParaRPr>
                    </a:p>
                  </a:txBody>
                  <a:tcPr marL="68580" marR="68580" marT="0" marB="0"/>
                </a:tc>
                <a:tc>
                  <a:txBody>
                    <a:bodyPr/>
                    <a:lstStyle/>
                    <a:p>
                      <a:pPr marL="0" marR="0" algn="ctr" rtl="1">
                        <a:lnSpc>
                          <a:spcPct val="115000"/>
                        </a:lnSpc>
                        <a:spcAft>
                          <a:spcPts val="800"/>
                        </a:spcAft>
                        <a:buNone/>
                      </a:pPr>
                      <a:r>
                        <a:rPr lang="ar-LB" sz="1300" kern="100" dirty="0">
                          <a:effectLst/>
                        </a:rPr>
                        <a:t>الموثوقية</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r>
              <a:tr h="380000">
                <a:tc>
                  <a:txBody>
                    <a:bodyPr/>
                    <a:lstStyle/>
                    <a:p>
                      <a:pPr marL="0" marR="0" algn="ctr">
                        <a:lnSpc>
                          <a:spcPct val="115000"/>
                        </a:lnSpc>
                        <a:spcAft>
                          <a:spcPts val="800"/>
                        </a:spcAft>
                        <a:buNone/>
                      </a:pPr>
                      <a:r>
                        <a:rPr lang="en-US" sz="1300" kern="100" dirty="0">
                          <a:effectLst/>
                        </a:rPr>
                        <a:t>NFR-07</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ar-LB" sz="1300" kern="100" dirty="0">
                          <a:effectLst/>
                        </a:rPr>
                        <a:t>فشل رفع الصور لا يترك سجل سيارة ناقصًا ولا ملفًا يتيمًا.</a:t>
                      </a:r>
                      <a:endParaRPr lang="ar-LB" sz="1300" kern="100" dirty="0">
                        <a:effectLst/>
                      </a:endParaRPr>
                    </a:p>
                  </a:txBody>
                  <a:tcPr marL="68580" marR="68580" marT="0" marB="0"/>
                </a:tc>
                <a:tc>
                  <a:txBody>
                    <a:bodyPr/>
                    <a:lstStyle/>
                    <a:p>
                      <a:pPr marL="0" marR="0" algn="ctr" rtl="1">
                        <a:lnSpc>
                          <a:spcPct val="115000"/>
                        </a:lnSpc>
                        <a:spcAft>
                          <a:spcPts val="800"/>
                        </a:spcAft>
                        <a:buNone/>
                      </a:pPr>
                      <a:r>
                        <a:rPr lang="ar-LB" sz="1300" kern="100" dirty="0">
                          <a:effectLst/>
                        </a:rPr>
                        <a:t>الموثوقية</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r>
              <a:tr h="380000">
                <a:tc>
                  <a:txBody>
                    <a:bodyPr/>
                    <a:lstStyle/>
                    <a:p>
                      <a:pPr marL="0" marR="0" algn="ctr">
                        <a:lnSpc>
                          <a:spcPct val="115000"/>
                        </a:lnSpc>
                        <a:spcAft>
                          <a:spcPts val="800"/>
                        </a:spcAft>
                        <a:buNone/>
                      </a:pPr>
                      <a:r>
                        <a:rPr lang="en-US" sz="1300" kern="100" dirty="0">
                          <a:effectLst/>
                        </a:rPr>
                        <a:t>NFR-09</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ar-LB" sz="1300" kern="100" dirty="0">
                          <a:effectLst/>
                        </a:rPr>
                        <a:t>تحميل أول صفحة من الكتالوج (50 سيارة) بأقل من ثانيتين.</a:t>
                      </a:r>
                      <a:endParaRPr lang="ar-LB" sz="1300" kern="100" dirty="0">
                        <a:effectLst/>
                      </a:endParaRPr>
                    </a:p>
                  </a:txBody>
                  <a:tcPr marL="68580" marR="68580" marT="0" marB="0"/>
                </a:tc>
                <a:tc>
                  <a:txBody>
                    <a:bodyPr/>
                    <a:lstStyle/>
                    <a:p>
                      <a:pPr marL="0" marR="0" algn="ctr" rtl="1">
                        <a:lnSpc>
                          <a:spcPct val="115000"/>
                        </a:lnSpc>
                        <a:spcAft>
                          <a:spcPts val="800"/>
                        </a:spcAft>
                        <a:buNone/>
                      </a:pPr>
                      <a:r>
                        <a:rPr lang="ar-LB" sz="1300" kern="100" dirty="0">
                          <a:effectLst/>
                        </a:rPr>
                        <a:t>الأداء</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r>
              <a:tr h="380000">
                <a:tc>
                  <a:txBody>
                    <a:bodyPr/>
                    <a:lstStyle/>
                    <a:p>
                      <a:pPr marL="0" marR="0" algn="ctr">
                        <a:lnSpc>
                          <a:spcPct val="115000"/>
                        </a:lnSpc>
                        <a:spcAft>
                          <a:spcPts val="800"/>
                        </a:spcAft>
                        <a:buNone/>
                      </a:pPr>
                      <a:r>
                        <a:rPr lang="en-US" sz="1300" kern="100" dirty="0">
                          <a:effectLst/>
                        </a:rPr>
                        <a:t>NFR-11</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ar-LB" sz="1300" kern="100" dirty="0">
                          <a:effectLst/>
                        </a:rPr>
                        <a:t>واجهة متجاوبة مع الحاسوب واللوحي والهاتف.</a:t>
                      </a:r>
                      <a:endParaRPr lang="ar-LB" sz="1300" kern="100" dirty="0">
                        <a:effectLst/>
                      </a:endParaRPr>
                    </a:p>
                  </a:txBody>
                  <a:tcPr marL="68580" marR="68580" marT="0" marB="0"/>
                </a:tc>
                <a:tc>
                  <a:txBody>
                    <a:bodyPr/>
                    <a:lstStyle/>
                    <a:p>
                      <a:pPr marL="0" marR="0" algn="ctr" rtl="1">
                        <a:lnSpc>
                          <a:spcPct val="115000"/>
                        </a:lnSpc>
                        <a:spcAft>
                          <a:spcPts val="800"/>
                        </a:spcAft>
                        <a:buNone/>
                      </a:pPr>
                      <a:r>
                        <a:rPr lang="ar-LB" sz="1300" kern="100" dirty="0">
                          <a:effectLst/>
                        </a:rPr>
                        <a:t>قابلية الاستخدام</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r>
              <a:tr h="380000">
                <a:tc>
                  <a:txBody>
                    <a:bodyPr/>
                    <a:lstStyle/>
                    <a:p>
                      <a:pPr marL="0" marR="0" algn="ctr">
                        <a:lnSpc>
                          <a:spcPct val="115000"/>
                        </a:lnSpc>
                        <a:spcAft>
                          <a:spcPts val="800"/>
                        </a:spcAft>
                        <a:buNone/>
                      </a:pPr>
                      <a:r>
                        <a:rPr lang="en-US" sz="1300" kern="100" dirty="0">
                          <a:effectLst/>
                        </a:rPr>
                        <a:t>NFR-13</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ar-LB" sz="1300" kern="100" dirty="0">
                          <a:effectLst/>
                        </a:rPr>
                        <a:t>معمارية طبقية: Controller ثم Service ثم Repository، ولا وصول مباشر للقاعدة من Controller.</a:t>
                      </a:r>
                      <a:endParaRPr lang="ar-LB" sz="1300" kern="100" dirty="0">
                        <a:effectLst/>
                      </a:endParaRPr>
                    </a:p>
                  </a:txBody>
                  <a:tcPr marL="68580" marR="68580" marT="0" marB="0"/>
                </a:tc>
                <a:tc>
                  <a:txBody>
                    <a:bodyPr/>
                    <a:lstStyle/>
                    <a:p>
                      <a:pPr marL="0" marR="0" algn="ctr" rtl="1">
                        <a:lnSpc>
                          <a:spcPct val="115000"/>
                        </a:lnSpc>
                        <a:spcAft>
                          <a:spcPts val="800"/>
                        </a:spcAft>
                        <a:buNone/>
                      </a:pPr>
                      <a:r>
                        <a:rPr lang="ar-LB" sz="1300" kern="100" dirty="0">
                          <a:effectLst/>
                        </a:rPr>
                        <a:t>الصيانة</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F5F1D80-E922-4C56-BACD-EEFC21DCFF81}" type="datetime1">
              <a:rPr lang="en-US" smtClean="0"/>
            </a:fld>
            <a:endParaRPr lang="en-US"/>
          </a:p>
        </p:txBody>
      </p:sp>
      <p:sp>
        <p:nvSpPr>
          <p:cNvPr id="5" name="Footer Placeholder 4"/>
          <p:cNvSpPr>
            <a:spLocks noGrp="1"/>
          </p:cNvSpPr>
          <p:nvPr>
            <p:ph type="ftr" sz="quarter" idx="11"/>
          </p:nvPr>
        </p:nvSpPr>
        <p:spPr/>
        <p:txBody>
          <a:bodyPr/>
          <a:lstStyle/>
          <a:p>
            <a:pPr rtl="1"/>
            <a:r>
              <a:rPr lang="ar-LB"/>
              <a:t>مشروع فصلي - Car Rental Platform</a:t>
            </a:r>
            <a:endParaRPr lang="en-US"/>
          </a:p>
        </p:txBody>
      </p:sp>
      <p:sp>
        <p:nvSpPr>
          <p:cNvPr id="6" name="Slide Number Placeholder 5"/>
          <p:cNvSpPr>
            <a:spLocks noGrp="1"/>
          </p:cNvSpPr>
          <p:nvPr>
            <p:ph type="sldNum" sz="quarter" idx="12"/>
          </p:nvPr>
        </p:nvSpPr>
        <p:spPr/>
        <p:txBody>
          <a:bodyPr/>
          <a:lstStyle/>
          <a:p>
            <a:r>
              <a:rPr sz="1000">
                <a:solidFill>
                  <a:srgbClr val="59697C"/>
                </a:solidFill>
                <a:latin typeface="Arial" panose="020B0604020202020204"/>
              </a:rPr>
              <a:t>9</a:t>
            </a:r>
            <a:endParaRPr sz="1000">
              <a:solidFill>
                <a:srgbClr val="59697C"/>
              </a:solidFill>
              <a:latin typeface="Arial" panose="020B0604020202020204"/>
            </a:endParaRPr>
          </a:p>
        </p:txBody>
      </p:sp>
      <p:sp>
        <p:nvSpPr>
          <p:cNvPr id="7" name="TextBox 6"/>
          <p:cNvSpPr txBox="1"/>
          <p:nvPr/>
        </p:nvSpPr>
        <p:spPr>
          <a:xfrm>
            <a:off x="5106162" y="442488"/>
            <a:ext cx="6094476" cy="490199"/>
          </a:xfrm>
          <a:prstGeom prst="rect">
            <a:avLst/>
          </a:prstGeom>
          <a:noFill/>
        </p:spPr>
        <p:txBody>
          <a:bodyPr wrap="square">
            <a:spAutoFit/>
          </a:bodyPr>
          <a:lstStyle/>
          <a:p>
            <a:pPr marL="0" marR="0" algn="r" rtl="1">
              <a:lnSpc>
                <a:spcPct val="115000"/>
              </a:lnSpc>
              <a:spcAft>
                <a:spcPts val="800"/>
              </a:spcAft>
              <a:buNone/>
            </a:pPr>
            <a:r>
              <a:rPr lang="ar-LB" sz="2400" b="1" dirty="0">
                <a:solidFill>
                  <a:srgbClr val="2F5496"/>
                </a:solidFill>
                <a:latin typeface="Calibri Light" panose="020F0302020204030204" pitchFamily="34" charset="0"/>
                <a:cs typeface="Times New Roman" panose="02020603050405020304" pitchFamily="18" charset="0"/>
              </a:rPr>
              <a:t>المتطلبات الوظيفية للمشروع الحالي</a:t>
            </a:r>
            <a:endParaRPr lang="en-US" sz="2400" b="1" dirty="0">
              <a:solidFill>
                <a:srgbClr val="2F5496"/>
              </a:solidFill>
              <a:latin typeface="Calibri Light" panose="020F0302020204030204" pitchFamily="34" charset="0"/>
              <a:cs typeface="Times New Roman" panose="02020603050405020304" pitchFamily="18" charset="0"/>
            </a:endParaRPr>
          </a:p>
        </p:txBody>
      </p:sp>
      <p:graphicFrame>
        <p:nvGraphicFramePr>
          <p:cNvPr id="8" name="Table 7"/>
          <p:cNvGraphicFramePr>
            <a:graphicFrameLocks noGrp="1"/>
          </p:cNvGraphicFramePr>
          <p:nvPr/>
        </p:nvGraphicFramePr>
        <p:xfrm>
          <a:off x="838200" y="932687"/>
          <a:ext cx="9829799" cy="5406203"/>
        </p:xfrm>
        <a:graphic>
          <a:graphicData uri="http://schemas.openxmlformats.org/drawingml/2006/table">
            <a:tbl>
              <a:tblPr firstRow="1" firstCol="1" bandRow="1">
                <a:tableStyleId>{5C22544A-7EE6-4342-B048-85BDC9FD1C3A}</a:tableStyleId>
              </a:tblPr>
              <a:tblGrid>
                <a:gridCol w="1051835"/>
                <a:gridCol w="1302334"/>
                <a:gridCol w="3939951"/>
                <a:gridCol w="3535679"/>
              </a:tblGrid>
              <a:tr h="214500">
                <a:tc>
                  <a:txBody>
                    <a:bodyPr/>
                    <a:lstStyle/>
                    <a:p>
                      <a:pPr marL="0" marR="0" algn="ctr">
                        <a:lnSpc>
                          <a:spcPct val="115000"/>
                        </a:lnSpc>
                        <a:spcAft>
                          <a:spcPts val="800"/>
                        </a:spcAft>
                        <a:buNone/>
                      </a:pPr>
                      <a:r>
                        <a:rPr lang="ar-LB" sz="1600" kern="100" dirty="0">
                          <a:effectLst/>
                        </a:rPr>
                        <a:t>الأولوية</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c>
                  <a:txBody>
                    <a:bodyPr/>
                    <a:lstStyle/>
                    <a:p>
                      <a:pPr marL="0" marR="0" algn="ctr">
                        <a:lnSpc>
                          <a:spcPct val="115000"/>
                        </a:lnSpc>
                        <a:spcAft>
                          <a:spcPts val="800"/>
                        </a:spcAft>
                        <a:buNone/>
                      </a:pPr>
                      <a:r>
                        <a:rPr lang="ar-LB" sz="1600" kern="100">
                          <a:effectLst/>
                        </a:rPr>
                        <a:t>الرمز</a:t>
                      </a:r>
                      <a:endParaRPr lang="en-US" sz="1600" kern="10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c>
                  <a:txBody>
                    <a:bodyPr/>
                    <a:lstStyle/>
                    <a:p>
                      <a:pPr marL="0" marR="0" algn="ctr">
                        <a:lnSpc>
                          <a:spcPct val="115000"/>
                        </a:lnSpc>
                        <a:spcAft>
                          <a:spcPts val="800"/>
                        </a:spcAft>
                        <a:buNone/>
                      </a:pPr>
                      <a:r>
                        <a:rPr lang="ar-LB" sz="1600" kern="100">
                          <a:effectLst/>
                        </a:rPr>
                        <a:t>المتطلب</a:t>
                      </a:r>
                      <a:endParaRPr lang="en-US" sz="1600" kern="10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c>
                  <a:txBody>
                    <a:bodyPr/>
                    <a:lstStyle/>
                    <a:p>
                      <a:pPr marL="0" marR="0" algn="ctr">
                        <a:lnSpc>
                          <a:spcPct val="115000"/>
                        </a:lnSpc>
                        <a:spcAft>
                          <a:spcPts val="800"/>
                        </a:spcAft>
                        <a:buNone/>
                      </a:pPr>
                      <a:r>
                        <a:rPr lang="ar-LB" sz="1600" kern="100" dirty="0">
                          <a:effectLst/>
                        </a:rPr>
                        <a:t>الوصف</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r>
              <a:tr h="330000">
                <a:tc>
                  <a:txBody>
                    <a:bodyPr/>
                    <a:lstStyle/>
                    <a:p>
                      <a:pPr marL="0" marR="0" algn="ctr" rtl="1">
                        <a:lnSpc>
                          <a:spcPct val="115000"/>
                        </a:lnSpc>
                        <a:spcAft>
                          <a:spcPts val="800"/>
                        </a:spcAft>
                        <a:buNone/>
                      </a:pPr>
                      <a:r>
                        <a:rPr lang="ar-LB" sz="1100" b="1" kern="100" dirty="0">
                          <a:solidFill>
                            <a:srgbClr val="FFFFFF"/>
                          </a:solidFill>
                          <a:effectLst/>
                        </a:rPr>
                        <a:t>عالية</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solidFill>
                      <a:srgbClr val="C00000"/>
                    </a:solidFill>
                  </a:tcPr>
                </a:tc>
                <a:tc>
                  <a:txBody>
                    <a:bodyPr/>
                    <a:lstStyle/>
                    <a:p>
                      <a:pPr marL="0" marR="0" algn="ctr">
                        <a:lnSpc>
                          <a:spcPct val="115000"/>
                        </a:lnSpc>
                        <a:spcAft>
                          <a:spcPts val="800"/>
                        </a:spcAft>
                        <a:buNone/>
                      </a:pPr>
                      <a:r>
                        <a:rPr lang="en-US" sz="1100" kern="100" dirty="0">
                          <a:effectLst/>
                        </a:rPr>
                        <a:t>FR-01</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c>
                  <a:txBody>
                    <a:bodyPr/>
                    <a:lstStyle/>
                    <a:p>
                      <a:pPr marL="0" marR="0" algn="r" rtl="1">
                        <a:lnSpc>
                          <a:spcPct val="115000"/>
                        </a:lnSpc>
                        <a:spcAft>
                          <a:spcPts val="800"/>
                        </a:spcAft>
                        <a:buNone/>
                      </a:pPr>
                      <a:r>
                        <a:rPr sz="1100"/>
                        <a:t>التحكم بالوصول RBAC</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c>
                  <a:txBody>
                    <a:bodyPr/>
                    <a:lstStyle/>
                    <a:p>
                      <a:pPr marL="0" marR="0" algn="r" rtl="1">
                        <a:lnSpc>
                          <a:spcPct val="115000"/>
                        </a:lnSpc>
                        <a:spcAft>
                          <a:spcPts val="800"/>
                        </a:spcAft>
                        <a:buNone/>
                      </a:pPr>
                      <a:r>
                        <a:rPr sz="1100"/>
                        <a:t>401 لرمز غير صالح و 403 لدور غير مسموح</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r>
              <a:tr h="330000">
                <a:tc>
                  <a:txBody>
                    <a:bodyPr/>
                    <a:lstStyle/>
                    <a:p>
                      <a:pPr marL="0" marR="0" algn="ctr" rtl="1">
                        <a:lnSpc>
                          <a:spcPct val="115000"/>
                        </a:lnSpc>
                        <a:spcAft>
                          <a:spcPts val="800"/>
                        </a:spcAft>
                        <a:buNone/>
                      </a:pPr>
                      <a:r>
                        <a:rPr lang="ar-LB" sz="1100" b="1" kern="100" dirty="0">
                          <a:solidFill>
                            <a:srgbClr val="FFFFFF"/>
                          </a:solidFill>
                          <a:effectLst/>
                        </a:rPr>
                        <a:t>عالية</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solidFill>
                      <a:srgbClr val="C00000"/>
                    </a:solidFill>
                  </a:tcPr>
                </a:tc>
                <a:tc>
                  <a:txBody>
                    <a:bodyPr/>
                    <a:lstStyle/>
                    <a:p>
                      <a:pPr marL="0" marR="0" algn="ctr">
                        <a:lnSpc>
                          <a:spcPct val="115000"/>
                        </a:lnSpc>
                        <a:spcAft>
                          <a:spcPts val="800"/>
                        </a:spcAft>
                        <a:buNone/>
                      </a:pPr>
                      <a:r>
                        <a:rPr lang="en-US" sz="1100" kern="100" dirty="0">
                          <a:effectLst/>
                        </a:rPr>
                        <a:t>FR-02</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c>
                  <a:txBody>
                    <a:bodyPr/>
                    <a:lstStyle/>
                    <a:p>
                      <a:pPr marL="0" marR="0" algn="r" rtl="1">
                        <a:lnSpc>
                          <a:spcPct val="115000"/>
                        </a:lnSpc>
                        <a:spcAft>
                          <a:spcPts val="800"/>
                        </a:spcAft>
                        <a:buNone/>
                      </a:pPr>
                      <a:r>
                        <a:rPr sz="1100"/>
                        <a:t>التسجيل</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c>
                  <a:txBody>
                    <a:bodyPr/>
                    <a:lstStyle/>
                    <a:p>
                      <a:pPr marL="0" marR="0" algn="r" rtl="1">
                        <a:lnSpc>
                          <a:spcPct val="115000"/>
                        </a:lnSpc>
                        <a:spcAft>
                          <a:spcPts val="800"/>
                        </a:spcAft>
                        <a:buNone/>
                      </a:pPr>
                      <a:r>
                        <a:rPr sz="1100"/>
                        <a:t>اسم، بريد فريد، كلمة مرور، دور</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r>
              <a:tr h="330000">
                <a:tc>
                  <a:txBody>
                    <a:bodyPr/>
                    <a:lstStyle/>
                    <a:p>
                      <a:pPr marL="0" marR="0" algn="ctr" rtl="1">
                        <a:lnSpc>
                          <a:spcPct val="115000"/>
                        </a:lnSpc>
                        <a:spcAft>
                          <a:spcPts val="800"/>
                        </a:spcAft>
                        <a:buNone/>
                      </a:pPr>
                      <a:r>
                        <a:rPr lang="ar-LB" sz="1100" b="1" kern="100" dirty="0">
                          <a:solidFill>
                            <a:srgbClr val="FFFFFF"/>
                          </a:solidFill>
                          <a:effectLst/>
                        </a:rPr>
                        <a:t>عالية</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solidFill>
                      <a:srgbClr val="C00000"/>
                    </a:solidFill>
                  </a:tcPr>
                </a:tc>
                <a:tc>
                  <a:txBody>
                    <a:bodyPr/>
                    <a:lstStyle/>
                    <a:p>
                      <a:pPr marL="0" marR="0" algn="ctr">
                        <a:lnSpc>
                          <a:spcPct val="115000"/>
                        </a:lnSpc>
                        <a:spcAft>
                          <a:spcPts val="800"/>
                        </a:spcAft>
                        <a:buNone/>
                      </a:pPr>
                      <a:r>
                        <a:rPr lang="en-US" sz="1100" kern="100" dirty="0">
                          <a:effectLst/>
                        </a:rPr>
                        <a:t>FR-03</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c>
                  <a:txBody>
                    <a:bodyPr/>
                    <a:lstStyle/>
                    <a:p>
                      <a:pPr marL="0" marR="0" algn="r" rtl="1">
                        <a:lnSpc>
                          <a:spcPct val="115000"/>
                        </a:lnSpc>
                        <a:spcAft>
                          <a:spcPts val="800"/>
                        </a:spcAft>
                        <a:buNone/>
                      </a:pPr>
                      <a:r>
                        <a:rPr sz="1100"/>
                        <a:t>تسجيل الدخول</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c>
                  <a:txBody>
                    <a:bodyPr/>
                    <a:lstStyle/>
                    <a:p>
                      <a:pPr marL="0" marR="0" algn="r" rtl="1">
                        <a:lnSpc>
                          <a:spcPct val="115000"/>
                        </a:lnSpc>
                        <a:spcAft>
                          <a:spcPts val="800"/>
                        </a:spcAft>
                        <a:buNone/>
                      </a:pPr>
                      <a:r>
                        <a:rPr sz="1100"/>
                        <a:t>إصدار JWT يحمل المعرف والدور</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r>
              <a:tr h="330000">
                <a:tc>
                  <a:txBody>
                    <a:bodyPr/>
                    <a:lstStyle/>
                    <a:p>
                      <a:pPr marL="0" marR="0" algn="ctr" rtl="1">
                        <a:lnSpc>
                          <a:spcPct val="115000"/>
                        </a:lnSpc>
                        <a:spcAft>
                          <a:spcPts val="800"/>
                        </a:spcAft>
                        <a:buNone/>
                      </a:pPr>
                      <a:r>
                        <a:rPr lang="ar-LB" sz="1100" b="1" kern="100" dirty="0">
                          <a:solidFill>
                            <a:srgbClr val="FFFFFF"/>
                          </a:solidFill>
                          <a:effectLst/>
                        </a:rPr>
                        <a:t>عالية</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solidFill>
                      <a:srgbClr val="C00000"/>
                    </a:solidFill>
                  </a:tcPr>
                </a:tc>
                <a:tc>
                  <a:txBody>
                    <a:bodyPr/>
                    <a:lstStyle/>
                    <a:p>
                      <a:pPr marL="0" marR="0" algn="ctr">
                        <a:lnSpc>
                          <a:spcPct val="115000"/>
                        </a:lnSpc>
                        <a:spcAft>
                          <a:spcPts val="800"/>
                        </a:spcAft>
                        <a:buNone/>
                      </a:pPr>
                      <a:r>
                        <a:rPr lang="en-US" sz="1100" kern="100" dirty="0">
                          <a:effectLst/>
                        </a:rPr>
                        <a:t>FR-06</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c>
                  <a:txBody>
                    <a:bodyPr/>
                    <a:lstStyle/>
                    <a:p>
                      <a:pPr marL="0" marR="0" algn="r" rtl="1">
                        <a:lnSpc>
                          <a:spcPct val="115000"/>
                        </a:lnSpc>
                        <a:spcAft>
                          <a:spcPts val="800"/>
                        </a:spcAft>
                        <a:buNone/>
                      </a:pPr>
                      <a:r>
                        <a:rPr sz="1100"/>
                        <a:t>إنشاء مكتب</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c>
                  <a:txBody>
                    <a:bodyPr/>
                    <a:lstStyle/>
                    <a:p>
                      <a:pPr marL="0" marR="0" algn="r" rtl="1">
                        <a:lnSpc>
                          <a:spcPct val="115000"/>
                        </a:lnSpc>
                        <a:spcAft>
                          <a:spcPts val="800"/>
                        </a:spcAft>
                        <a:buNone/>
                      </a:pPr>
                      <a:r>
                        <a:rPr sz="1100"/>
                        <a:t>مكتب واحد لكل مالك يبدأ Pending</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r>
              <a:tr h="330000">
                <a:tc>
                  <a:txBody>
                    <a:bodyPr/>
                    <a:lstStyle/>
                    <a:p>
                      <a:pPr marL="0" marR="0" algn="ctr" rtl="1">
                        <a:lnSpc>
                          <a:spcPct val="115000"/>
                        </a:lnSpc>
                        <a:spcAft>
                          <a:spcPts val="800"/>
                        </a:spcAft>
                        <a:buNone/>
                      </a:pPr>
                      <a:r>
                        <a:rPr lang="ar-LB" sz="1100" b="1" kern="100" dirty="0">
                          <a:solidFill>
                            <a:srgbClr val="FFFFFF"/>
                          </a:solidFill>
                          <a:effectLst/>
                        </a:rPr>
                        <a:t>عالية</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solidFill>
                      <a:srgbClr val="C00000"/>
                    </a:solidFill>
                  </a:tcPr>
                </a:tc>
                <a:tc>
                  <a:txBody>
                    <a:bodyPr/>
                    <a:lstStyle/>
                    <a:p>
                      <a:pPr marL="0" marR="0" algn="ctr">
                        <a:lnSpc>
                          <a:spcPct val="115000"/>
                        </a:lnSpc>
                        <a:spcAft>
                          <a:spcPts val="800"/>
                        </a:spcAft>
                        <a:buNone/>
                      </a:pPr>
                      <a:r>
                        <a:rPr lang="en-US" sz="1100" kern="100" dirty="0">
                          <a:effectLst/>
                        </a:rPr>
                        <a:t>FR-07</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c>
                  <a:txBody>
                    <a:bodyPr/>
                    <a:lstStyle/>
                    <a:p>
                      <a:pPr marL="0" marR="0" algn="r" rtl="1">
                        <a:lnSpc>
                          <a:spcPct val="115000"/>
                        </a:lnSpc>
                        <a:spcAft>
                          <a:spcPts val="800"/>
                        </a:spcAft>
                        <a:buNone/>
                      </a:pPr>
                      <a:r>
                        <a:rPr sz="1100"/>
                        <a:t>اعتماد المكتب</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c>
                  <a:txBody>
                    <a:bodyPr/>
                    <a:lstStyle/>
                    <a:p>
                      <a:pPr marL="0" marR="0" algn="r" rtl="1">
                        <a:lnSpc>
                          <a:spcPct val="115000"/>
                        </a:lnSpc>
                        <a:spcAft>
                          <a:spcPts val="800"/>
                        </a:spcAft>
                        <a:buNone/>
                      </a:pPr>
                      <a:r>
                        <a:rPr sz="1100"/>
                        <a:t>Active أو Suspended مع إشعار</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r>
              <a:tr h="330000">
                <a:tc>
                  <a:txBody>
                    <a:bodyPr/>
                    <a:lstStyle/>
                    <a:p>
                      <a:pPr marL="0" marR="0" algn="ctr" rtl="1">
                        <a:lnSpc>
                          <a:spcPct val="115000"/>
                        </a:lnSpc>
                        <a:spcAft>
                          <a:spcPts val="800"/>
                        </a:spcAft>
                        <a:buNone/>
                      </a:pPr>
                      <a:r>
                        <a:rPr lang="ar-LB" sz="1100" b="1" kern="100" dirty="0">
                          <a:solidFill>
                            <a:srgbClr val="FFFFFF"/>
                          </a:solidFill>
                          <a:effectLst/>
                        </a:rPr>
                        <a:t>عالية</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solidFill>
                      <a:srgbClr val="C00000"/>
                    </a:solidFill>
                  </a:tcPr>
                </a:tc>
                <a:tc>
                  <a:txBody>
                    <a:bodyPr/>
                    <a:lstStyle/>
                    <a:p>
                      <a:pPr marL="0" marR="0" algn="ctr">
                        <a:lnSpc>
                          <a:spcPct val="115000"/>
                        </a:lnSpc>
                        <a:spcAft>
                          <a:spcPts val="800"/>
                        </a:spcAft>
                        <a:buNone/>
                      </a:pPr>
                      <a:r>
                        <a:rPr lang="en-US" sz="1100" kern="100" dirty="0">
                          <a:effectLst/>
                        </a:rPr>
                        <a:t>FR-10</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c>
                  <a:txBody>
                    <a:bodyPr/>
                    <a:lstStyle/>
                    <a:p>
                      <a:pPr marL="0" marR="0" algn="r" rtl="1">
                        <a:lnSpc>
                          <a:spcPct val="115000"/>
                        </a:lnSpc>
                        <a:spcAft>
                          <a:spcPts val="800"/>
                        </a:spcAft>
                        <a:buNone/>
                      </a:pPr>
                      <a:r>
                        <a:rPr sz="1100"/>
                        <a:t>إضافة سيارة</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c>
                  <a:txBody>
                    <a:bodyPr/>
                    <a:lstStyle/>
                    <a:p>
                      <a:pPr marL="0" marR="0" algn="r" rtl="1">
                        <a:lnSpc>
                          <a:spcPct val="115000"/>
                        </a:lnSpc>
                        <a:spcAft>
                          <a:spcPts val="800"/>
                        </a:spcAft>
                        <a:buNone/>
                      </a:pPr>
                      <a:r>
                        <a:rPr sz="1100"/>
                        <a:t>بيانات السيارة وصورة واحدة على الأقل</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r>
              <a:tr h="330000">
                <a:tc>
                  <a:txBody>
                    <a:bodyPr/>
                    <a:lstStyle/>
                    <a:p>
                      <a:pPr marL="0" marR="0" algn="ctr" rtl="1">
                        <a:lnSpc>
                          <a:spcPct val="115000"/>
                        </a:lnSpc>
                        <a:spcAft>
                          <a:spcPts val="800"/>
                        </a:spcAft>
                        <a:buNone/>
                      </a:pPr>
                      <a:r>
                        <a:rPr lang="ar-LB" sz="1100" b="1" kern="100" dirty="0">
                          <a:solidFill>
                            <a:srgbClr val="FFFFFF"/>
                          </a:solidFill>
                          <a:effectLst/>
                        </a:rPr>
                        <a:t>متوسطة</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solidFill>
                      <a:srgbClr val="BF8F00"/>
                    </a:solidFill>
                  </a:tcPr>
                </a:tc>
                <a:tc>
                  <a:txBody>
                    <a:bodyPr/>
                    <a:lstStyle/>
                    <a:p>
                      <a:pPr marL="0" marR="0" algn="ctr">
                        <a:lnSpc>
                          <a:spcPct val="115000"/>
                        </a:lnSpc>
                        <a:spcAft>
                          <a:spcPts val="800"/>
                        </a:spcAft>
                        <a:buNone/>
                      </a:pPr>
                      <a:r>
                        <a:rPr lang="en-US" sz="1100" kern="100" dirty="0">
                          <a:effectLst/>
                        </a:rPr>
                        <a:t>FR-11</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c>
                  <a:txBody>
                    <a:bodyPr/>
                    <a:lstStyle/>
                    <a:p>
                      <a:pPr marL="0" marR="0" algn="r" rtl="1">
                        <a:lnSpc>
                          <a:spcPct val="115000"/>
                        </a:lnSpc>
                        <a:spcAft>
                          <a:spcPts val="800"/>
                        </a:spcAft>
                        <a:buNone/>
                      </a:pPr>
                      <a:r>
                        <a:rPr sz="1100"/>
                        <a:t>تعديل سيارة</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c>
                  <a:txBody>
                    <a:bodyPr/>
                    <a:lstStyle/>
                    <a:p>
                      <a:pPr marL="0" marR="0" algn="r" rtl="1">
                        <a:lnSpc>
                          <a:spcPct val="115000"/>
                        </a:lnSpc>
                        <a:spcAft>
                          <a:spcPts val="800"/>
                        </a:spcAft>
                        <a:buNone/>
                      </a:pPr>
                      <a:r>
                        <a:rPr sz="1100"/>
                        <a:t>البيانات والحالة</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r>
              <a:tr h="330000">
                <a:tc>
                  <a:txBody>
                    <a:bodyPr/>
                    <a:lstStyle/>
                    <a:p>
                      <a:pPr marL="0" marR="0" algn="ctr" rtl="1">
                        <a:lnSpc>
                          <a:spcPct val="115000"/>
                        </a:lnSpc>
                        <a:spcAft>
                          <a:spcPts val="800"/>
                        </a:spcAft>
                        <a:buNone/>
                      </a:pPr>
                      <a:r>
                        <a:rPr lang="ar-LB" sz="1100" b="1" kern="100" dirty="0">
                          <a:solidFill>
                            <a:srgbClr val="FFFFFF"/>
                          </a:solidFill>
                          <a:effectLst/>
                        </a:rPr>
                        <a:t>متوسطة</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solidFill>
                      <a:srgbClr val="BF8F00"/>
                    </a:solidFill>
                  </a:tcPr>
                </a:tc>
                <a:tc>
                  <a:txBody>
                    <a:bodyPr/>
                    <a:lstStyle/>
                    <a:p>
                      <a:pPr marL="0" marR="0" algn="ctr">
                        <a:lnSpc>
                          <a:spcPct val="115000"/>
                        </a:lnSpc>
                        <a:spcAft>
                          <a:spcPts val="800"/>
                        </a:spcAft>
                        <a:buNone/>
                      </a:pPr>
                      <a:r>
                        <a:rPr lang="en-US" sz="1100" kern="100" dirty="0">
                          <a:effectLst/>
                        </a:rPr>
                        <a:t>FR-13</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c>
                  <a:txBody>
                    <a:bodyPr/>
                    <a:lstStyle/>
                    <a:p>
                      <a:pPr marL="0" marR="0" algn="r" rtl="1">
                        <a:lnSpc>
                          <a:spcPct val="115000"/>
                        </a:lnSpc>
                        <a:spcAft>
                          <a:spcPts val="800"/>
                        </a:spcAft>
                        <a:buNone/>
                      </a:pPr>
                      <a:r>
                        <a:rPr sz="1100"/>
                        <a:t>صور السيارة</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c>
                  <a:txBody>
                    <a:bodyPr/>
                    <a:lstStyle/>
                    <a:p>
                      <a:pPr marL="0" marR="0" algn="r" rtl="1">
                        <a:lnSpc>
                          <a:spcPct val="115000"/>
                        </a:lnSpc>
                        <a:spcAft>
                          <a:spcPts val="800"/>
                        </a:spcAft>
                        <a:buNone/>
                      </a:pPr>
                      <a:r>
                        <a:rPr sz="1100"/>
                        <a:t>صور متعددة وصورة رئيسية واحدة</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r>
              <a:tr h="330000">
                <a:tc>
                  <a:txBody>
                    <a:bodyPr/>
                    <a:lstStyle/>
                    <a:p>
                      <a:pPr marL="0" marR="0" algn="ctr" rtl="1">
                        <a:lnSpc>
                          <a:spcPct val="115000"/>
                        </a:lnSpc>
                        <a:spcAft>
                          <a:spcPts val="800"/>
                        </a:spcAft>
                        <a:buNone/>
                      </a:pPr>
                      <a:r>
                        <a:rPr lang="ar-LB" sz="1100" b="1" kern="100" dirty="0">
                          <a:solidFill>
                            <a:srgbClr val="FFFFFF"/>
                          </a:solidFill>
                          <a:effectLst/>
                        </a:rPr>
                        <a:t>متوسطة</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solidFill>
                      <a:srgbClr val="BF8F00"/>
                    </a:solidFill>
                  </a:tcPr>
                </a:tc>
                <a:tc>
                  <a:txBody>
                    <a:bodyPr/>
                    <a:lstStyle/>
                    <a:p>
                      <a:pPr marL="0" marR="0" algn="ctr">
                        <a:lnSpc>
                          <a:spcPct val="115000"/>
                        </a:lnSpc>
                        <a:spcAft>
                          <a:spcPts val="800"/>
                        </a:spcAft>
                        <a:buNone/>
                      </a:pPr>
                      <a:r>
                        <a:rPr lang="en-US" sz="1100" kern="100" dirty="0">
                          <a:effectLst/>
                        </a:rPr>
                        <a:t>FR-15</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c>
                  <a:txBody>
                    <a:bodyPr/>
                    <a:lstStyle/>
                    <a:p>
                      <a:pPr marL="0" marR="0" algn="r" rtl="1">
                        <a:lnSpc>
                          <a:spcPct val="115000"/>
                        </a:lnSpc>
                        <a:spcAft>
                          <a:spcPts val="800"/>
                        </a:spcAft>
                        <a:buNone/>
                      </a:pPr>
                      <a:r>
                        <a:rPr sz="1100"/>
                        <a:t>حذف سيارة</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c>
                  <a:txBody>
                    <a:bodyPr/>
                    <a:lstStyle/>
                    <a:p>
                      <a:pPr marL="0" marR="0" algn="r" rtl="1">
                        <a:lnSpc>
                          <a:spcPct val="115000"/>
                        </a:lnSpc>
                        <a:spcAft>
                          <a:spcPts val="800"/>
                        </a:spcAft>
                        <a:buNone/>
                      </a:pPr>
                      <a:r>
                        <a:rPr sz="1100"/>
                        <a:t>حذف ناعم عند وجود طلبات</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r>
              <a:tr h="330000">
                <a:tc>
                  <a:txBody>
                    <a:bodyPr/>
                    <a:lstStyle/>
                    <a:p>
                      <a:pPr marL="0" marR="0" algn="ctr" rtl="1">
                        <a:lnSpc>
                          <a:spcPct val="115000"/>
                        </a:lnSpc>
                        <a:spcAft>
                          <a:spcPts val="800"/>
                        </a:spcAft>
                        <a:buNone/>
                      </a:pPr>
                      <a:r>
                        <a:rPr lang="ar-LB" sz="1100" b="1" kern="100" dirty="0">
                          <a:solidFill>
                            <a:srgbClr val="FFFFFF"/>
                          </a:solidFill>
                          <a:effectLst/>
                        </a:rPr>
                        <a:t>عالية</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solidFill>
                      <a:srgbClr val="C00000"/>
                    </a:solidFill>
                  </a:tcPr>
                </a:tc>
                <a:tc>
                  <a:txBody>
                    <a:bodyPr/>
                    <a:lstStyle/>
                    <a:p>
                      <a:pPr marL="0" marR="0" algn="ctr">
                        <a:lnSpc>
                          <a:spcPct val="115000"/>
                        </a:lnSpc>
                        <a:spcAft>
                          <a:spcPts val="800"/>
                        </a:spcAft>
                        <a:buNone/>
                      </a:pPr>
                      <a:r>
                        <a:rPr lang="en-US" sz="1100" kern="100" dirty="0">
                          <a:effectLst/>
                        </a:rPr>
                        <a:t>FR-16</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c>
                  <a:txBody>
                    <a:bodyPr/>
                    <a:lstStyle/>
                    <a:p>
                      <a:pPr marL="0" marR="0" algn="r" rtl="1">
                        <a:lnSpc>
                          <a:spcPct val="115000"/>
                        </a:lnSpc>
                        <a:spcAft>
                          <a:spcPts val="800"/>
                        </a:spcAft>
                        <a:buNone/>
                      </a:pPr>
                      <a:r>
                        <a:rPr sz="1100"/>
                        <a:t>تصفح الكتالوج</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c>
                  <a:txBody>
                    <a:bodyPr/>
                    <a:lstStyle/>
                    <a:p>
                      <a:pPr marL="0" marR="0" algn="r" rtl="1">
                        <a:lnSpc>
                          <a:spcPct val="115000"/>
                        </a:lnSpc>
                        <a:spcAft>
                          <a:spcPts val="800"/>
                        </a:spcAft>
                        <a:buNone/>
                      </a:pPr>
                      <a:r>
                        <a:rPr sz="1100"/>
                        <a:t>دون تسجيل دخول</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r>
              <a:tr h="330000">
                <a:tc>
                  <a:txBody>
                    <a:bodyPr/>
                    <a:lstStyle/>
                    <a:p>
                      <a:pPr marL="0" marR="0" algn="ctr" rtl="1">
                        <a:lnSpc>
                          <a:spcPct val="115000"/>
                        </a:lnSpc>
                        <a:spcAft>
                          <a:spcPts val="800"/>
                        </a:spcAft>
                        <a:buNone/>
                      </a:pPr>
                      <a:r>
                        <a:rPr lang="ar-LB" sz="1100" b="1" kern="100" dirty="0">
                          <a:solidFill>
                            <a:srgbClr val="FFFFFF"/>
                          </a:solidFill>
                          <a:effectLst/>
                        </a:rPr>
                        <a:t>عالية</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solidFill>
                      <a:srgbClr val="C00000"/>
                    </a:solidFill>
                  </a:tcPr>
                </a:tc>
                <a:tc>
                  <a:txBody>
                    <a:bodyPr/>
                    <a:lstStyle/>
                    <a:p>
                      <a:pPr marL="0" marR="0" algn="ctr">
                        <a:lnSpc>
                          <a:spcPct val="115000"/>
                        </a:lnSpc>
                        <a:spcAft>
                          <a:spcPts val="800"/>
                        </a:spcAft>
                        <a:buNone/>
                      </a:pPr>
                      <a:r>
                        <a:rPr lang="en-US" sz="1100" kern="100" dirty="0">
                          <a:effectLst/>
                        </a:rPr>
                        <a:t>FR-18</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c>
                  <a:txBody>
                    <a:bodyPr/>
                    <a:lstStyle/>
                    <a:p>
                      <a:pPr marL="0" marR="0" algn="r" rtl="1">
                        <a:lnSpc>
                          <a:spcPct val="115000"/>
                        </a:lnSpc>
                        <a:spcAft>
                          <a:spcPts val="800"/>
                        </a:spcAft>
                        <a:buNone/>
                      </a:pPr>
                      <a:r>
                        <a:rPr sz="1100"/>
                        <a:t>الفلترة والبحث</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c>
                  <a:txBody>
                    <a:bodyPr/>
                    <a:lstStyle/>
                    <a:p>
                      <a:pPr marL="0" marR="0" algn="r" rtl="1">
                        <a:lnSpc>
                          <a:spcPct val="115000"/>
                        </a:lnSpc>
                        <a:spcAft>
                          <a:spcPts val="800"/>
                        </a:spcAft>
                        <a:buNone/>
                      </a:pPr>
                      <a:r>
                        <a:rPr sz="1100"/>
                        <a:t>سعر، موقع، حالة، نوع، وقود، نص</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r>
              <a:tr h="330000">
                <a:tc>
                  <a:txBody>
                    <a:bodyPr/>
                    <a:lstStyle/>
                    <a:p>
                      <a:pPr marL="0" marR="0" algn="ctr" rtl="1">
                        <a:lnSpc>
                          <a:spcPct val="115000"/>
                        </a:lnSpc>
                        <a:spcAft>
                          <a:spcPts val="800"/>
                        </a:spcAft>
                        <a:buNone/>
                      </a:pPr>
                      <a:r>
                        <a:rPr lang="ar-LB" sz="1100" b="1" kern="100" dirty="0">
                          <a:solidFill>
                            <a:srgbClr val="FFFFFF"/>
                          </a:solidFill>
                          <a:effectLst/>
                        </a:rPr>
                        <a:t>عالية</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solidFill>
                      <a:srgbClr val="C00000"/>
                    </a:solidFill>
                  </a:tcPr>
                </a:tc>
                <a:tc>
                  <a:txBody>
                    <a:bodyPr/>
                    <a:lstStyle/>
                    <a:p>
                      <a:pPr marL="0" marR="0" algn="ctr">
                        <a:lnSpc>
                          <a:spcPct val="115000"/>
                        </a:lnSpc>
                        <a:spcAft>
                          <a:spcPts val="800"/>
                        </a:spcAft>
                        <a:buNone/>
                      </a:pPr>
                      <a:r>
                        <a:rPr lang="en-US" sz="1100" kern="100" dirty="0">
                          <a:effectLst/>
                        </a:rPr>
                        <a:t>FR-20</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c>
                  <a:txBody>
                    <a:bodyPr/>
                    <a:lstStyle/>
                    <a:p>
                      <a:pPr marL="0" marR="0" algn="r" rtl="1">
                        <a:lnSpc>
                          <a:spcPct val="115000"/>
                        </a:lnSpc>
                        <a:spcAft>
                          <a:spcPts val="800"/>
                        </a:spcAft>
                        <a:buNone/>
                      </a:pPr>
                      <a:r>
                        <a:rPr sz="1100"/>
                        <a:t>إرسال طلب</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c>
                  <a:txBody>
                    <a:bodyPr/>
                    <a:lstStyle/>
                    <a:p>
                      <a:pPr marL="0" marR="0" algn="r" rtl="1">
                        <a:lnSpc>
                          <a:spcPct val="115000"/>
                        </a:lnSpc>
                        <a:spcAft>
                          <a:spcPts val="800"/>
                        </a:spcAft>
                        <a:buNone/>
                      </a:pPr>
                      <a:r>
                        <a:rPr sz="1100"/>
                        <a:t>معاينة أو استئجار أو شراء بتاريخ مفضل</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r>
              <a:tr h="330000">
                <a:tc>
                  <a:txBody>
                    <a:bodyPr/>
                    <a:lstStyle/>
                    <a:p>
                      <a:pPr marL="0" marR="0" algn="ctr" rtl="1">
                        <a:lnSpc>
                          <a:spcPct val="115000"/>
                        </a:lnSpc>
                        <a:spcAft>
                          <a:spcPts val="800"/>
                        </a:spcAft>
                        <a:buNone/>
                      </a:pPr>
                      <a:r>
                        <a:rPr lang="ar-LB" sz="1100" b="1" kern="100" dirty="0">
                          <a:solidFill>
                            <a:srgbClr val="FFFFFF"/>
                          </a:solidFill>
                          <a:effectLst/>
                        </a:rPr>
                        <a:t>عالية</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solidFill>
                      <a:srgbClr val="C00000"/>
                    </a:solidFill>
                  </a:tcPr>
                </a:tc>
                <a:tc>
                  <a:txBody>
                    <a:bodyPr/>
                    <a:lstStyle/>
                    <a:p>
                      <a:pPr marL="0" marR="0" algn="ctr">
                        <a:lnSpc>
                          <a:spcPct val="115000"/>
                        </a:lnSpc>
                        <a:spcAft>
                          <a:spcPts val="800"/>
                        </a:spcAft>
                        <a:buNone/>
                      </a:pPr>
                      <a:r>
                        <a:rPr lang="en-US" sz="1100" kern="100" dirty="0">
                          <a:effectLst/>
                        </a:rPr>
                        <a:t>FR-24</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c>
                  <a:txBody>
                    <a:bodyPr/>
                    <a:lstStyle/>
                    <a:p>
                      <a:pPr marL="0" marR="0" algn="r" rtl="1">
                        <a:lnSpc>
                          <a:spcPct val="115000"/>
                        </a:lnSpc>
                        <a:spcAft>
                          <a:spcPts val="800"/>
                        </a:spcAft>
                        <a:buNone/>
                      </a:pPr>
                      <a:r>
                        <a:rPr sz="1100"/>
                        <a:t>تحديث حالة الطلب</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c>
                  <a:txBody>
                    <a:bodyPr/>
                    <a:lstStyle/>
                    <a:p>
                      <a:pPr marL="0" marR="0" algn="r" rtl="1">
                        <a:lnSpc>
                          <a:spcPct val="115000"/>
                        </a:lnSpc>
                        <a:spcAft>
                          <a:spcPts val="800"/>
                        </a:spcAft>
                        <a:buNone/>
                      </a:pPr>
                      <a:r>
                        <a:rPr sz="1100"/>
                        <a:t>قبول أو رفض ثم إكمال</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r>
              <a:tr h="330000">
                <a:tc>
                  <a:txBody>
                    <a:bodyPr/>
                    <a:lstStyle/>
                    <a:p>
                      <a:pPr marL="0" marR="0" algn="ctr" rtl="1">
                        <a:lnSpc>
                          <a:spcPct val="115000"/>
                        </a:lnSpc>
                        <a:spcAft>
                          <a:spcPts val="800"/>
                        </a:spcAft>
                        <a:buNone/>
                      </a:pPr>
                      <a:r>
                        <a:rPr lang="ar-LB" sz="1100" b="1" kern="100" dirty="0">
                          <a:solidFill>
                            <a:srgbClr val="FFFFFF"/>
                          </a:solidFill>
                          <a:effectLst/>
                        </a:rPr>
                        <a:t>متوسطة</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solidFill>
                      <a:srgbClr val="BF8F00"/>
                    </a:solidFill>
                  </a:tcPr>
                </a:tc>
                <a:tc>
                  <a:txBody>
                    <a:bodyPr/>
                    <a:lstStyle/>
                    <a:p>
                      <a:pPr marL="0" marR="0" algn="ctr">
                        <a:lnSpc>
                          <a:spcPct val="115000"/>
                        </a:lnSpc>
                        <a:spcAft>
                          <a:spcPts val="800"/>
                        </a:spcAft>
                        <a:buNone/>
                      </a:pPr>
                      <a:r>
                        <a:rPr lang="en-US" sz="1100" kern="100" dirty="0">
                          <a:effectLst/>
                        </a:rPr>
                        <a:t>FR-28</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c>
                  <a:txBody>
                    <a:bodyPr/>
                    <a:lstStyle/>
                    <a:p>
                      <a:pPr marL="0" marR="0" algn="r" rtl="1">
                        <a:lnSpc>
                          <a:spcPct val="115000"/>
                        </a:lnSpc>
                        <a:spcAft>
                          <a:spcPts val="800"/>
                        </a:spcAft>
                        <a:buNone/>
                      </a:pPr>
                      <a:r>
                        <a:rPr sz="1100"/>
                        <a:t>الإشعارات</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c>
                  <a:txBody>
                    <a:bodyPr/>
                    <a:lstStyle/>
                    <a:p>
                      <a:pPr marL="0" marR="0" algn="r" rtl="1">
                        <a:lnSpc>
                          <a:spcPct val="115000"/>
                        </a:lnSpc>
                        <a:spcAft>
                          <a:spcPts val="800"/>
                        </a:spcAft>
                        <a:buNone/>
                      </a:pPr>
                      <a:r>
                        <a:rPr sz="1100"/>
                        <a:t>للمكتب وللزبون مع عداد</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r>
              <a:tr h="330000">
                <a:tc>
                  <a:txBody>
                    <a:bodyPr/>
                    <a:lstStyle/>
                    <a:p>
                      <a:pPr marL="0" marR="0" algn="ctr" rtl="1">
                        <a:lnSpc>
                          <a:spcPct val="115000"/>
                        </a:lnSpc>
                        <a:spcAft>
                          <a:spcPts val="800"/>
                        </a:spcAft>
                        <a:buNone/>
                      </a:pPr>
                      <a:r>
                        <a:rPr lang="ar-LB" sz="1100" b="1" kern="100" dirty="0">
                          <a:solidFill>
                            <a:srgbClr val="FFFFFF"/>
                          </a:solidFill>
                          <a:effectLst/>
                        </a:rPr>
                        <a:t>منخفضة</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solidFill>
                      <a:srgbClr val="008000"/>
                    </a:solidFill>
                  </a:tcPr>
                </a:tc>
                <a:tc>
                  <a:txBody>
                    <a:bodyPr/>
                    <a:lstStyle/>
                    <a:p>
                      <a:pPr marL="0" marR="0" algn="ctr">
                        <a:lnSpc>
                          <a:spcPct val="115000"/>
                        </a:lnSpc>
                        <a:spcAft>
                          <a:spcPts val="800"/>
                        </a:spcAft>
                        <a:buNone/>
                      </a:pPr>
                      <a:r>
                        <a:rPr lang="en-US" sz="1100" kern="100" dirty="0">
                          <a:effectLst/>
                        </a:rPr>
                        <a:t>FR-32</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c>
                  <a:txBody>
                    <a:bodyPr/>
                    <a:lstStyle/>
                    <a:p>
                      <a:pPr marL="0" marR="0" algn="r" rtl="1">
                        <a:lnSpc>
                          <a:spcPct val="115000"/>
                        </a:lnSpc>
                        <a:spcAft>
                          <a:spcPts val="800"/>
                        </a:spcAft>
                        <a:buNone/>
                      </a:pPr>
                      <a:r>
                        <a:rPr sz="1100"/>
                        <a:t>إحصاءات النظام</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c>
                  <a:txBody>
                    <a:bodyPr/>
                    <a:lstStyle/>
                    <a:p>
                      <a:pPr marL="0" marR="0" algn="r" rtl="1">
                        <a:lnSpc>
                          <a:spcPct val="115000"/>
                        </a:lnSpc>
                        <a:spcAft>
                          <a:spcPts val="800"/>
                        </a:spcAft>
                        <a:buNone/>
                      </a:pPr>
                      <a:r>
                        <a:rPr sz="1100"/>
                        <a:t>مكاتب، سيارات، زبائن، طلبات</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F5F1D80-E922-4C56-BACD-EEFC21DCFF81}" type="datetime1">
              <a:rPr lang="en-US" smtClean="0"/>
            </a:fld>
            <a:endParaRPr lang="en-US"/>
          </a:p>
        </p:txBody>
      </p:sp>
      <p:sp>
        <p:nvSpPr>
          <p:cNvPr id="5" name="Footer Placeholder 4"/>
          <p:cNvSpPr>
            <a:spLocks noGrp="1"/>
          </p:cNvSpPr>
          <p:nvPr>
            <p:ph type="ftr" sz="quarter" idx="11"/>
          </p:nvPr>
        </p:nvSpPr>
        <p:spPr/>
        <p:txBody>
          <a:bodyPr/>
          <a:lstStyle/>
          <a:p>
            <a:pPr rtl="1"/>
            <a:r>
              <a:rPr lang="ar-LB"/>
              <a:t>مشروع فصلي - Car Rental Platform</a:t>
            </a:r>
            <a:endParaRPr lang="en-US"/>
          </a:p>
        </p:txBody>
      </p:sp>
      <p:sp>
        <p:nvSpPr>
          <p:cNvPr id="6" name="Slide Number Placeholder 5"/>
          <p:cNvSpPr>
            <a:spLocks noGrp="1"/>
          </p:cNvSpPr>
          <p:nvPr>
            <p:ph type="sldNum" sz="quarter" idx="12"/>
          </p:nvPr>
        </p:nvSpPr>
        <p:spPr/>
        <p:txBody>
          <a:bodyPr/>
          <a:lstStyle/>
          <a:p>
            <a:r>
              <a:rPr sz="1000">
                <a:solidFill>
                  <a:srgbClr val="59697C"/>
                </a:solidFill>
                <a:latin typeface="Arial" panose="020B0604020202020204"/>
              </a:rPr>
              <a:t>10</a:t>
            </a:r>
            <a:endParaRPr sz="1000">
              <a:solidFill>
                <a:srgbClr val="59697C"/>
              </a:solidFill>
              <a:latin typeface="Arial" panose="020B0604020202020204"/>
            </a:endParaRPr>
          </a:p>
        </p:txBody>
      </p:sp>
      <p:sp>
        <p:nvSpPr>
          <p:cNvPr id="9" name="TextBox 8"/>
          <p:cNvSpPr txBox="1"/>
          <p:nvPr/>
        </p:nvSpPr>
        <p:spPr>
          <a:xfrm>
            <a:off x="5141214" y="545483"/>
            <a:ext cx="6094476" cy="490199"/>
          </a:xfrm>
          <a:prstGeom prst="rect">
            <a:avLst/>
          </a:prstGeom>
          <a:noFill/>
        </p:spPr>
        <p:txBody>
          <a:bodyPr wrap="square">
            <a:spAutoFit/>
          </a:bodyPr>
          <a:lstStyle/>
          <a:p>
            <a:pPr marL="0" marR="0" algn="r" rtl="1">
              <a:lnSpc>
                <a:spcPct val="115000"/>
              </a:lnSpc>
              <a:spcAft>
                <a:spcPts val="800"/>
              </a:spcAft>
              <a:buNone/>
            </a:pPr>
            <a:r>
              <a:rPr lang="ar-LB" sz="2400" b="1" dirty="0">
                <a:solidFill>
                  <a:srgbClr val="2F5496"/>
                </a:solidFill>
                <a:latin typeface="Calibri Light" panose="020F0302020204030204" pitchFamily="34" charset="0"/>
                <a:cs typeface="Times New Roman" panose="02020603050405020304" pitchFamily="18" charset="0"/>
              </a:rPr>
              <a:t>منهجية التطوير:</a:t>
            </a:r>
            <a:endParaRPr lang="en-US" sz="2400" b="1" dirty="0">
              <a:solidFill>
                <a:srgbClr val="2F5496"/>
              </a:solidFill>
              <a:latin typeface="Calibri Light" panose="020F0302020204030204" pitchFamily="34" charset="0"/>
              <a:cs typeface="Times New Roman" panose="02020603050405020304" pitchFamily="18" charset="0"/>
            </a:endParaRPr>
          </a:p>
        </p:txBody>
      </p:sp>
      <p:sp>
        <p:nvSpPr>
          <p:cNvPr id="10" name="TextBox 9"/>
          <p:cNvSpPr txBox="1"/>
          <p:nvPr/>
        </p:nvSpPr>
        <p:spPr>
          <a:xfrm>
            <a:off x="5600000" y="1150000"/>
            <a:ext cx="6000000" cy="5000000"/>
          </a:xfrm>
          <a:prstGeom prst="rect">
            <a:avLst/>
          </a:prstGeom>
          <a:noFill/>
        </p:spPr>
        <p:txBody>
          <a:bodyPr wrap="square">
            <a:spAutoFit/>
          </a:bodyPr>
          <a:lstStyle/>
          <a:p>
            <a:pPr marR="285750" indent="-285750" algn="r" rtl="1">
              <a:spcAft>
                <a:spcPts val="1000"/>
              </a:spcAft>
              <a:buFont typeface="Arial" panose="020B0604020202020204"/>
              <a:buChar char="•"/>
            </a:pPr>
            <a:r>
              <a:rPr sz="1600" b="1">
                <a:solidFill>
                  <a:srgbClr val="1F3864"/>
                </a:solidFill>
              </a:rPr>
              <a:t>Waterfall للتخطيط: </a:t>
            </a:r>
            <a:r>
              <a:rPr sz="1600">
                <a:solidFill>
                  <a:srgbClr val="262626"/>
                </a:solidFill>
              </a:rPr>
              <a:t>تعريف المشكلة، PRD، مخططات UML و ERD، تصميم الواجهات، ثم موافقة المشرف.</a:t>
            </a:r>
            <a:endParaRPr sz="1600">
              <a:solidFill>
                <a:srgbClr val="262626"/>
              </a:solidFill>
            </a:endParaRPr>
          </a:p>
          <a:p>
            <a:pPr marR="285750" indent="-285750" algn="r" rtl="1">
              <a:spcAft>
                <a:spcPts val="1000"/>
              </a:spcAft>
              <a:buFont typeface="Arial" panose="020B0604020202020204"/>
              <a:buChar char="•"/>
            </a:pPr>
            <a:r>
              <a:rPr sz="1600" b="1">
                <a:solidFill>
                  <a:srgbClr val="1F3864"/>
                </a:solidFill>
              </a:rPr>
              <a:t>Incremental للتسليم: </a:t>
            </a:r>
            <a:r>
              <a:rPr sz="1600">
                <a:solidFill>
                  <a:srgbClr val="262626"/>
                </a:solidFill>
              </a:rPr>
              <a:t>ست مراحل: الأساسات، المخزون والكتالوج، الطلبات والإشعارات، لوحة المدير، الاختبار والتوثيق.</a:t>
            </a:r>
            <a:endParaRPr sz="1600">
              <a:solidFill>
                <a:srgbClr val="262626"/>
              </a:solidFill>
            </a:endParaRPr>
          </a:p>
          <a:p>
            <a:pPr marR="285750" indent="-285750" algn="r" rtl="1">
              <a:spcAft>
                <a:spcPts val="1000"/>
              </a:spcAft>
              <a:buFont typeface="Arial" panose="020B0604020202020204"/>
              <a:buChar char="•"/>
            </a:pPr>
            <a:r>
              <a:rPr sz="1600" b="1">
                <a:solidFill>
                  <a:srgbClr val="1F3864"/>
                </a:solidFill>
              </a:rPr>
              <a:t>كل مرحلة: </a:t>
            </a:r>
            <a:r>
              <a:rPr sz="1600">
                <a:solidFill>
                  <a:srgbClr val="262626"/>
                </a:solidFill>
              </a:rPr>
              <a:t>تنفيذ بالطبقات ثم اختبارات pytest ثم عرض ومراجعة.</a:t>
            </a:r>
            <a:endParaRPr sz="1600">
              <a:solidFill>
                <a:srgbClr val="262626"/>
              </a:solidFill>
            </a:endParaRPr>
          </a:p>
          <a:p>
            <a:pPr marR="285750" indent="-285750" algn="r" rtl="1">
              <a:spcAft>
                <a:spcPts val="1000"/>
              </a:spcAft>
              <a:buFont typeface="Arial" panose="020B0604020202020204"/>
              <a:buChar char="•"/>
            </a:pPr>
            <a:r>
              <a:rPr sz="1600" b="1">
                <a:solidFill>
                  <a:srgbClr val="1F3864"/>
                </a:solidFill>
              </a:rPr>
              <a:t>لماذا؟: </a:t>
            </a:r>
            <a:r>
              <a:rPr sz="1600">
                <a:solidFill>
                  <a:srgbClr val="262626"/>
                </a:solidFill>
              </a:rPr>
              <a:t>تثبيت المتطلبات مبكرًا، نسخة عاملة بعد كل مرحلة، ومرونة أمام ضغط الامتحانات وتضخم النطاق.</a:t>
            </a:r>
            <a:endParaRPr sz="1600">
              <a:solidFill>
                <a:srgbClr val="262626"/>
              </a:solidFill>
            </a:endParaRPr>
          </a:p>
        </p:txBody>
      </p:sp>
      <p:pic>
        <p:nvPicPr>
          <p:cNvPr id="11" name="Picture 10" descr="23_methodology.png"/>
          <p:cNvPicPr>
            <a:picLocks noChangeAspect="1"/>
          </p:cNvPicPr>
          <p:nvPr/>
        </p:nvPicPr>
        <p:blipFill>
          <a:blip r:embed="rId1"/>
          <a:stretch>
            <a:fillRect/>
          </a:stretch>
        </p:blipFill>
        <p:spPr>
          <a:xfrm>
            <a:off x="600000" y="1100000"/>
            <a:ext cx="4890801" cy="5000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F5F1D80-E922-4C56-BACD-EEFC21DCFF81}" type="datetime1">
              <a:rPr lang="en-US" smtClean="0"/>
            </a:fld>
            <a:endParaRPr lang="en-US"/>
          </a:p>
        </p:txBody>
      </p:sp>
      <p:sp>
        <p:nvSpPr>
          <p:cNvPr id="5" name="Footer Placeholder 4"/>
          <p:cNvSpPr>
            <a:spLocks noGrp="1"/>
          </p:cNvSpPr>
          <p:nvPr>
            <p:ph type="ftr" sz="quarter" idx="11"/>
          </p:nvPr>
        </p:nvSpPr>
        <p:spPr/>
        <p:txBody>
          <a:bodyPr/>
          <a:lstStyle/>
          <a:p>
            <a:pPr rtl="1"/>
            <a:r>
              <a:rPr lang="ar-LB"/>
              <a:t>مشروع فصلي - Car Rental Platform</a:t>
            </a:r>
            <a:endParaRPr lang="en-US"/>
          </a:p>
        </p:txBody>
      </p:sp>
      <p:sp>
        <p:nvSpPr>
          <p:cNvPr id="6" name="Slide Number Placeholder 5"/>
          <p:cNvSpPr>
            <a:spLocks noGrp="1"/>
          </p:cNvSpPr>
          <p:nvPr>
            <p:ph type="sldNum" sz="quarter" idx="12"/>
          </p:nvPr>
        </p:nvSpPr>
        <p:spPr/>
        <p:txBody>
          <a:bodyPr/>
          <a:lstStyle/>
          <a:p>
            <a:r>
              <a:rPr sz="1000">
                <a:solidFill>
                  <a:srgbClr val="59697C"/>
                </a:solidFill>
                <a:latin typeface="Arial" panose="020B0604020202020204"/>
              </a:rPr>
              <a:t>11</a:t>
            </a:r>
            <a:endParaRPr sz="1000">
              <a:solidFill>
                <a:srgbClr val="59697C"/>
              </a:solidFill>
              <a:latin typeface="Arial" panose="020B0604020202020204"/>
            </a:endParaRPr>
          </a:p>
        </p:txBody>
      </p:sp>
      <p:sp>
        <p:nvSpPr>
          <p:cNvPr id="7" name="TextBox 6"/>
          <p:cNvSpPr txBox="1"/>
          <p:nvPr/>
        </p:nvSpPr>
        <p:spPr>
          <a:xfrm>
            <a:off x="5433822" y="141993"/>
            <a:ext cx="6094476" cy="490199"/>
          </a:xfrm>
          <a:prstGeom prst="rect">
            <a:avLst/>
          </a:prstGeom>
          <a:noFill/>
        </p:spPr>
        <p:txBody>
          <a:bodyPr wrap="square">
            <a:spAutoFit/>
          </a:bodyPr>
          <a:lstStyle/>
          <a:p>
            <a:pPr algn="r" rtl="1">
              <a:lnSpc>
                <a:spcPct val="115000"/>
              </a:lnSpc>
              <a:spcAft>
                <a:spcPts val="800"/>
              </a:spcAft>
            </a:pPr>
            <a:r>
              <a:rPr lang="ar-LB" sz="2400" b="1" dirty="0">
                <a:solidFill>
                  <a:srgbClr val="2F5496"/>
                </a:solidFill>
                <a:latin typeface="Calibri Light" panose="020F0302020204030204" pitchFamily="34" charset="0"/>
                <a:cs typeface="Times New Roman" panose="02020603050405020304" pitchFamily="18" charset="0"/>
              </a:rPr>
              <a:t>خطة المشروع الزمنية Gantt Chart</a:t>
            </a:r>
            <a:endParaRPr lang="en-US" sz="2400" b="1" dirty="0">
              <a:solidFill>
                <a:srgbClr val="2F5496"/>
              </a:solidFill>
              <a:latin typeface="Calibri Light" panose="020F0302020204030204" pitchFamily="34" charset="0"/>
              <a:cs typeface="Times New Roman" panose="02020603050405020304" pitchFamily="18" charset="0"/>
            </a:endParaRPr>
          </a:p>
        </p:txBody>
      </p:sp>
      <p:pic>
        <p:nvPicPr>
          <p:cNvPr id="8" name="Picture 7" descr="21_gantt_crp.png"/>
          <p:cNvPicPr>
            <a:picLocks noChangeAspect="1"/>
          </p:cNvPicPr>
          <p:nvPr/>
        </p:nvPicPr>
        <p:blipFill>
          <a:blip r:embed="rId1"/>
          <a:stretch>
            <a:fillRect/>
          </a:stretch>
        </p:blipFill>
        <p:spPr>
          <a:xfrm>
            <a:off x="1096000" y="800000"/>
            <a:ext cx="10000000" cy="5125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TextBox 1"/>
          <p:cNvSpPr txBox="1"/>
          <p:nvPr/>
        </p:nvSpPr>
        <p:spPr>
          <a:xfrm>
            <a:off x="502920" y="201168"/>
            <a:ext cx="11201400" cy="475488"/>
          </a:xfrm>
          <a:prstGeom prst="rect">
            <a:avLst/>
          </a:prstGeom>
          <a:noFill/>
        </p:spPr>
        <p:txBody>
          <a:bodyPr wrap="none" lIns="54864" tIns="18288" rIns="54864" bIns="18288" anchor="ctr">
            <a:spAutoFit/>
          </a:bodyPr>
          <a:lstStyle/>
          <a:p>
            <a:pPr algn="r">
              <a:spcAft>
                <a:spcPts val="0"/>
              </a:spcAft>
              <a:defRPr sz="2400" b="1">
                <a:solidFill>
                  <a:srgbClr val="142A43"/>
                </a:solidFill>
                <a:latin typeface="Arial" panose="020B0604020202020204"/>
              </a:defRPr>
            </a:pPr>
            <a:r>
              <a:t>مخطط المعمارية (بالمستوى العالي) | High-Level Architecture</a:t>
            </a:r>
          </a:p>
        </p:txBody>
      </p:sp>
      <p:sp>
        <p:nvSpPr>
          <p:cNvPr id="3" name="Rectangle 2"/>
          <p:cNvSpPr/>
          <p:nvPr/>
        </p:nvSpPr>
        <p:spPr>
          <a:xfrm>
            <a:off x="502920" y="749808"/>
            <a:ext cx="11201400" cy="41148"/>
          </a:xfrm>
          <a:prstGeom prst="rect">
            <a:avLst/>
          </a:prstGeom>
          <a:solidFill>
            <a:srgbClr val="008E99"/>
          </a:solidFill>
          <a:ln>
            <a:solidFill>
              <a:srgbClr val="008E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419088"/>
            <a:ext cx="2743200" cy="201168"/>
          </a:xfrm>
          <a:prstGeom prst="rect">
            <a:avLst/>
          </a:prstGeom>
          <a:noFill/>
        </p:spPr>
        <p:txBody>
          <a:bodyPr wrap="none" lIns="54864" tIns="18288" rIns="54864" bIns="18288" anchor="ctr">
            <a:spAutoFit/>
          </a:bodyPr>
          <a:lstStyle/>
          <a:p>
            <a:pPr algn="l">
              <a:spcAft>
                <a:spcPts val="0"/>
              </a:spcAft>
              <a:defRPr sz="900" b="0">
                <a:solidFill>
                  <a:srgbClr val="697C8C"/>
                </a:solidFill>
                <a:latin typeface="Arial" panose="020B0604020202020204"/>
              </a:defRPr>
            </a:pPr>
            <a:r>
              <a:t>10/29/2026</a:t>
            </a:r>
          </a:p>
        </p:txBody>
      </p:sp>
      <p:sp>
        <p:nvSpPr>
          <p:cNvPr id="5" name="TextBox 4"/>
          <p:cNvSpPr txBox="1"/>
          <p:nvPr/>
        </p:nvSpPr>
        <p:spPr>
          <a:xfrm>
            <a:off x="3657600" y="6419088"/>
            <a:ext cx="4937760" cy="201168"/>
          </a:xfrm>
          <a:prstGeom prst="rect">
            <a:avLst/>
          </a:prstGeom>
          <a:noFill/>
        </p:spPr>
        <p:txBody>
          <a:bodyPr wrap="none" lIns="54864" tIns="18288" rIns="54864" bIns="18288" anchor="ctr">
            <a:spAutoFit/>
          </a:bodyPr>
          <a:lstStyle/>
          <a:p>
            <a:pPr algn="ctr">
              <a:spcAft>
                <a:spcPts val="0"/>
              </a:spcAft>
              <a:defRPr sz="900" b="0">
                <a:solidFill>
                  <a:srgbClr val="697C8C"/>
                </a:solidFill>
                <a:latin typeface="Arial" panose="020B0604020202020204"/>
              </a:defRPr>
            </a:pPr>
            <a:r>
              <a:t>مشروع فصلي - Car Rental Platform</a:t>
            </a:r>
          </a:p>
        </p:txBody>
      </p:sp>
      <p:sp>
        <p:nvSpPr>
          <p:cNvPr id="6" name="TextBox 5"/>
          <p:cNvSpPr txBox="1"/>
          <p:nvPr/>
        </p:nvSpPr>
        <p:spPr>
          <a:xfrm>
            <a:off x="9966960" y="6419088"/>
            <a:ext cx="1645920" cy="201168"/>
          </a:xfrm>
          <a:prstGeom prst="rect">
            <a:avLst/>
          </a:prstGeom>
          <a:noFill/>
        </p:spPr>
        <p:txBody>
          <a:bodyPr wrap="none" lIns="54864" tIns="18288" rIns="54864" bIns="18288" anchor="ctr">
            <a:spAutoFit/>
          </a:bodyPr>
          <a:lstStyle/>
          <a:p>
            <a:r>
              <a:rPr sz="1000">
                <a:solidFill>
                  <a:srgbClr val="59697C"/>
                </a:solidFill>
                <a:latin typeface="Arial" panose="020B0604020202020204"/>
              </a:rPr>
              <a:t>12</a:t>
            </a:r>
            <a:endParaRPr sz="1000">
              <a:solidFill>
                <a:srgbClr val="59697C"/>
              </a:solidFill>
              <a:latin typeface="Arial" panose="020B0604020202020204"/>
            </a:endParaRPr>
          </a:p>
        </p:txBody>
      </p:sp>
      <p:sp>
        <p:nvSpPr>
          <p:cNvPr id="7" name="Rounded Rectangle 6"/>
          <p:cNvSpPr/>
          <p:nvPr/>
        </p:nvSpPr>
        <p:spPr>
          <a:xfrm>
            <a:off x="685800" y="1115568"/>
            <a:ext cx="2331720" cy="987552"/>
          </a:xfrm>
          <a:prstGeom prst="roundRect">
            <a:avLst>
              <a:gd name="adj" fmla="val 12000"/>
            </a:avLst>
          </a:prstGeom>
          <a:solidFill>
            <a:srgbClr val="265B82"/>
          </a:solidFill>
          <a:ln>
            <a:solidFill>
              <a:srgbClr val="265B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1188720"/>
            <a:ext cx="2185415" cy="274320"/>
          </a:xfrm>
          <a:prstGeom prst="rect">
            <a:avLst/>
          </a:prstGeom>
          <a:noFill/>
        </p:spPr>
        <p:txBody>
          <a:bodyPr wrap="none" lIns="54864" tIns="18288" rIns="54864" bIns="18288" anchor="ctr">
            <a:spAutoFit/>
          </a:bodyPr>
          <a:lstStyle/>
          <a:p>
            <a:pPr algn="ctr">
              <a:spcAft>
                <a:spcPts val="0"/>
              </a:spcAft>
              <a:defRPr sz="1500" b="1">
                <a:solidFill>
                  <a:srgbClr val="FFFFFF"/>
                </a:solidFill>
                <a:latin typeface="Arial" panose="020B0604020202020204"/>
              </a:defRPr>
            </a:pPr>
            <a:r>
              <a:t>Presentation Layer</a:t>
            </a:r>
          </a:p>
        </p:txBody>
      </p:sp>
      <p:sp>
        <p:nvSpPr>
          <p:cNvPr id="9" name="TextBox 8"/>
          <p:cNvSpPr txBox="1"/>
          <p:nvPr/>
        </p:nvSpPr>
        <p:spPr>
          <a:xfrm>
            <a:off x="758952" y="1453895"/>
            <a:ext cx="2185415" cy="228600"/>
          </a:xfrm>
          <a:prstGeom prst="rect">
            <a:avLst/>
          </a:prstGeom>
          <a:noFill/>
        </p:spPr>
        <p:txBody>
          <a:bodyPr wrap="none" lIns="54864" tIns="18288" rIns="54864" bIns="18288" anchor="ctr">
            <a:spAutoFit/>
          </a:bodyPr>
          <a:lstStyle/>
          <a:p>
            <a:pPr algn="ctr">
              <a:spcAft>
                <a:spcPts val="0"/>
              </a:spcAft>
              <a:defRPr sz="1200" b="1">
                <a:solidFill>
                  <a:srgbClr val="FFFFFF"/>
                </a:solidFill>
                <a:latin typeface="Arial" panose="020B0604020202020204"/>
              </a:defRPr>
            </a:pPr>
            <a:r>
              <a:t>طبقة العرض</a:t>
            </a:r>
          </a:p>
        </p:txBody>
      </p:sp>
      <p:sp>
        <p:nvSpPr>
          <p:cNvPr id="10" name="TextBox 9"/>
          <p:cNvSpPr txBox="1"/>
          <p:nvPr/>
        </p:nvSpPr>
        <p:spPr>
          <a:xfrm>
            <a:off x="758952" y="1709928"/>
            <a:ext cx="2185415" cy="246888"/>
          </a:xfrm>
          <a:prstGeom prst="rect">
            <a:avLst/>
          </a:prstGeom>
          <a:noFill/>
        </p:spPr>
        <p:txBody>
          <a:bodyPr wrap="none" lIns="54864" tIns="18288" rIns="54864" bIns="18288" anchor="ctr">
            <a:spAutoFit/>
          </a:bodyPr>
          <a:lstStyle/>
          <a:p>
            <a:pPr algn="ctr">
              <a:spcAft>
                <a:spcPts val="0"/>
              </a:spcAft>
              <a:defRPr sz="900" b="0">
                <a:solidFill>
                  <a:srgbClr val="FFFFFF"/>
                </a:solidFill>
                <a:latin typeface="Arial" panose="020B0604020202020204"/>
              </a:defRPr>
            </a:pPr>
            <a:r>
              <a:t>Web UI • HTML/CSS/JS • Jinja2</a:t>
            </a:r>
          </a:p>
        </p:txBody>
      </p:sp>
      <p:sp>
        <p:nvSpPr>
          <p:cNvPr id="11" name="Rounded Rectangle 10"/>
          <p:cNvSpPr/>
          <p:nvPr/>
        </p:nvSpPr>
        <p:spPr>
          <a:xfrm>
            <a:off x="3246120" y="1115568"/>
            <a:ext cx="2331720" cy="987552"/>
          </a:xfrm>
          <a:prstGeom prst="roundRect">
            <a:avLst>
              <a:gd name="adj" fmla="val 12000"/>
            </a:avLst>
          </a:prstGeom>
          <a:solidFill>
            <a:srgbClr val="142A43"/>
          </a:solidFill>
          <a:ln>
            <a:solidFill>
              <a:srgbClr val="14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19272" y="1188720"/>
            <a:ext cx="2185415" cy="274320"/>
          </a:xfrm>
          <a:prstGeom prst="rect">
            <a:avLst/>
          </a:prstGeom>
          <a:noFill/>
        </p:spPr>
        <p:txBody>
          <a:bodyPr wrap="none" lIns="54864" tIns="18288" rIns="54864" bIns="18288" anchor="ctr">
            <a:spAutoFit/>
          </a:bodyPr>
          <a:lstStyle/>
          <a:p>
            <a:pPr algn="ctr">
              <a:spcAft>
                <a:spcPts val="0"/>
              </a:spcAft>
              <a:defRPr sz="1500" b="1">
                <a:solidFill>
                  <a:srgbClr val="FFFFFF"/>
                </a:solidFill>
                <a:latin typeface="Arial" panose="020B0604020202020204"/>
              </a:defRPr>
            </a:pPr>
            <a:r>
              <a:t>API / Controllers</a:t>
            </a:r>
          </a:p>
        </p:txBody>
      </p:sp>
      <p:sp>
        <p:nvSpPr>
          <p:cNvPr id="13" name="TextBox 12"/>
          <p:cNvSpPr txBox="1"/>
          <p:nvPr/>
        </p:nvSpPr>
        <p:spPr>
          <a:xfrm>
            <a:off x="3319272" y="1453895"/>
            <a:ext cx="2185415" cy="228600"/>
          </a:xfrm>
          <a:prstGeom prst="rect">
            <a:avLst/>
          </a:prstGeom>
          <a:noFill/>
        </p:spPr>
        <p:txBody>
          <a:bodyPr wrap="none" lIns="54864" tIns="18288" rIns="54864" bIns="18288" anchor="ctr">
            <a:spAutoFit/>
          </a:bodyPr>
          <a:lstStyle/>
          <a:p>
            <a:pPr algn="ctr">
              <a:spcAft>
                <a:spcPts val="0"/>
              </a:spcAft>
              <a:defRPr sz="1200" b="1">
                <a:solidFill>
                  <a:srgbClr val="FFFFFF"/>
                </a:solidFill>
                <a:latin typeface="Arial" panose="020B0604020202020204"/>
              </a:defRPr>
            </a:pPr>
            <a:r>
              <a:t>المتحكمات</a:t>
            </a:r>
          </a:p>
        </p:txBody>
      </p:sp>
      <p:sp>
        <p:nvSpPr>
          <p:cNvPr id="14" name="TextBox 13"/>
          <p:cNvSpPr txBox="1"/>
          <p:nvPr/>
        </p:nvSpPr>
        <p:spPr>
          <a:xfrm>
            <a:off x="3319272" y="1709928"/>
            <a:ext cx="2185415" cy="246888"/>
          </a:xfrm>
          <a:prstGeom prst="rect">
            <a:avLst/>
          </a:prstGeom>
          <a:noFill/>
        </p:spPr>
        <p:txBody>
          <a:bodyPr wrap="none" lIns="54864" tIns="18288" rIns="54864" bIns="18288" anchor="ctr">
            <a:spAutoFit/>
          </a:bodyPr>
          <a:lstStyle/>
          <a:p>
            <a:pPr algn="ctr">
              <a:spcAft>
                <a:spcPts val="0"/>
              </a:spcAft>
              <a:defRPr sz="900" b="0">
                <a:solidFill>
                  <a:srgbClr val="FFFFFF"/>
                </a:solidFill>
                <a:latin typeface="Arial" panose="020B0604020202020204"/>
              </a:defRPr>
            </a:pPr>
            <a:r>
              <a:t>Flask Routes • Validation</a:t>
            </a:r>
          </a:p>
        </p:txBody>
      </p:sp>
      <p:sp>
        <p:nvSpPr>
          <p:cNvPr id="15" name="Rounded Rectangle 14"/>
          <p:cNvSpPr/>
          <p:nvPr/>
        </p:nvSpPr>
        <p:spPr>
          <a:xfrm>
            <a:off x="5806440" y="1115568"/>
            <a:ext cx="2331720" cy="987552"/>
          </a:xfrm>
          <a:prstGeom prst="roundRect">
            <a:avLst>
              <a:gd name="adj" fmla="val 12000"/>
            </a:avLst>
          </a:prstGeom>
          <a:solidFill>
            <a:srgbClr val="008E99"/>
          </a:solidFill>
          <a:ln>
            <a:solidFill>
              <a:srgbClr val="008E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79592" y="1188720"/>
            <a:ext cx="2185415" cy="274320"/>
          </a:xfrm>
          <a:prstGeom prst="rect">
            <a:avLst/>
          </a:prstGeom>
          <a:noFill/>
        </p:spPr>
        <p:txBody>
          <a:bodyPr wrap="none" lIns="54864" tIns="18288" rIns="54864" bIns="18288" anchor="ctr">
            <a:spAutoFit/>
          </a:bodyPr>
          <a:lstStyle/>
          <a:p>
            <a:pPr algn="ctr">
              <a:spcAft>
                <a:spcPts val="0"/>
              </a:spcAft>
              <a:defRPr sz="1500" b="1">
                <a:solidFill>
                  <a:srgbClr val="FFFFFF"/>
                </a:solidFill>
                <a:latin typeface="Arial" panose="020B0604020202020204"/>
              </a:defRPr>
            </a:pPr>
            <a:r>
              <a:t>Service Layer</a:t>
            </a:r>
          </a:p>
        </p:txBody>
      </p:sp>
      <p:sp>
        <p:nvSpPr>
          <p:cNvPr id="17" name="TextBox 16"/>
          <p:cNvSpPr txBox="1"/>
          <p:nvPr/>
        </p:nvSpPr>
        <p:spPr>
          <a:xfrm>
            <a:off x="5879592" y="1453895"/>
            <a:ext cx="2185415" cy="228600"/>
          </a:xfrm>
          <a:prstGeom prst="rect">
            <a:avLst/>
          </a:prstGeom>
          <a:noFill/>
        </p:spPr>
        <p:txBody>
          <a:bodyPr wrap="none" lIns="54864" tIns="18288" rIns="54864" bIns="18288" anchor="ctr">
            <a:spAutoFit/>
          </a:bodyPr>
          <a:lstStyle/>
          <a:p>
            <a:pPr algn="ctr">
              <a:spcAft>
                <a:spcPts val="0"/>
              </a:spcAft>
              <a:defRPr sz="1200" b="1">
                <a:solidFill>
                  <a:srgbClr val="FFFFFF"/>
                </a:solidFill>
                <a:latin typeface="Arial" panose="020B0604020202020204"/>
              </a:defRPr>
            </a:pPr>
            <a:r>
              <a:t>طبقة الخدمات</a:t>
            </a:r>
          </a:p>
        </p:txBody>
      </p:sp>
      <p:sp>
        <p:nvSpPr>
          <p:cNvPr id="18" name="TextBox 17"/>
          <p:cNvSpPr txBox="1"/>
          <p:nvPr/>
        </p:nvSpPr>
        <p:spPr>
          <a:xfrm>
            <a:off x="5879592" y="1709928"/>
            <a:ext cx="2185415" cy="246888"/>
          </a:xfrm>
          <a:prstGeom prst="rect">
            <a:avLst/>
          </a:prstGeom>
          <a:noFill/>
        </p:spPr>
        <p:txBody>
          <a:bodyPr wrap="none" lIns="54864" tIns="18288" rIns="54864" bIns="18288" anchor="ctr">
            <a:spAutoFit/>
          </a:bodyPr>
          <a:lstStyle/>
          <a:p>
            <a:pPr algn="ctr">
              <a:spcAft>
                <a:spcPts val="0"/>
              </a:spcAft>
              <a:defRPr sz="900" b="0">
                <a:solidFill>
                  <a:srgbClr val="FFFFFF"/>
                </a:solidFill>
                <a:latin typeface="Arial" panose="020B0604020202020204"/>
              </a:defRPr>
            </a:pPr>
            <a:r>
              <a:t>Business Rules • Authorization</a:t>
            </a:r>
          </a:p>
        </p:txBody>
      </p:sp>
      <p:sp>
        <p:nvSpPr>
          <p:cNvPr id="19" name="Rounded Rectangle 18"/>
          <p:cNvSpPr/>
          <p:nvPr/>
        </p:nvSpPr>
        <p:spPr>
          <a:xfrm>
            <a:off x="8366760" y="1115568"/>
            <a:ext cx="3063240" cy="987552"/>
          </a:xfrm>
          <a:prstGeom prst="roundRect">
            <a:avLst>
              <a:gd name="adj" fmla="val 12000"/>
            </a:avLst>
          </a:prstGeom>
          <a:solidFill>
            <a:srgbClr val="265B82"/>
          </a:solidFill>
          <a:ln>
            <a:solidFill>
              <a:srgbClr val="265B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39912" y="1188720"/>
            <a:ext cx="2916936" cy="274320"/>
          </a:xfrm>
          <a:prstGeom prst="rect">
            <a:avLst/>
          </a:prstGeom>
          <a:noFill/>
        </p:spPr>
        <p:txBody>
          <a:bodyPr wrap="none" lIns="54864" tIns="18288" rIns="54864" bIns="18288" anchor="ctr">
            <a:spAutoFit/>
          </a:bodyPr>
          <a:lstStyle/>
          <a:p>
            <a:pPr algn="ctr">
              <a:spcAft>
                <a:spcPts val="0"/>
              </a:spcAft>
              <a:defRPr sz="1500" b="1">
                <a:solidFill>
                  <a:srgbClr val="FFFFFF"/>
                </a:solidFill>
                <a:latin typeface="Arial" panose="020B0604020202020204"/>
              </a:defRPr>
            </a:pPr>
            <a:r>
              <a:t>Data Access Layer</a:t>
            </a:r>
          </a:p>
        </p:txBody>
      </p:sp>
      <p:sp>
        <p:nvSpPr>
          <p:cNvPr id="21" name="TextBox 20"/>
          <p:cNvSpPr txBox="1"/>
          <p:nvPr/>
        </p:nvSpPr>
        <p:spPr>
          <a:xfrm>
            <a:off x="8439912" y="1453895"/>
            <a:ext cx="2916936" cy="228600"/>
          </a:xfrm>
          <a:prstGeom prst="rect">
            <a:avLst/>
          </a:prstGeom>
          <a:noFill/>
        </p:spPr>
        <p:txBody>
          <a:bodyPr wrap="none" lIns="54864" tIns="18288" rIns="54864" bIns="18288" anchor="ctr">
            <a:spAutoFit/>
          </a:bodyPr>
          <a:lstStyle/>
          <a:p>
            <a:pPr algn="ctr">
              <a:spcAft>
                <a:spcPts val="0"/>
              </a:spcAft>
              <a:defRPr sz="1200" b="1">
                <a:solidFill>
                  <a:srgbClr val="FFFFFF"/>
                </a:solidFill>
                <a:latin typeface="Arial" panose="020B0604020202020204"/>
              </a:defRPr>
            </a:pPr>
            <a:r>
              <a:t>طبقة الوصول للبيانات</a:t>
            </a:r>
          </a:p>
        </p:txBody>
      </p:sp>
      <p:sp>
        <p:nvSpPr>
          <p:cNvPr id="22" name="TextBox 21"/>
          <p:cNvSpPr txBox="1"/>
          <p:nvPr/>
        </p:nvSpPr>
        <p:spPr>
          <a:xfrm>
            <a:off x="8439912" y="1709928"/>
            <a:ext cx="2916936" cy="246888"/>
          </a:xfrm>
          <a:prstGeom prst="rect">
            <a:avLst/>
          </a:prstGeom>
          <a:noFill/>
        </p:spPr>
        <p:txBody>
          <a:bodyPr wrap="none" lIns="54864" tIns="18288" rIns="54864" bIns="18288" anchor="ctr">
            <a:spAutoFit/>
          </a:bodyPr>
          <a:lstStyle/>
          <a:p>
            <a:pPr algn="ctr">
              <a:spcAft>
                <a:spcPts val="0"/>
              </a:spcAft>
              <a:defRPr sz="900" b="0">
                <a:solidFill>
                  <a:srgbClr val="FFFFFF"/>
                </a:solidFill>
                <a:latin typeface="Arial" panose="020B0604020202020204"/>
              </a:defRPr>
            </a:pPr>
            <a:r>
              <a:t>SQLAlchemy ORM • Repositories</a:t>
            </a:r>
          </a:p>
        </p:txBody>
      </p:sp>
      <p:cxnSp>
        <p:nvCxnSpPr>
          <p:cNvPr id="23" name="Connector 22"/>
          <p:cNvCxnSpPr/>
          <p:nvPr/>
        </p:nvCxnSpPr>
        <p:spPr>
          <a:xfrm>
            <a:off x="3017520" y="1609344"/>
            <a:ext cx="201168" cy="0"/>
          </a:xfrm>
          <a:prstGeom prst="line">
            <a:avLst/>
          </a:prstGeom>
          <a:ln w="25400">
            <a:solidFill>
              <a:srgbClr val="008E9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577840" y="1609344"/>
            <a:ext cx="201167" cy="0"/>
          </a:xfrm>
          <a:prstGeom prst="line">
            <a:avLst/>
          </a:prstGeom>
          <a:ln w="25400">
            <a:solidFill>
              <a:srgbClr val="008E9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138160" y="1609344"/>
            <a:ext cx="201168" cy="0"/>
          </a:xfrm>
          <a:prstGeom prst="line">
            <a:avLst/>
          </a:prstGeom>
          <a:ln w="25400">
            <a:solidFill>
              <a:srgbClr val="008E9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893808" y="2103120"/>
            <a:ext cx="0" cy="384048"/>
          </a:xfrm>
          <a:prstGeom prst="line">
            <a:avLst/>
          </a:prstGeom>
          <a:ln w="25400">
            <a:solidFill>
              <a:srgbClr val="008E99"/>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183879" y="2523744"/>
            <a:ext cx="3429000" cy="749808"/>
          </a:xfrm>
          <a:prstGeom prst="roundRect">
            <a:avLst>
              <a:gd name="adj" fmla="val 12000"/>
            </a:avLst>
          </a:prstGeom>
          <a:solidFill>
            <a:srgbClr val="EBF3F8"/>
          </a:solidFill>
          <a:ln>
            <a:solidFill>
              <a:srgbClr val="008E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21040" y="2578608"/>
            <a:ext cx="3154680" cy="246888"/>
          </a:xfrm>
          <a:prstGeom prst="rect">
            <a:avLst/>
          </a:prstGeom>
          <a:noFill/>
        </p:spPr>
        <p:txBody>
          <a:bodyPr wrap="none" lIns="54864" tIns="18288" rIns="54864" bIns="18288" anchor="ctr">
            <a:spAutoFit/>
          </a:bodyPr>
          <a:lstStyle/>
          <a:p>
            <a:pPr algn="ctr">
              <a:spcAft>
                <a:spcPts val="0"/>
              </a:spcAft>
              <a:defRPr sz="1600" b="1">
                <a:solidFill>
                  <a:srgbClr val="142A43"/>
                </a:solidFill>
                <a:latin typeface="Arial" panose="020B0604020202020204"/>
              </a:defRPr>
            </a:pPr>
            <a:r>
              <a:t>Database</a:t>
            </a:r>
          </a:p>
        </p:txBody>
      </p:sp>
      <p:sp>
        <p:nvSpPr>
          <p:cNvPr id="29" name="TextBox 28"/>
          <p:cNvSpPr txBox="1"/>
          <p:nvPr/>
        </p:nvSpPr>
        <p:spPr>
          <a:xfrm>
            <a:off x="8321040" y="2834640"/>
            <a:ext cx="3154680" cy="201168"/>
          </a:xfrm>
          <a:prstGeom prst="rect">
            <a:avLst/>
          </a:prstGeom>
          <a:noFill/>
        </p:spPr>
        <p:txBody>
          <a:bodyPr wrap="none" lIns="54864" tIns="18288" rIns="54864" bIns="18288" anchor="ctr">
            <a:spAutoFit/>
          </a:bodyPr>
          <a:lstStyle/>
          <a:p>
            <a:pPr algn="ctr">
              <a:spcAft>
                <a:spcPts val="0"/>
              </a:spcAft>
              <a:defRPr sz="1100" b="0">
                <a:solidFill>
                  <a:srgbClr val="23303C"/>
                </a:solidFill>
                <a:latin typeface="Arial" panose="020B0604020202020204"/>
              </a:defRPr>
            </a:pPr>
            <a:r>
              <a:t>قاعدة البيانات • SQLite / SQL Server</a:t>
            </a:r>
          </a:p>
        </p:txBody>
      </p:sp>
      <p:sp>
        <p:nvSpPr>
          <p:cNvPr id="30" name="Rounded Rectangle 29"/>
          <p:cNvSpPr/>
          <p:nvPr/>
        </p:nvSpPr>
        <p:spPr>
          <a:xfrm>
            <a:off x="713232" y="2487168"/>
            <a:ext cx="6812280" cy="804672"/>
          </a:xfrm>
          <a:prstGeom prst="roundRect">
            <a:avLst>
              <a:gd name="adj" fmla="val 12000"/>
            </a:avLst>
          </a:prstGeom>
          <a:solidFill>
            <a:srgbClr val="E1EFF2"/>
          </a:solidFill>
          <a:ln>
            <a:solidFill>
              <a:srgbClr val="008E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2542032"/>
            <a:ext cx="6492240" cy="256032"/>
          </a:xfrm>
          <a:prstGeom prst="rect">
            <a:avLst/>
          </a:prstGeom>
          <a:noFill/>
        </p:spPr>
        <p:txBody>
          <a:bodyPr wrap="none" lIns="54864" tIns="18288" rIns="54864" bIns="18288" anchor="ctr">
            <a:spAutoFit/>
          </a:bodyPr>
          <a:lstStyle/>
          <a:p>
            <a:pPr algn="ctr">
              <a:spcAft>
                <a:spcPts val="0"/>
              </a:spcAft>
              <a:defRPr sz="1500" b="1">
                <a:solidFill>
                  <a:srgbClr val="142A43"/>
                </a:solidFill>
                <a:latin typeface="Arial" panose="020B0604020202020204"/>
              </a:defRPr>
            </a:pPr>
            <a:r>
              <a:t>Cross-Cutting Security</a:t>
            </a:r>
          </a:p>
        </p:txBody>
      </p:sp>
      <p:sp>
        <p:nvSpPr>
          <p:cNvPr id="32" name="TextBox 31"/>
          <p:cNvSpPr txBox="1"/>
          <p:nvPr/>
        </p:nvSpPr>
        <p:spPr>
          <a:xfrm>
            <a:off x="868680" y="2816352"/>
            <a:ext cx="6492240" cy="237744"/>
          </a:xfrm>
          <a:prstGeom prst="rect">
            <a:avLst/>
          </a:prstGeom>
          <a:noFill/>
        </p:spPr>
        <p:txBody>
          <a:bodyPr wrap="none" lIns="54864" tIns="18288" rIns="54864" bIns="18288" anchor="ctr">
            <a:spAutoFit/>
          </a:bodyPr>
          <a:lstStyle/>
          <a:p>
            <a:pPr algn="ctr">
              <a:spcAft>
                <a:spcPts val="0"/>
              </a:spcAft>
              <a:defRPr sz="1100" b="0">
                <a:solidFill>
                  <a:srgbClr val="23303C"/>
                </a:solidFill>
                <a:latin typeface="Arial" panose="020B0604020202020204"/>
              </a:defRPr>
            </a:pPr>
            <a:r>
              <a:t>الأمان والصلاحيات • JWT Authentication • bcrypt • RBAC</a:t>
            </a:r>
          </a:p>
        </p:txBody>
      </p:sp>
      <p:sp>
        <p:nvSpPr>
          <p:cNvPr id="33" name="Rounded Rectangle 32"/>
          <p:cNvSpPr/>
          <p:nvPr/>
        </p:nvSpPr>
        <p:spPr>
          <a:xfrm>
            <a:off x="713232" y="3703320"/>
            <a:ext cx="3310128" cy="914400"/>
          </a:xfrm>
          <a:prstGeom prst="roundRect">
            <a:avLst>
              <a:gd name="adj" fmla="val 12000"/>
            </a:avLst>
          </a:prstGeom>
          <a:solidFill>
            <a:srgbClr val="FFFFFF"/>
          </a:solidFill>
          <a:ln>
            <a:solidFill>
              <a:srgbClr val="265B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8680" y="3767328"/>
            <a:ext cx="2999232" cy="256032"/>
          </a:xfrm>
          <a:prstGeom prst="rect">
            <a:avLst/>
          </a:prstGeom>
          <a:noFill/>
        </p:spPr>
        <p:txBody>
          <a:bodyPr wrap="none" lIns="54864" tIns="18288" rIns="54864" bIns="18288" anchor="ctr">
            <a:spAutoFit/>
          </a:bodyPr>
          <a:lstStyle/>
          <a:p>
            <a:pPr algn="ctr">
              <a:spcAft>
                <a:spcPts val="0"/>
              </a:spcAft>
              <a:defRPr sz="1500" b="1">
                <a:solidFill>
                  <a:srgbClr val="142A43"/>
                </a:solidFill>
                <a:latin typeface="Arial" panose="020B0604020202020204"/>
              </a:defRPr>
            </a:pPr>
            <a:r>
              <a:t>Users &amp; Roles</a:t>
            </a:r>
          </a:p>
        </p:txBody>
      </p:sp>
      <p:sp>
        <p:nvSpPr>
          <p:cNvPr id="35" name="TextBox 34"/>
          <p:cNvSpPr txBox="1"/>
          <p:nvPr/>
        </p:nvSpPr>
        <p:spPr>
          <a:xfrm>
            <a:off x="868680" y="4041648"/>
            <a:ext cx="2999232" cy="329184"/>
          </a:xfrm>
          <a:prstGeom prst="rect">
            <a:avLst/>
          </a:prstGeom>
          <a:noFill/>
        </p:spPr>
        <p:txBody>
          <a:bodyPr wrap="none" lIns="54864" tIns="18288" rIns="54864" bIns="18288" anchor="ctr">
            <a:spAutoFit/>
          </a:bodyPr>
          <a:lstStyle/>
          <a:p>
            <a:pPr algn="ctr">
              <a:spcAft>
                <a:spcPts val="0"/>
              </a:spcAft>
              <a:defRPr sz="1100" b="0">
                <a:solidFill>
                  <a:srgbClr val="23303C"/>
                </a:solidFill>
                <a:latin typeface="Arial" panose="020B0604020202020204"/>
              </a:defRPr>
            </a:pPr>
            <a:r>
              <a:t>المدير العام • مالك المكتب • العميل / الزائر</a:t>
            </a:r>
          </a:p>
        </p:txBody>
      </p:sp>
      <p:sp>
        <p:nvSpPr>
          <p:cNvPr id="36" name="Rounded Rectangle 35"/>
          <p:cNvSpPr/>
          <p:nvPr/>
        </p:nvSpPr>
        <p:spPr>
          <a:xfrm>
            <a:off x="4434840" y="3703320"/>
            <a:ext cx="3310128" cy="914400"/>
          </a:xfrm>
          <a:prstGeom prst="roundRect">
            <a:avLst>
              <a:gd name="adj" fmla="val 12000"/>
            </a:avLst>
          </a:prstGeom>
          <a:solidFill>
            <a:srgbClr val="FFFFFF"/>
          </a:solidFill>
          <a:ln>
            <a:solidFill>
              <a:srgbClr val="265B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0" y="3767328"/>
            <a:ext cx="3035808" cy="256032"/>
          </a:xfrm>
          <a:prstGeom prst="rect">
            <a:avLst/>
          </a:prstGeom>
          <a:noFill/>
        </p:spPr>
        <p:txBody>
          <a:bodyPr wrap="none" lIns="54864" tIns="18288" rIns="54864" bIns="18288" anchor="ctr">
            <a:spAutoFit/>
          </a:bodyPr>
          <a:lstStyle/>
          <a:p>
            <a:pPr algn="ctr">
              <a:spcAft>
                <a:spcPts val="0"/>
              </a:spcAft>
              <a:defRPr sz="1500" b="1">
                <a:solidFill>
                  <a:srgbClr val="142A43"/>
                </a:solidFill>
                <a:latin typeface="Arial" panose="020B0604020202020204"/>
              </a:defRPr>
            </a:pPr>
            <a:r>
              <a:t>Media Storage</a:t>
            </a:r>
          </a:p>
        </p:txBody>
      </p:sp>
      <p:sp>
        <p:nvSpPr>
          <p:cNvPr id="38" name="TextBox 37"/>
          <p:cNvSpPr txBox="1"/>
          <p:nvPr/>
        </p:nvSpPr>
        <p:spPr>
          <a:xfrm>
            <a:off x="4572000" y="4041648"/>
            <a:ext cx="3035808" cy="329184"/>
          </a:xfrm>
          <a:prstGeom prst="rect">
            <a:avLst/>
          </a:prstGeom>
          <a:noFill/>
        </p:spPr>
        <p:txBody>
          <a:bodyPr wrap="none" lIns="54864" tIns="18288" rIns="54864" bIns="18288" anchor="ctr">
            <a:spAutoFit/>
          </a:bodyPr>
          <a:lstStyle/>
          <a:p>
            <a:pPr algn="ctr">
              <a:spcAft>
                <a:spcPts val="0"/>
              </a:spcAft>
              <a:defRPr sz="1100" b="0">
                <a:solidFill>
                  <a:srgbClr val="23303C"/>
                </a:solidFill>
                <a:latin typeface="Arial" panose="020B0604020202020204"/>
              </a:defRPr>
            </a:pPr>
            <a:r>
              <a:t>تخزين صور السيارات والتحقق من نوعها وحجمها</a:t>
            </a:r>
          </a:p>
        </p:txBody>
      </p:sp>
      <p:sp>
        <p:nvSpPr>
          <p:cNvPr id="39" name="Rounded Rectangle 38"/>
          <p:cNvSpPr/>
          <p:nvPr/>
        </p:nvSpPr>
        <p:spPr>
          <a:xfrm>
            <a:off x="8183879" y="3703320"/>
            <a:ext cx="3429000" cy="914400"/>
          </a:xfrm>
          <a:prstGeom prst="roundRect">
            <a:avLst>
              <a:gd name="adj" fmla="val 12000"/>
            </a:avLst>
          </a:prstGeom>
          <a:solidFill>
            <a:srgbClr val="FFFFFF"/>
          </a:solidFill>
          <a:ln>
            <a:solidFill>
              <a:srgbClr val="265B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21040" y="3767328"/>
            <a:ext cx="3154680" cy="256032"/>
          </a:xfrm>
          <a:prstGeom prst="rect">
            <a:avLst/>
          </a:prstGeom>
          <a:noFill/>
        </p:spPr>
        <p:txBody>
          <a:bodyPr wrap="none" lIns="54864" tIns="18288" rIns="54864" bIns="18288" anchor="ctr">
            <a:spAutoFit/>
          </a:bodyPr>
          <a:lstStyle/>
          <a:p>
            <a:pPr algn="ctr">
              <a:spcAft>
                <a:spcPts val="0"/>
              </a:spcAft>
              <a:defRPr sz="1400" b="1">
                <a:solidFill>
                  <a:srgbClr val="142A43"/>
                </a:solidFill>
                <a:latin typeface="Arial" panose="020B0604020202020204"/>
              </a:defRPr>
            </a:pPr>
            <a:r>
              <a:t>API Documentation &amp; Tests</a:t>
            </a:r>
          </a:p>
        </p:txBody>
      </p:sp>
      <p:sp>
        <p:nvSpPr>
          <p:cNvPr id="41" name="TextBox 40"/>
          <p:cNvSpPr txBox="1"/>
          <p:nvPr/>
        </p:nvSpPr>
        <p:spPr>
          <a:xfrm>
            <a:off x="8321040" y="4041648"/>
            <a:ext cx="3154680" cy="329184"/>
          </a:xfrm>
          <a:prstGeom prst="rect">
            <a:avLst/>
          </a:prstGeom>
          <a:noFill/>
        </p:spPr>
        <p:txBody>
          <a:bodyPr wrap="none" lIns="54864" tIns="18288" rIns="54864" bIns="18288" anchor="ctr">
            <a:spAutoFit/>
          </a:bodyPr>
          <a:lstStyle/>
          <a:p>
            <a:pPr algn="ctr">
              <a:spcAft>
                <a:spcPts val="0"/>
              </a:spcAft>
              <a:defRPr sz="1100" b="0">
                <a:solidFill>
                  <a:srgbClr val="23303C"/>
                </a:solidFill>
                <a:latin typeface="Arial" panose="020B0604020202020204"/>
              </a:defRPr>
            </a:pPr>
            <a:r>
              <a:t>توثيق الواجهات واختبارات آلية</a:t>
            </a:r>
          </a:p>
        </p:txBody>
      </p:sp>
      <p:cxnSp>
        <p:nvCxnSpPr>
          <p:cNvPr id="42" name="Connector 41"/>
          <p:cNvCxnSpPr/>
          <p:nvPr/>
        </p:nvCxnSpPr>
        <p:spPr>
          <a:xfrm flipH="1">
            <a:off x="2377440" y="3291840"/>
            <a:ext cx="2057400" cy="384047"/>
          </a:xfrm>
          <a:prstGeom prst="line">
            <a:avLst/>
          </a:prstGeom>
          <a:ln w="15240">
            <a:solidFill>
              <a:srgbClr val="697C8C"/>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6080760" y="2103120"/>
            <a:ext cx="502920" cy="1572767"/>
          </a:xfrm>
          <a:prstGeom prst="line">
            <a:avLst/>
          </a:prstGeom>
          <a:ln w="15240">
            <a:solidFill>
              <a:srgbClr val="697C8C"/>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9893808" y="3291840"/>
            <a:ext cx="0" cy="384047"/>
          </a:xfrm>
          <a:prstGeom prst="line">
            <a:avLst/>
          </a:prstGeom>
          <a:ln w="15240">
            <a:solidFill>
              <a:srgbClr val="697C8C"/>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731520" y="4983480"/>
            <a:ext cx="10881360" cy="640080"/>
          </a:xfrm>
          <a:prstGeom prst="rect">
            <a:avLst/>
          </a:prstGeom>
          <a:noFill/>
        </p:spPr>
        <p:txBody>
          <a:bodyPr wrap="none" lIns="54864" tIns="18288" rIns="54864" bIns="18288" anchor="ctr">
            <a:spAutoFit/>
          </a:bodyPr>
          <a:lstStyle/>
          <a:p>
            <a:pPr algn="ctr">
              <a:spcAft>
                <a:spcPts val="0"/>
              </a:spcAft>
              <a:defRPr sz="1200" b="1">
                <a:solidFill>
                  <a:srgbClr val="142A43"/>
                </a:solidFill>
                <a:latin typeface="Arial" panose="020B0604020202020204"/>
              </a:defRPr>
            </a:pPr>
            <a:r>
              <a:t>التدفق العام: واجهة المستخدم ← Flask API ← الخدمات والتحقق من الصلاحيات ← SQLAlchemy ← قاعدة البيانات</a:t>
            </a:r>
          </a:p>
          <a:p>
            <a:pPr algn="ctr">
              <a:spcAft>
                <a:spcPts val="0"/>
              </a:spcAft>
              <a:defRPr sz="1200" b="1">
                <a:solidFill>
                  <a:srgbClr val="142A43"/>
                </a:solidFill>
                <a:latin typeface="Arial" panose="020B0604020202020204"/>
              </a:defRPr>
            </a:pPr>
            <a:r>
              <a:t>General flow: User Interface → Flask API → Services &amp; Authorization → ORM → Database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0" y="0"/>
            <a:ext cx="12192000" cy="109728"/>
          </a:xfrm>
          <a:prstGeom prst="rect">
            <a:avLst/>
          </a:prstGeom>
          <a:solidFill>
            <a:srgbClr val="0091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530352"/>
          </a:xfrm>
          <a:prstGeom prst="rect">
            <a:avLst/>
          </a:prstGeom>
          <a:noFill/>
        </p:spPr>
        <p:txBody>
          <a:bodyPr wrap="square" lIns="73152" tIns="27432" rIns="73152" bIns="27432">
            <a:spAutoFit/>
          </a:bodyPr>
          <a:lstStyle/>
          <a:p>
            <a:pPr algn="r"/>
            <a:r>
              <a:rPr sz="2700" b="1">
                <a:solidFill>
                  <a:srgbClr val="18314F"/>
                </a:solidFill>
                <a:latin typeface="Arial" panose="020B0604020202020204"/>
              </a:rPr>
              <a:t>الأدوات واللغات المستخدمة في الكود</a:t>
            </a:r>
            <a:endParaRPr sz="2700" b="1">
              <a:solidFill>
                <a:srgbClr val="18314F"/>
              </a:solidFill>
              <a:latin typeface="Arial" panose="020B0604020202020204"/>
            </a:endParaRPr>
          </a:p>
        </p:txBody>
      </p:sp>
      <p:sp>
        <p:nvSpPr>
          <p:cNvPr id="4" name="TextBox 3"/>
          <p:cNvSpPr txBox="1"/>
          <p:nvPr/>
        </p:nvSpPr>
        <p:spPr>
          <a:xfrm>
            <a:off x="530352" y="841248"/>
            <a:ext cx="10972800" cy="320040"/>
          </a:xfrm>
          <a:prstGeom prst="rect">
            <a:avLst/>
          </a:prstGeom>
          <a:noFill/>
        </p:spPr>
        <p:txBody>
          <a:bodyPr wrap="square" lIns="73152" tIns="27432" rIns="73152" bIns="27432">
            <a:spAutoFit/>
          </a:bodyPr>
          <a:lstStyle/>
          <a:p>
            <a:pPr algn="l"/>
            <a:r>
              <a:rPr sz="1500" b="1">
                <a:solidFill>
                  <a:srgbClr val="0091A0"/>
                </a:solidFill>
                <a:latin typeface="Arial" panose="020B0604020202020204"/>
              </a:rPr>
              <a:t>Programming Languages &amp; Technologies</a:t>
            </a:r>
            <a:endParaRPr sz="1500" b="1">
              <a:solidFill>
                <a:srgbClr val="0091A0"/>
              </a:solidFill>
              <a:latin typeface="Arial" panose="020B0604020202020204"/>
            </a:endParaRPr>
          </a:p>
        </p:txBody>
      </p:sp>
      <p:sp>
        <p:nvSpPr>
          <p:cNvPr id="5" name="Rounded Rectangle 4"/>
          <p:cNvSpPr/>
          <p:nvPr/>
        </p:nvSpPr>
        <p:spPr>
          <a:xfrm>
            <a:off x="548640" y="1298448"/>
            <a:ext cx="11064240" cy="566928"/>
          </a:xfrm>
          <a:prstGeom prst="roundRect">
            <a:avLst/>
          </a:prstGeom>
          <a:solidFill>
            <a:srgbClr val="F2F7F9"/>
          </a:solidFill>
          <a:ln>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362456"/>
            <a:ext cx="10652760" cy="384048"/>
          </a:xfrm>
          <a:prstGeom prst="rect">
            <a:avLst/>
          </a:prstGeom>
          <a:noFill/>
        </p:spPr>
        <p:txBody>
          <a:bodyPr wrap="square" lIns="73152" tIns="27432" rIns="73152" bIns="27432">
            <a:spAutoFit/>
          </a:bodyPr>
          <a:lstStyle/>
          <a:p>
            <a:pPr algn="r"/>
            <a:r>
              <a:rPr sz="1300" b="0">
                <a:solidFill>
                  <a:srgbClr val="233143"/>
                </a:solidFill>
                <a:latin typeface="Arial" panose="020B0604020202020204"/>
              </a:rPr>
              <a:t>تم استخراج العناصر التالية من ملفات المشروع وملف requirements.txt المرفق مع الكود.</a:t>
            </a:r>
            <a:endParaRPr sz="1300" b="0">
              <a:solidFill>
                <a:srgbClr val="233143"/>
              </a:solidFill>
              <a:latin typeface="Arial" panose="020B0604020202020204"/>
            </a:endParaRPr>
          </a:p>
        </p:txBody>
      </p:sp>
      <p:sp>
        <p:nvSpPr>
          <p:cNvPr id="7" name="Rounded Rectangle 6"/>
          <p:cNvSpPr/>
          <p:nvPr/>
        </p:nvSpPr>
        <p:spPr>
          <a:xfrm>
            <a:off x="594360" y="2084831"/>
            <a:ext cx="5376672" cy="1417320"/>
          </a:xfrm>
          <a:prstGeom prst="roundRect">
            <a:avLst/>
          </a:prstGeom>
          <a:solidFill>
            <a:srgbClr val="FFFFFF"/>
          </a:solidFill>
          <a:ln w="1524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2084831"/>
            <a:ext cx="5376672" cy="384048"/>
          </a:xfrm>
          <a:prstGeom prst="roundRect">
            <a:avLst/>
          </a:prstGeom>
          <a:solidFill>
            <a:srgbClr val="18314F"/>
          </a:solidFill>
          <a:ln>
            <a:solidFill>
              <a:srgbClr val="1831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2116835"/>
            <a:ext cx="5157216" cy="292608"/>
          </a:xfrm>
          <a:prstGeom prst="rect">
            <a:avLst/>
          </a:prstGeom>
          <a:noFill/>
        </p:spPr>
        <p:txBody>
          <a:bodyPr wrap="square" lIns="73152" tIns="27432" rIns="73152" bIns="27432">
            <a:spAutoFit/>
          </a:bodyPr>
          <a:lstStyle/>
          <a:p>
            <a:pPr algn="r"/>
            <a:r>
              <a:rPr sz="1400" b="1">
                <a:solidFill>
                  <a:srgbClr val="FFFFFF"/>
                </a:solidFill>
                <a:latin typeface="Arial" panose="020B0604020202020204"/>
              </a:rPr>
              <a:t>لغات البرمجة وواجهة المستخدم</a:t>
            </a:r>
            <a:endParaRPr sz="1400" b="1">
              <a:solidFill>
                <a:srgbClr val="FFFFFF"/>
              </a:solidFill>
              <a:latin typeface="Arial" panose="020B0604020202020204"/>
            </a:endParaRPr>
          </a:p>
        </p:txBody>
      </p:sp>
      <p:sp>
        <p:nvSpPr>
          <p:cNvPr id="10" name="TextBox 9"/>
          <p:cNvSpPr txBox="1"/>
          <p:nvPr/>
        </p:nvSpPr>
        <p:spPr>
          <a:xfrm>
            <a:off x="758952" y="2542031"/>
            <a:ext cx="5047488" cy="905256"/>
          </a:xfrm>
          <a:prstGeom prst="rect">
            <a:avLst/>
          </a:prstGeom>
          <a:noFill/>
        </p:spPr>
        <p:txBody>
          <a:bodyPr wrap="square" lIns="36576" tIns="18288" rIns="36576" bIns="18288">
            <a:spAutoFit/>
          </a:bodyPr>
          <a:lstStyle/>
          <a:p>
            <a:pPr algn="r">
              <a:spcAft>
                <a:spcPts val="400"/>
              </a:spcAft>
              <a:defRPr sz="1200">
                <a:solidFill>
                  <a:srgbClr val="233143"/>
                </a:solidFill>
                <a:latin typeface="Arial" panose="020B0604020202020204"/>
              </a:defRPr>
            </a:pPr>
            <a:r>
              <a:t>• Python — لغة البرمجة الأساسية للخلفية.</a:t>
            </a:r>
          </a:p>
          <a:p>
            <a:pPr algn="r">
              <a:spcAft>
                <a:spcPts val="400"/>
              </a:spcAft>
              <a:defRPr sz="1200">
                <a:solidFill>
                  <a:srgbClr val="233143"/>
                </a:solidFill>
                <a:latin typeface="Arial" panose="020B0604020202020204"/>
              </a:defRPr>
            </a:pPr>
            <a:r>
              <a:t>• HTML — بناء صفحة الواجهة.</a:t>
            </a:r>
          </a:p>
          <a:p>
            <a:pPr algn="r">
              <a:spcAft>
                <a:spcPts val="400"/>
              </a:spcAft>
              <a:defRPr sz="1200">
                <a:solidFill>
                  <a:srgbClr val="233143"/>
                </a:solidFill>
                <a:latin typeface="Arial" panose="020B0604020202020204"/>
              </a:defRPr>
            </a:pPr>
            <a:r>
              <a:t>• CSS — تنسيق وتصميم الواجهة.</a:t>
            </a:r>
          </a:p>
          <a:p>
            <a:pPr algn="r">
              <a:spcAft>
                <a:spcPts val="400"/>
              </a:spcAft>
              <a:defRPr sz="1200">
                <a:solidFill>
                  <a:srgbClr val="233143"/>
                </a:solidFill>
                <a:latin typeface="Arial" panose="020B0604020202020204"/>
              </a:defRPr>
            </a:pPr>
            <a:r>
              <a:t>• JavaScript — التفاعل مع المستخدم وطلبات API.</a:t>
            </a:r>
          </a:p>
        </p:txBody>
      </p:sp>
      <p:sp>
        <p:nvSpPr>
          <p:cNvPr id="11" name="Rounded Rectangle 10"/>
          <p:cNvSpPr/>
          <p:nvPr/>
        </p:nvSpPr>
        <p:spPr>
          <a:xfrm>
            <a:off x="6199632" y="2084831"/>
            <a:ext cx="5376672" cy="1417320"/>
          </a:xfrm>
          <a:prstGeom prst="roundRect">
            <a:avLst/>
          </a:prstGeom>
          <a:solidFill>
            <a:srgbClr val="FFFFFF"/>
          </a:solidFill>
          <a:ln w="1524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99632" y="2084831"/>
            <a:ext cx="5376672" cy="384048"/>
          </a:xfrm>
          <a:prstGeom prst="roundRect">
            <a:avLst/>
          </a:prstGeom>
          <a:solidFill>
            <a:srgbClr val="18314F"/>
          </a:solidFill>
          <a:ln>
            <a:solidFill>
              <a:srgbClr val="1831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0" y="2116835"/>
            <a:ext cx="5157216" cy="292608"/>
          </a:xfrm>
          <a:prstGeom prst="rect">
            <a:avLst/>
          </a:prstGeom>
          <a:noFill/>
        </p:spPr>
        <p:txBody>
          <a:bodyPr wrap="square" lIns="73152" tIns="27432" rIns="73152" bIns="27432">
            <a:spAutoFit/>
          </a:bodyPr>
          <a:lstStyle/>
          <a:p>
            <a:pPr algn="r"/>
            <a:r>
              <a:rPr sz="1400" b="1">
                <a:solidFill>
                  <a:srgbClr val="FFFFFF"/>
                </a:solidFill>
                <a:latin typeface="Arial" panose="020B0604020202020204"/>
              </a:rPr>
              <a:t>إطار العمل ومكتبات الخلفية</a:t>
            </a:r>
            <a:endParaRPr sz="1400" b="1">
              <a:solidFill>
                <a:srgbClr val="FFFFFF"/>
              </a:solidFill>
              <a:latin typeface="Arial" panose="020B0604020202020204"/>
            </a:endParaRPr>
          </a:p>
        </p:txBody>
      </p:sp>
      <p:sp>
        <p:nvSpPr>
          <p:cNvPr id="14" name="TextBox 13"/>
          <p:cNvSpPr txBox="1"/>
          <p:nvPr/>
        </p:nvSpPr>
        <p:spPr>
          <a:xfrm>
            <a:off x="6364224" y="2542031"/>
            <a:ext cx="5047488" cy="905256"/>
          </a:xfrm>
          <a:prstGeom prst="rect">
            <a:avLst/>
          </a:prstGeom>
          <a:noFill/>
        </p:spPr>
        <p:txBody>
          <a:bodyPr wrap="square" lIns="36576" tIns="18288" rIns="36576" bIns="18288">
            <a:spAutoFit/>
          </a:bodyPr>
          <a:lstStyle/>
          <a:p>
            <a:pPr algn="r">
              <a:spcAft>
                <a:spcPts val="400"/>
              </a:spcAft>
              <a:defRPr sz="1200">
                <a:solidFill>
                  <a:srgbClr val="233143"/>
                </a:solidFill>
                <a:latin typeface="Arial" panose="020B0604020202020204"/>
              </a:defRPr>
            </a:pPr>
            <a:r>
              <a:t>• Flask — بناء تطبيق الويب وواجهات API.</a:t>
            </a:r>
          </a:p>
          <a:p>
            <a:pPr algn="r">
              <a:spcAft>
                <a:spcPts val="400"/>
              </a:spcAft>
              <a:defRPr sz="1200">
                <a:solidFill>
                  <a:srgbClr val="233143"/>
                </a:solidFill>
                <a:latin typeface="Arial" panose="020B0604020202020204"/>
              </a:defRPr>
            </a:pPr>
            <a:r>
              <a:t>• Flask-SQLAlchemy — التعامل مع قاعدة البيانات عبر ORM.</a:t>
            </a:r>
          </a:p>
          <a:p>
            <a:pPr algn="r">
              <a:spcAft>
                <a:spcPts val="400"/>
              </a:spcAft>
              <a:defRPr sz="1200">
                <a:solidFill>
                  <a:srgbClr val="233143"/>
                </a:solidFill>
                <a:latin typeface="Arial" panose="020B0604020202020204"/>
              </a:defRPr>
            </a:pPr>
            <a:r>
              <a:t>• Flask-Migrate — إدارة ترحيلات قاعدة البيانات.</a:t>
            </a:r>
          </a:p>
          <a:p>
            <a:pPr algn="r">
              <a:spcAft>
                <a:spcPts val="400"/>
              </a:spcAft>
              <a:defRPr sz="1200">
                <a:solidFill>
                  <a:srgbClr val="233143"/>
                </a:solidFill>
                <a:latin typeface="Arial" panose="020B0604020202020204"/>
              </a:defRPr>
            </a:pPr>
            <a:r>
              <a:t>• Flask-JWT-Extended و bcrypt — المصادقة وحماية كلمات المرور.</a:t>
            </a:r>
          </a:p>
        </p:txBody>
      </p:sp>
      <p:sp>
        <p:nvSpPr>
          <p:cNvPr id="15" name="Rounded Rectangle 14"/>
          <p:cNvSpPr/>
          <p:nvPr/>
        </p:nvSpPr>
        <p:spPr>
          <a:xfrm>
            <a:off x="594360" y="3721607"/>
            <a:ext cx="5376672" cy="1417320"/>
          </a:xfrm>
          <a:prstGeom prst="roundRect">
            <a:avLst/>
          </a:prstGeom>
          <a:solidFill>
            <a:srgbClr val="FFFFFF"/>
          </a:solidFill>
          <a:ln w="1524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94360" y="3721607"/>
            <a:ext cx="5376672" cy="384048"/>
          </a:xfrm>
          <a:prstGeom prst="roundRect">
            <a:avLst/>
          </a:prstGeom>
          <a:solidFill>
            <a:srgbClr val="18314F"/>
          </a:solidFill>
          <a:ln>
            <a:solidFill>
              <a:srgbClr val="1831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3753611"/>
            <a:ext cx="5157216" cy="292608"/>
          </a:xfrm>
          <a:prstGeom prst="rect">
            <a:avLst/>
          </a:prstGeom>
          <a:noFill/>
        </p:spPr>
        <p:txBody>
          <a:bodyPr wrap="square" lIns="73152" tIns="27432" rIns="73152" bIns="27432">
            <a:spAutoFit/>
          </a:bodyPr>
          <a:lstStyle/>
          <a:p>
            <a:pPr algn="r"/>
            <a:r>
              <a:rPr sz="1400" b="1">
                <a:solidFill>
                  <a:srgbClr val="FFFFFF"/>
                </a:solidFill>
                <a:latin typeface="Arial" panose="020B0604020202020204"/>
              </a:rPr>
              <a:t>التحقق والتوثيق والتهيئة</a:t>
            </a:r>
            <a:endParaRPr sz="1400" b="1">
              <a:solidFill>
                <a:srgbClr val="FFFFFF"/>
              </a:solidFill>
              <a:latin typeface="Arial" panose="020B0604020202020204"/>
            </a:endParaRPr>
          </a:p>
        </p:txBody>
      </p:sp>
      <p:sp>
        <p:nvSpPr>
          <p:cNvPr id="18" name="TextBox 17"/>
          <p:cNvSpPr txBox="1"/>
          <p:nvPr/>
        </p:nvSpPr>
        <p:spPr>
          <a:xfrm>
            <a:off x="758952" y="4178807"/>
            <a:ext cx="5047488" cy="905256"/>
          </a:xfrm>
          <a:prstGeom prst="rect">
            <a:avLst/>
          </a:prstGeom>
          <a:noFill/>
        </p:spPr>
        <p:txBody>
          <a:bodyPr wrap="square" lIns="36576" tIns="18288" rIns="36576" bIns="18288">
            <a:spAutoFit/>
          </a:bodyPr>
          <a:lstStyle/>
          <a:p>
            <a:pPr algn="r">
              <a:spcAft>
                <a:spcPts val="400"/>
              </a:spcAft>
              <a:defRPr sz="1200">
                <a:solidFill>
                  <a:srgbClr val="233143"/>
                </a:solidFill>
                <a:latin typeface="Arial" panose="020B0604020202020204"/>
              </a:defRPr>
            </a:pPr>
            <a:r>
              <a:t>• Marshmallow — التحقق من البيانات وتسلسلها.</a:t>
            </a:r>
          </a:p>
          <a:p>
            <a:pPr algn="r">
              <a:spcAft>
                <a:spcPts val="400"/>
              </a:spcAft>
              <a:defRPr sz="1200">
                <a:solidFill>
                  <a:srgbClr val="233143"/>
                </a:solidFill>
                <a:latin typeface="Arial" panose="020B0604020202020204"/>
              </a:defRPr>
            </a:pPr>
            <a:r>
              <a:t>• Flasgger / Swagger — توثيق واجهات API.</a:t>
            </a:r>
          </a:p>
          <a:p>
            <a:pPr algn="r">
              <a:spcAft>
                <a:spcPts val="400"/>
              </a:spcAft>
              <a:defRPr sz="1200">
                <a:solidFill>
                  <a:srgbClr val="233143"/>
                </a:solidFill>
                <a:latin typeface="Arial" panose="020B0604020202020204"/>
              </a:defRPr>
            </a:pPr>
            <a:r>
              <a:t>• python-dotenv — قراءة إعدادات البيئة.</a:t>
            </a:r>
          </a:p>
          <a:p>
            <a:pPr algn="r">
              <a:spcAft>
                <a:spcPts val="400"/>
              </a:spcAft>
              <a:defRPr sz="1200">
                <a:solidFill>
                  <a:srgbClr val="233143"/>
                </a:solidFill>
                <a:latin typeface="Arial" panose="020B0604020202020204"/>
              </a:defRPr>
            </a:pPr>
            <a:r>
              <a:t>• pytest و pytest-flask — اختبار التطبيق.</a:t>
            </a:r>
          </a:p>
        </p:txBody>
      </p:sp>
      <p:sp>
        <p:nvSpPr>
          <p:cNvPr id="19" name="Rounded Rectangle 18"/>
          <p:cNvSpPr/>
          <p:nvPr/>
        </p:nvSpPr>
        <p:spPr>
          <a:xfrm>
            <a:off x="6199632" y="3721607"/>
            <a:ext cx="5376672" cy="1417320"/>
          </a:xfrm>
          <a:prstGeom prst="roundRect">
            <a:avLst/>
          </a:prstGeom>
          <a:solidFill>
            <a:srgbClr val="FFFFFF"/>
          </a:solidFill>
          <a:ln w="1524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199632" y="3721607"/>
            <a:ext cx="5376672" cy="384048"/>
          </a:xfrm>
          <a:prstGeom prst="roundRect">
            <a:avLst/>
          </a:prstGeom>
          <a:solidFill>
            <a:srgbClr val="18314F"/>
          </a:solidFill>
          <a:ln>
            <a:solidFill>
              <a:srgbClr val="1831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3753611"/>
            <a:ext cx="5157216" cy="292608"/>
          </a:xfrm>
          <a:prstGeom prst="rect">
            <a:avLst/>
          </a:prstGeom>
          <a:noFill/>
        </p:spPr>
        <p:txBody>
          <a:bodyPr wrap="square" lIns="73152" tIns="27432" rIns="73152" bIns="27432">
            <a:spAutoFit/>
          </a:bodyPr>
          <a:lstStyle/>
          <a:p>
            <a:pPr algn="r"/>
            <a:r>
              <a:rPr sz="1400" b="1">
                <a:solidFill>
                  <a:srgbClr val="FFFFFF"/>
                </a:solidFill>
                <a:latin typeface="Arial" panose="020B0604020202020204"/>
              </a:rPr>
              <a:t>قاعدة البيانات وأدوات الاتصال</a:t>
            </a:r>
            <a:endParaRPr sz="1400" b="1">
              <a:solidFill>
                <a:srgbClr val="FFFFFF"/>
              </a:solidFill>
              <a:latin typeface="Arial" panose="020B0604020202020204"/>
            </a:endParaRPr>
          </a:p>
        </p:txBody>
      </p:sp>
      <p:sp>
        <p:nvSpPr>
          <p:cNvPr id="22" name="TextBox 21"/>
          <p:cNvSpPr txBox="1"/>
          <p:nvPr/>
        </p:nvSpPr>
        <p:spPr>
          <a:xfrm>
            <a:off x="6364224" y="4178807"/>
            <a:ext cx="5047488" cy="905256"/>
          </a:xfrm>
          <a:prstGeom prst="rect">
            <a:avLst/>
          </a:prstGeom>
          <a:noFill/>
        </p:spPr>
        <p:txBody>
          <a:bodyPr wrap="square" lIns="36576" tIns="18288" rIns="36576" bIns="18288">
            <a:spAutoFit/>
          </a:bodyPr>
          <a:lstStyle/>
          <a:p>
            <a:pPr algn="r">
              <a:spcAft>
                <a:spcPts val="400"/>
              </a:spcAft>
              <a:defRPr sz="1200">
                <a:solidFill>
                  <a:srgbClr val="233143"/>
                </a:solidFill>
                <a:latin typeface="Arial" panose="020B0604020202020204"/>
              </a:defRPr>
            </a:pPr>
            <a:r>
              <a:t>• SQLite — قاعدة البيانات الافتراضية المحددة في إعدادات المشروع.</a:t>
            </a:r>
          </a:p>
          <a:p>
            <a:pPr algn="r">
              <a:spcAft>
                <a:spcPts val="400"/>
              </a:spcAft>
              <a:defRPr sz="1200">
                <a:solidFill>
                  <a:srgbClr val="233143"/>
                </a:solidFill>
                <a:latin typeface="Arial" panose="020B0604020202020204"/>
              </a:defRPr>
            </a:pPr>
            <a:r>
              <a:t>• SQLAlchemy — طبقة التعامل مع قاعدة البيانات.</a:t>
            </a:r>
          </a:p>
          <a:p>
            <a:pPr algn="r">
              <a:spcAft>
                <a:spcPts val="400"/>
              </a:spcAft>
              <a:defRPr sz="1200">
                <a:solidFill>
                  <a:srgbClr val="233143"/>
                </a:solidFill>
                <a:latin typeface="Arial" panose="020B0604020202020204"/>
              </a:defRPr>
            </a:pPr>
            <a:r>
              <a:t>• pyodbc — حزمة اتصال ODBC موجودة في المتطلبات.</a:t>
            </a:r>
          </a:p>
          <a:p>
            <a:pPr algn="r">
              <a:spcAft>
                <a:spcPts val="400"/>
              </a:spcAft>
              <a:defRPr sz="1200">
                <a:solidFill>
                  <a:srgbClr val="233143"/>
                </a:solidFill>
                <a:latin typeface="Arial" panose="020B0604020202020204"/>
              </a:defRPr>
            </a:pPr>
            <a:r>
              <a:t>• يمكن تغيير عنوان قاعدة البيانات عبر DATABASE_URL.</a:t>
            </a:r>
          </a:p>
        </p:txBody>
      </p:sp>
      <p:sp>
        <p:nvSpPr>
          <p:cNvPr id="23" name="TextBox 22"/>
          <p:cNvSpPr txBox="1"/>
          <p:nvPr/>
        </p:nvSpPr>
        <p:spPr>
          <a:xfrm>
            <a:off x="502920" y="6336792"/>
            <a:ext cx="2651760" cy="256032"/>
          </a:xfrm>
          <a:prstGeom prst="rect">
            <a:avLst/>
          </a:prstGeom>
          <a:noFill/>
        </p:spPr>
        <p:txBody>
          <a:bodyPr wrap="square" lIns="73152" tIns="27432" rIns="73152" bIns="27432">
            <a:spAutoFit/>
          </a:bodyPr>
          <a:lstStyle/>
          <a:p>
            <a:pPr algn="l"/>
            <a:r>
              <a:rPr sz="1000" b="0">
                <a:solidFill>
                  <a:srgbClr val="59697C"/>
                </a:solidFill>
                <a:latin typeface="Arial" panose="020B0604020202020204"/>
              </a:rPr>
              <a:t>10/19/2026</a:t>
            </a:r>
            <a:endParaRPr sz="1000" b="0">
              <a:solidFill>
                <a:srgbClr val="59697C"/>
              </a:solidFill>
              <a:latin typeface="Arial" panose="020B0604020202020204"/>
            </a:endParaRPr>
          </a:p>
        </p:txBody>
      </p:sp>
      <p:sp>
        <p:nvSpPr>
          <p:cNvPr id="24" name="TextBox 23"/>
          <p:cNvSpPr txBox="1"/>
          <p:nvPr/>
        </p:nvSpPr>
        <p:spPr>
          <a:xfrm>
            <a:off x="3703320" y="6336792"/>
            <a:ext cx="4114800" cy="256032"/>
          </a:xfrm>
          <a:prstGeom prst="rect">
            <a:avLst/>
          </a:prstGeom>
          <a:noFill/>
        </p:spPr>
        <p:txBody>
          <a:bodyPr wrap="square" lIns="73152" tIns="27432" rIns="73152" bIns="27432">
            <a:spAutoFit/>
          </a:bodyPr>
          <a:lstStyle/>
          <a:p>
            <a:pPr algn="ctr"/>
            <a:r>
              <a:rPr sz="1000" b="0">
                <a:solidFill>
                  <a:srgbClr val="59697C"/>
                </a:solidFill>
                <a:latin typeface="Arial" panose="020B0604020202020204"/>
              </a:rPr>
              <a:t>مشروع فصلي - Car Rental Platform</a:t>
            </a:r>
            <a:endParaRPr sz="1000" b="0">
              <a:solidFill>
                <a:srgbClr val="59697C"/>
              </a:solidFill>
              <a:latin typeface="Arial" panose="020B0604020202020204"/>
            </a:endParaRPr>
          </a:p>
        </p:txBody>
      </p:sp>
      <p:sp>
        <p:nvSpPr>
          <p:cNvPr id="25" name="TextBox 24"/>
          <p:cNvSpPr txBox="1"/>
          <p:nvPr/>
        </p:nvSpPr>
        <p:spPr>
          <a:xfrm>
            <a:off x="9281160" y="6336792"/>
            <a:ext cx="2468880" cy="256032"/>
          </a:xfrm>
          <a:prstGeom prst="rect">
            <a:avLst/>
          </a:prstGeom>
          <a:noFill/>
        </p:spPr>
        <p:txBody>
          <a:bodyPr wrap="square" lIns="73152" tIns="27432" rIns="73152" bIns="27432">
            <a:spAutoFit/>
          </a:bodyPr>
          <a:lstStyle/>
          <a:p>
            <a:r>
              <a:rPr sz="1000">
                <a:solidFill>
                  <a:srgbClr val="59697C"/>
                </a:solidFill>
                <a:latin typeface="Arial" panose="020B0604020202020204"/>
              </a:rPr>
              <a:t>2</a:t>
            </a:r>
            <a:endParaRPr sz="1000">
              <a:solidFill>
                <a:srgbClr val="59697C"/>
              </a:solidFill>
              <a:latin typeface="Arial" panose="020B060402020202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TextBox 1"/>
          <p:cNvSpPr txBox="1"/>
          <p:nvPr/>
        </p:nvSpPr>
        <p:spPr>
          <a:xfrm>
            <a:off x="502920" y="201168"/>
            <a:ext cx="11201400" cy="475488"/>
          </a:xfrm>
          <a:prstGeom prst="rect">
            <a:avLst/>
          </a:prstGeom>
          <a:noFill/>
        </p:spPr>
        <p:txBody>
          <a:bodyPr wrap="none" lIns="54864" tIns="18288" rIns="54864" bIns="18288" anchor="ctr">
            <a:spAutoFit/>
          </a:bodyPr>
          <a:lstStyle/>
          <a:p>
            <a:pPr algn="r">
              <a:spcAft>
                <a:spcPts val="0"/>
              </a:spcAft>
              <a:defRPr sz="2400" b="1">
                <a:solidFill>
                  <a:srgbClr val="142A43"/>
                </a:solidFill>
                <a:latin typeface="Arial" panose="020B0604020202020204"/>
              </a:defRPr>
            </a:pPr>
            <a:r>
              <a:t>مخطط حالات الاستخدام عالي المستوى | High-Level Use Case Diagram</a:t>
            </a:r>
          </a:p>
        </p:txBody>
      </p:sp>
      <p:sp>
        <p:nvSpPr>
          <p:cNvPr id="3" name="Rectangle 2"/>
          <p:cNvSpPr/>
          <p:nvPr/>
        </p:nvSpPr>
        <p:spPr>
          <a:xfrm>
            <a:off x="502920" y="749808"/>
            <a:ext cx="11201400" cy="41148"/>
          </a:xfrm>
          <a:prstGeom prst="rect">
            <a:avLst/>
          </a:prstGeom>
          <a:solidFill>
            <a:srgbClr val="008E99"/>
          </a:solidFill>
          <a:ln>
            <a:solidFill>
              <a:srgbClr val="008E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419088"/>
            <a:ext cx="2743200" cy="201168"/>
          </a:xfrm>
          <a:prstGeom prst="rect">
            <a:avLst/>
          </a:prstGeom>
          <a:noFill/>
        </p:spPr>
        <p:txBody>
          <a:bodyPr wrap="none" lIns="54864" tIns="18288" rIns="54864" bIns="18288" anchor="ctr">
            <a:spAutoFit/>
          </a:bodyPr>
          <a:lstStyle/>
          <a:p>
            <a:pPr algn="l">
              <a:spcAft>
                <a:spcPts val="0"/>
              </a:spcAft>
              <a:defRPr sz="900" b="0">
                <a:solidFill>
                  <a:srgbClr val="697C8C"/>
                </a:solidFill>
                <a:latin typeface="Arial" panose="020B0604020202020204"/>
              </a:defRPr>
            </a:pPr>
            <a:r>
              <a:t>10/29/2026</a:t>
            </a:r>
          </a:p>
        </p:txBody>
      </p:sp>
      <p:sp>
        <p:nvSpPr>
          <p:cNvPr id="5" name="TextBox 4"/>
          <p:cNvSpPr txBox="1"/>
          <p:nvPr/>
        </p:nvSpPr>
        <p:spPr>
          <a:xfrm>
            <a:off x="3657600" y="6419088"/>
            <a:ext cx="4937760" cy="201168"/>
          </a:xfrm>
          <a:prstGeom prst="rect">
            <a:avLst/>
          </a:prstGeom>
          <a:noFill/>
        </p:spPr>
        <p:txBody>
          <a:bodyPr wrap="none" lIns="54864" tIns="18288" rIns="54864" bIns="18288" anchor="ctr">
            <a:spAutoFit/>
          </a:bodyPr>
          <a:lstStyle/>
          <a:p>
            <a:pPr algn="ctr">
              <a:spcAft>
                <a:spcPts val="0"/>
              </a:spcAft>
              <a:defRPr sz="900" b="0">
                <a:solidFill>
                  <a:srgbClr val="697C8C"/>
                </a:solidFill>
                <a:latin typeface="Arial" panose="020B0604020202020204"/>
              </a:defRPr>
            </a:pPr>
            <a:r>
              <a:t>مشروع فصلي - Car Rental Platform</a:t>
            </a:r>
          </a:p>
        </p:txBody>
      </p:sp>
      <p:sp>
        <p:nvSpPr>
          <p:cNvPr id="6" name="TextBox 5"/>
          <p:cNvSpPr txBox="1"/>
          <p:nvPr/>
        </p:nvSpPr>
        <p:spPr>
          <a:xfrm>
            <a:off x="9966960" y="6419088"/>
            <a:ext cx="1645920" cy="201168"/>
          </a:xfrm>
          <a:prstGeom prst="rect">
            <a:avLst/>
          </a:prstGeom>
          <a:noFill/>
        </p:spPr>
        <p:txBody>
          <a:bodyPr wrap="none" lIns="54864" tIns="18288" rIns="54864" bIns="18288" anchor="ctr">
            <a:spAutoFit/>
          </a:bodyPr>
          <a:lstStyle/>
          <a:p>
            <a:r>
              <a:rPr sz="1000">
                <a:solidFill>
                  <a:srgbClr val="59697C"/>
                </a:solidFill>
                <a:latin typeface="Arial" panose="020B0604020202020204"/>
              </a:rPr>
              <a:t>13</a:t>
            </a:r>
            <a:endParaRPr sz="1000">
              <a:solidFill>
                <a:srgbClr val="59697C"/>
              </a:solidFill>
              <a:latin typeface="Arial" panose="020B0604020202020204"/>
            </a:endParaRPr>
          </a:p>
        </p:txBody>
      </p:sp>
      <p:sp>
        <p:nvSpPr>
          <p:cNvPr id="7" name="Rounded Rectangle 6"/>
          <p:cNvSpPr/>
          <p:nvPr/>
        </p:nvSpPr>
        <p:spPr>
          <a:xfrm>
            <a:off x="1965960" y="1078992"/>
            <a:ext cx="8183879" cy="5010912"/>
          </a:xfrm>
          <a:prstGeom prst="roundRect">
            <a:avLst>
              <a:gd name="adj" fmla="val 12000"/>
            </a:avLst>
          </a:prstGeom>
          <a:solidFill>
            <a:srgbClr val="F4F8FB"/>
          </a:solidFill>
          <a:ln>
            <a:solidFill>
              <a:srgbClr val="265B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977639" y="1133856"/>
            <a:ext cx="4160520" cy="310896"/>
          </a:xfrm>
          <a:prstGeom prst="rect">
            <a:avLst/>
          </a:prstGeom>
          <a:noFill/>
        </p:spPr>
        <p:txBody>
          <a:bodyPr wrap="none" lIns="54864" tIns="18288" rIns="54864" bIns="18288" anchor="ctr">
            <a:spAutoFit/>
          </a:bodyPr>
          <a:lstStyle/>
          <a:p>
            <a:pPr algn="ctr">
              <a:spcAft>
                <a:spcPts val="0"/>
              </a:spcAft>
              <a:defRPr sz="1700" b="1">
                <a:solidFill>
                  <a:srgbClr val="142A43"/>
                </a:solidFill>
                <a:latin typeface="Arial" panose="020B0604020202020204"/>
              </a:defRPr>
            </a:pPr>
            <a:r>
              <a:t>Car Rental Platform</a:t>
            </a:r>
          </a:p>
        </p:txBody>
      </p:sp>
      <p:sp>
        <p:nvSpPr>
          <p:cNvPr id="9" name="TextBox 8"/>
          <p:cNvSpPr txBox="1"/>
          <p:nvPr/>
        </p:nvSpPr>
        <p:spPr>
          <a:xfrm>
            <a:off x="3977639" y="1417320"/>
            <a:ext cx="4160520" cy="219456"/>
          </a:xfrm>
          <a:prstGeom prst="rect">
            <a:avLst/>
          </a:prstGeom>
          <a:noFill/>
        </p:spPr>
        <p:txBody>
          <a:bodyPr wrap="none" lIns="54864" tIns="18288" rIns="54864" bIns="18288" anchor="ctr">
            <a:spAutoFit/>
          </a:bodyPr>
          <a:lstStyle/>
          <a:p>
            <a:pPr algn="ctr">
              <a:spcAft>
                <a:spcPts val="0"/>
              </a:spcAft>
              <a:defRPr sz="1100" b="1">
                <a:solidFill>
                  <a:srgbClr val="23303C"/>
                </a:solidFill>
                <a:latin typeface="Arial" panose="020B0604020202020204"/>
              </a:defRPr>
            </a:pPr>
            <a:r>
              <a:t>منصة إدارة مكاتب السيارات وعرض السيارات</a:t>
            </a:r>
          </a:p>
        </p:txBody>
      </p:sp>
      <p:sp>
        <p:nvSpPr>
          <p:cNvPr id="10" name="Rounded Rectangle 9"/>
          <p:cNvSpPr/>
          <p:nvPr/>
        </p:nvSpPr>
        <p:spPr>
          <a:xfrm>
            <a:off x="320040" y="1828800"/>
            <a:ext cx="1417320" cy="731520"/>
          </a:xfrm>
          <a:prstGeom prst="roundRect">
            <a:avLst>
              <a:gd name="adj" fmla="val 12000"/>
            </a:avLst>
          </a:prstGeom>
          <a:solidFill>
            <a:srgbClr val="142A43"/>
          </a:solidFill>
          <a:ln>
            <a:solidFill>
              <a:srgbClr val="14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59" y="1920240"/>
            <a:ext cx="1325880" cy="256032"/>
          </a:xfrm>
          <a:prstGeom prst="rect">
            <a:avLst/>
          </a:prstGeom>
          <a:noFill/>
        </p:spPr>
        <p:txBody>
          <a:bodyPr wrap="none" lIns="54864" tIns="18288" rIns="54864" bIns="18288" anchor="ctr">
            <a:spAutoFit/>
          </a:bodyPr>
          <a:lstStyle/>
          <a:p>
            <a:pPr algn="ctr">
              <a:spcAft>
                <a:spcPts val="0"/>
              </a:spcAft>
              <a:defRPr sz="1200" b="1">
                <a:solidFill>
                  <a:srgbClr val="FFFFFF"/>
                </a:solidFill>
                <a:latin typeface="Arial" panose="020B0604020202020204"/>
              </a:defRPr>
            </a:pPr>
            <a:r>
              <a:t>Visitor</a:t>
            </a:r>
          </a:p>
        </p:txBody>
      </p:sp>
      <p:sp>
        <p:nvSpPr>
          <p:cNvPr id="12" name="TextBox 11"/>
          <p:cNvSpPr txBox="1"/>
          <p:nvPr/>
        </p:nvSpPr>
        <p:spPr>
          <a:xfrm>
            <a:off x="365759" y="2212848"/>
            <a:ext cx="1325880" cy="201168"/>
          </a:xfrm>
          <a:prstGeom prst="rect">
            <a:avLst/>
          </a:prstGeom>
          <a:noFill/>
        </p:spPr>
        <p:txBody>
          <a:bodyPr wrap="none" lIns="54864" tIns="18288" rIns="54864" bIns="18288" anchor="ctr">
            <a:spAutoFit/>
          </a:bodyPr>
          <a:lstStyle/>
          <a:p>
            <a:pPr algn="ctr">
              <a:spcAft>
                <a:spcPts val="0"/>
              </a:spcAft>
              <a:defRPr sz="1000" b="1">
                <a:solidFill>
                  <a:srgbClr val="FFFFFF"/>
                </a:solidFill>
                <a:latin typeface="Arial" panose="020B0604020202020204"/>
              </a:defRPr>
            </a:pPr>
            <a:r>
              <a:t>زائر</a:t>
            </a:r>
          </a:p>
        </p:txBody>
      </p:sp>
      <p:sp>
        <p:nvSpPr>
          <p:cNvPr id="13" name="Rounded Rectangle 12"/>
          <p:cNvSpPr/>
          <p:nvPr/>
        </p:nvSpPr>
        <p:spPr>
          <a:xfrm>
            <a:off x="320040" y="3657600"/>
            <a:ext cx="1417320" cy="731520"/>
          </a:xfrm>
          <a:prstGeom prst="roundRect">
            <a:avLst>
              <a:gd name="adj" fmla="val 12000"/>
            </a:avLst>
          </a:prstGeom>
          <a:solidFill>
            <a:srgbClr val="142A43"/>
          </a:solidFill>
          <a:ln>
            <a:solidFill>
              <a:srgbClr val="14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59" y="3749039"/>
            <a:ext cx="1325880" cy="256032"/>
          </a:xfrm>
          <a:prstGeom prst="rect">
            <a:avLst/>
          </a:prstGeom>
          <a:noFill/>
        </p:spPr>
        <p:txBody>
          <a:bodyPr wrap="none" lIns="54864" tIns="18288" rIns="54864" bIns="18288" anchor="ctr">
            <a:spAutoFit/>
          </a:bodyPr>
          <a:lstStyle/>
          <a:p>
            <a:pPr algn="ctr">
              <a:spcAft>
                <a:spcPts val="0"/>
              </a:spcAft>
              <a:defRPr sz="1200" b="1">
                <a:solidFill>
                  <a:srgbClr val="FFFFFF"/>
                </a:solidFill>
                <a:latin typeface="Arial" panose="020B0604020202020204"/>
              </a:defRPr>
            </a:pPr>
            <a:r>
              <a:t>Customer</a:t>
            </a:r>
          </a:p>
        </p:txBody>
      </p:sp>
      <p:sp>
        <p:nvSpPr>
          <p:cNvPr id="15" name="TextBox 14"/>
          <p:cNvSpPr txBox="1"/>
          <p:nvPr/>
        </p:nvSpPr>
        <p:spPr>
          <a:xfrm>
            <a:off x="365759" y="4041648"/>
            <a:ext cx="1325880" cy="201168"/>
          </a:xfrm>
          <a:prstGeom prst="rect">
            <a:avLst/>
          </a:prstGeom>
          <a:noFill/>
        </p:spPr>
        <p:txBody>
          <a:bodyPr wrap="none" lIns="54864" tIns="18288" rIns="54864" bIns="18288" anchor="ctr">
            <a:spAutoFit/>
          </a:bodyPr>
          <a:lstStyle/>
          <a:p>
            <a:pPr algn="ctr">
              <a:spcAft>
                <a:spcPts val="0"/>
              </a:spcAft>
              <a:defRPr sz="1000" b="1">
                <a:solidFill>
                  <a:srgbClr val="FFFFFF"/>
                </a:solidFill>
                <a:latin typeface="Arial" panose="020B0604020202020204"/>
              </a:defRPr>
            </a:pPr>
            <a:r>
              <a:t>عميل</a:t>
            </a:r>
          </a:p>
        </p:txBody>
      </p:sp>
      <p:sp>
        <p:nvSpPr>
          <p:cNvPr id="16" name="Rounded Rectangle 15"/>
          <p:cNvSpPr/>
          <p:nvPr/>
        </p:nvSpPr>
        <p:spPr>
          <a:xfrm>
            <a:off x="10332720" y="1828800"/>
            <a:ext cx="1508760" cy="731520"/>
          </a:xfrm>
          <a:prstGeom prst="roundRect">
            <a:avLst>
              <a:gd name="adj" fmla="val 12000"/>
            </a:avLst>
          </a:prstGeom>
          <a:solidFill>
            <a:srgbClr val="142A43"/>
          </a:solidFill>
          <a:ln>
            <a:solidFill>
              <a:srgbClr val="14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78440" y="1920240"/>
            <a:ext cx="1417319" cy="256032"/>
          </a:xfrm>
          <a:prstGeom prst="rect">
            <a:avLst/>
          </a:prstGeom>
          <a:noFill/>
        </p:spPr>
        <p:txBody>
          <a:bodyPr wrap="none" lIns="54864" tIns="18288" rIns="54864" bIns="18288" anchor="ctr">
            <a:spAutoFit/>
          </a:bodyPr>
          <a:lstStyle/>
          <a:p>
            <a:pPr algn="ctr">
              <a:spcAft>
                <a:spcPts val="0"/>
              </a:spcAft>
              <a:defRPr sz="1200" b="1">
                <a:solidFill>
                  <a:srgbClr val="FFFFFF"/>
                </a:solidFill>
                <a:latin typeface="Arial" panose="020B0604020202020204"/>
              </a:defRPr>
            </a:pPr>
            <a:r>
              <a:t>Office Owner</a:t>
            </a:r>
          </a:p>
        </p:txBody>
      </p:sp>
      <p:sp>
        <p:nvSpPr>
          <p:cNvPr id="18" name="TextBox 17"/>
          <p:cNvSpPr txBox="1"/>
          <p:nvPr/>
        </p:nvSpPr>
        <p:spPr>
          <a:xfrm>
            <a:off x="10378440" y="2212848"/>
            <a:ext cx="1417319" cy="201168"/>
          </a:xfrm>
          <a:prstGeom prst="rect">
            <a:avLst/>
          </a:prstGeom>
          <a:noFill/>
        </p:spPr>
        <p:txBody>
          <a:bodyPr wrap="none" lIns="54864" tIns="18288" rIns="54864" bIns="18288" anchor="ctr">
            <a:spAutoFit/>
          </a:bodyPr>
          <a:lstStyle/>
          <a:p>
            <a:pPr algn="ctr">
              <a:spcAft>
                <a:spcPts val="0"/>
              </a:spcAft>
              <a:defRPr sz="1000" b="1">
                <a:solidFill>
                  <a:srgbClr val="FFFFFF"/>
                </a:solidFill>
                <a:latin typeface="Arial" panose="020B0604020202020204"/>
              </a:defRPr>
            </a:pPr>
            <a:r>
              <a:t>مالك مكتب</a:t>
            </a:r>
          </a:p>
        </p:txBody>
      </p:sp>
      <p:sp>
        <p:nvSpPr>
          <p:cNvPr id="19" name="Rounded Rectangle 18"/>
          <p:cNvSpPr/>
          <p:nvPr/>
        </p:nvSpPr>
        <p:spPr>
          <a:xfrm>
            <a:off x="10353040" y="3657600"/>
            <a:ext cx="1508760" cy="731520"/>
          </a:xfrm>
          <a:prstGeom prst="roundRect">
            <a:avLst>
              <a:gd name="adj" fmla="val 12000"/>
            </a:avLst>
          </a:prstGeom>
          <a:solidFill>
            <a:srgbClr val="142A43"/>
          </a:solidFill>
          <a:ln>
            <a:solidFill>
              <a:srgbClr val="14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78440" y="3749039"/>
            <a:ext cx="1417319" cy="256032"/>
          </a:xfrm>
          <a:prstGeom prst="rect">
            <a:avLst/>
          </a:prstGeom>
          <a:noFill/>
        </p:spPr>
        <p:txBody>
          <a:bodyPr wrap="none" lIns="54864" tIns="18288" rIns="54864" bIns="18288" anchor="ctr">
            <a:spAutoFit/>
          </a:bodyPr>
          <a:lstStyle/>
          <a:p>
            <a:pPr algn="ctr">
              <a:spcAft>
                <a:spcPts val="0"/>
              </a:spcAft>
              <a:defRPr sz="1200" b="1">
                <a:solidFill>
                  <a:srgbClr val="FFFFFF"/>
                </a:solidFill>
                <a:latin typeface="Arial" panose="020B0604020202020204"/>
              </a:defRPr>
            </a:pPr>
            <a:r>
              <a:t>Admin</a:t>
            </a:r>
          </a:p>
        </p:txBody>
      </p:sp>
      <p:sp>
        <p:nvSpPr>
          <p:cNvPr id="21" name="TextBox 20"/>
          <p:cNvSpPr txBox="1"/>
          <p:nvPr/>
        </p:nvSpPr>
        <p:spPr>
          <a:xfrm>
            <a:off x="10378440" y="4041648"/>
            <a:ext cx="1417319" cy="201168"/>
          </a:xfrm>
          <a:prstGeom prst="rect">
            <a:avLst/>
          </a:prstGeom>
          <a:noFill/>
        </p:spPr>
        <p:txBody>
          <a:bodyPr wrap="none" lIns="54864" tIns="18288" rIns="54864" bIns="18288" anchor="ctr">
            <a:spAutoFit/>
          </a:bodyPr>
          <a:lstStyle/>
          <a:p>
            <a:pPr algn="ctr">
              <a:spcAft>
                <a:spcPts val="0"/>
              </a:spcAft>
              <a:defRPr sz="1000" b="1">
                <a:solidFill>
                  <a:srgbClr val="FFFFFF"/>
                </a:solidFill>
                <a:latin typeface="Arial" panose="020B0604020202020204"/>
              </a:defRPr>
            </a:pPr>
            <a:r>
              <a:t>مدير النظام</a:t>
            </a:r>
          </a:p>
        </p:txBody>
      </p:sp>
      <p:sp>
        <p:nvSpPr>
          <p:cNvPr id="22" name="Oval 21"/>
          <p:cNvSpPr/>
          <p:nvPr/>
        </p:nvSpPr>
        <p:spPr>
          <a:xfrm>
            <a:off x="2331720" y="1828800"/>
            <a:ext cx="2103120" cy="640080"/>
          </a:xfrm>
          <a:prstGeom prst="ellipse">
            <a:avLst/>
          </a:prstGeom>
          <a:solidFill>
            <a:srgbClr val="FFFFFF"/>
          </a:solidFill>
          <a:ln w="20320">
            <a:solidFill>
              <a:srgbClr val="008E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86584" y="1901952"/>
            <a:ext cx="1993391" cy="228600"/>
          </a:xfrm>
          <a:prstGeom prst="rect">
            <a:avLst/>
          </a:prstGeom>
          <a:noFill/>
        </p:spPr>
        <p:txBody>
          <a:bodyPr wrap="none" lIns="54864" tIns="18288" rIns="54864" bIns="18288" anchor="ctr">
            <a:spAutoFit/>
          </a:bodyPr>
          <a:lstStyle/>
          <a:p>
            <a:pPr algn="ctr">
              <a:spcAft>
                <a:spcPts val="0"/>
              </a:spcAft>
              <a:defRPr sz="1100" b="1">
                <a:solidFill>
                  <a:srgbClr val="142A43"/>
                </a:solidFill>
                <a:latin typeface="Arial" panose="020B0604020202020204"/>
              </a:defRPr>
            </a:pPr>
            <a:r>
              <a:t>Browse cars</a:t>
            </a:r>
          </a:p>
        </p:txBody>
      </p:sp>
      <p:sp>
        <p:nvSpPr>
          <p:cNvPr id="24" name="TextBox 23"/>
          <p:cNvSpPr txBox="1"/>
          <p:nvPr/>
        </p:nvSpPr>
        <p:spPr>
          <a:xfrm>
            <a:off x="2386584" y="2157984"/>
            <a:ext cx="1993391" cy="182880"/>
          </a:xfrm>
          <a:prstGeom prst="rect">
            <a:avLst/>
          </a:prstGeom>
          <a:noFill/>
        </p:spPr>
        <p:txBody>
          <a:bodyPr wrap="none" lIns="54864" tIns="18288" rIns="54864" bIns="18288" anchor="ctr">
            <a:spAutoFit/>
          </a:bodyPr>
          <a:lstStyle/>
          <a:p>
            <a:pPr algn="ctr">
              <a:spcAft>
                <a:spcPts val="0"/>
              </a:spcAft>
              <a:defRPr sz="900" b="0">
                <a:solidFill>
                  <a:srgbClr val="23303C"/>
                </a:solidFill>
                <a:latin typeface="Arial" panose="020B0604020202020204"/>
              </a:defRPr>
            </a:pPr>
            <a:r>
              <a:t>تصفح السيارات</a:t>
            </a:r>
          </a:p>
        </p:txBody>
      </p:sp>
      <p:sp>
        <p:nvSpPr>
          <p:cNvPr id="25" name="Oval 24"/>
          <p:cNvSpPr/>
          <p:nvPr/>
        </p:nvSpPr>
        <p:spPr>
          <a:xfrm>
            <a:off x="4617720" y="1828800"/>
            <a:ext cx="2148840" cy="640080"/>
          </a:xfrm>
          <a:prstGeom prst="ellipse">
            <a:avLst/>
          </a:prstGeom>
          <a:solidFill>
            <a:srgbClr val="FFFFFF"/>
          </a:solidFill>
          <a:ln w="20320">
            <a:solidFill>
              <a:srgbClr val="008E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72583" y="1901952"/>
            <a:ext cx="2039112" cy="228600"/>
          </a:xfrm>
          <a:prstGeom prst="rect">
            <a:avLst/>
          </a:prstGeom>
          <a:noFill/>
        </p:spPr>
        <p:txBody>
          <a:bodyPr wrap="none" lIns="54864" tIns="18288" rIns="54864" bIns="18288" anchor="ctr">
            <a:spAutoFit/>
          </a:bodyPr>
          <a:lstStyle/>
          <a:p>
            <a:pPr algn="ctr">
              <a:spcAft>
                <a:spcPts val="0"/>
              </a:spcAft>
              <a:defRPr sz="1100" b="1">
                <a:solidFill>
                  <a:srgbClr val="142A43"/>
                </a:solidFill>
                <a:latin typeface="Arial" panose="020B0604020202020204"/>
              </a:defRPr>
            </a:pPr>
            <a:r>
              <a:t>Search &amp; filter</a:t>
            </a:r>
          </a:p>
        </p:txBody>
      </p:sp>
      <p:sp>
        <p:nvSpPr>
          <p:cNvPr id="27" name="TextBox 26"/>
          <p:cNvSpPr txBox="1"/>
          <p:nvPr/>
        </p:nvSpPr>
        <p:spPr>
          <a:xfrm>
            <a:off x="4672583" y="2157984"/>
            <a:ext cx="2039112" cy="182880"/>
          </a:xfrm>
          <a:prstGeom prst="rect">
            <a:avLst/>
          </a:prstGeom>
          <a:noFill/>
        </p:spPr>
        <p:txBody>
          <a:bodyPr wrap="none" lIns="54864" tIns="18288" rIns="54864" bIns="18288" anchor="ctr">
            <a:spAutoFit/>
          </a:bodyPr>
          <a:lstStyle/>
          <a:p>
            <a:pPr algn="ctr">
              <a:spcAft>
                <a:spcPts val="0"/>
              </a:spcAft>
              <a:defRPr sz="900" b="0">
                <a:solidFill>
                  <a:srgbClr val="23303C"/>
                </a:solidFill>
                <a:latin typeface="Arial" panose="020B0604020202020204"/>
              </a:defRPr>
            </a:pPr>
            <a:r>
              <a:t>بحث وتصفية</a:t>
            </a:r>
          </a:p>
        </p:txBody>
      </p:sp>
      <p:sp>
        <p:nvSpPr>
          <p:cNvPr id="28" name="Oval 27"/>
          <p:cNvSpPr/>
          <p:nvPr/>
        </p:nvSpPr>
        <p:spPr>
          <a:xfrm>
            <a:off x="6967728" y="1828800"/>
            <a:ext cx="2606040" cy="640080"/>
          </a:xfrm>
          <a:prstGeom prst="ellipse">
            <a:avLst/>
          </a:prstGeom>
          <a:solidFill>
            <a:srgbClr val="FFFFFF"/>
          </a:solidFill>
          <a:ln w="20320">
            <a:solidFill>
              <a:srgbClr val="008E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22592" y="1901952"/>
            <a:ext cx="2496312" cy="228600"/>
          </a:xfrm>
          <a:prstGeom prst="rect">
            <a:avLst/>
          </a:prstGeom>
          <a:noFill/>
        </p:spPr>
        <p:txBody>
          <a:bodyPr wrap="none" lIns="54864" tIns="18288" rIns="54864" bIns="18288" anchor="ctr">
            <a:spAutoFit/>
          </a:bodyPr>
          <a:lstStyle/>
          <a:p>
            <a:pPr algn="ctr">
              <a:spcAft>
                <a:spcPts val="0"/>
              </a:spcAft>
              <a:defRPr sz="1100" b="1">
                <a:solidFill>
                  <a:srgbClr val="142A43"/>
                </a:solidFill>
                <a:latin typeface="Arial" panose="020B0604020202020204"/>
              </a:defRPr>
            </a:pPr>
            <a:r>
              <a:t>View car details</a:t>
            </a:r>
          </a:p>
        </p:txBody>
      </p:sp>
      <p:sp>
        <p:nvSpPr>
          <p:cNvPr id="30" name="TextBox 29"/>
          <p:cNvSpPr txBox="1"/>
          <p:nvPr/>
        </p:nvSpPr>
        <p:spPr>
          <a:xfrm>
            <a:off x="7022592" y="2157984"/>
            <a:ext cx="2496312" cy="182880"/>
          </a:xfrm>
          <a:prstGeom prst="rect">
            <a:avLst/>
          </a:prstGeom>
          <a:noFill/>
        </p:spPr>
        <p:txBody>
          <a:bodyPr wrap="none" lIns="54864" tIns="18288" rIns="54864" bIns="18288" anchor="ctr">
            <a:spAutoFit/>
          </a:bodyPr>
          <a:lstStyle/>
          <a:p>
            <a:pPr algn="ctr">
              <a:spcAft>
                <a:spcPts val="0"/>
              </a:spcAft>
              <a:defRPr sz="900" b="0">
                <a:solidFill>
                  <a:srgbClr val="23303C"/>
                </a:solidFill>
                <a:latin typeface="Arial" panose="020B0604020202020204"/>
              </a:defRPr>
            </a:pPr>
            <a:r>
              <a:t>عرض تفاصيل السيارة</a:t>
            </a:r>
          </a:p>
        </p:txBody>
      </p:sp>
      <p:sp>
        <p:nvSpPr>
          <p:cNvPr id="31" name="Oval 30"/>
          <p:cNvSpPr/>
          <p:nvPr/>
        </p:nvSpPr>
        <p:spPr>
          <a:xfrm>
            <a:off x="2331720" y="2926080"/>
            <a:ext cx="2103120" cy="640080"/>
          </a:xfrm>
          <a:prstGeom prst="ellipse">
            <a:avLst/>
          </a:prstGeom>
          <a:solidFill>
            <a:srgbClr val="FFFFFF"/>
          </a:solidFill>
          <a:ln w="20320">
            <a:solidFill>
              <a:srgbClr val="008E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386584" y="2999232"/>
            <a:ext cx="1993391" cy="228600"/>
          </a:xfrm>
          <a:prstGeom prst="rect">
            <a:avLst/>
          </a:prstGeom>
          <a:noFill/>
        </p:spPr>
        <p:txBody>
          <a:bodyPr wrap="none" lIns="54864" tIns="18288" rIns="54864" bIns="18288" anchor="ctr">
            <a:spAutoFit/>
          </a:bodyPr>
          <a:lstStyle/>
          <a:p>
            <a:pPr algn="ctr">
              <a:spcAft>
                <a:spcPts val="0"/>
              </a:spcAft>
              <a:defRPr sz="1100" b="1">
                <a:solidFill>
                  <a:srgbClr val="142A43"/>
                </a:solidFill>
                <a:latin typeface="Arial" panose="020B0604020202020204"/>
              </a:defRPr>
            </a:pPr>
            <a:r>
              <a:t>Register / Login</a:t>
            </a:r>
          </a:p>
        </p:txBody>
      </p:sp>
      <p:sp>
        <p:nvSpPr>
          <p:cNvPr id="33" name="TextBox 32"/>
          <p:cNvSpPr txBox="1"/>
          <p:nvPr/>
        </p:nvSpPr>
        <p:spPr>
          <a:xfrm>
            <a:off x="2386584" y="3255264"/>
            <a:ext cx="1993391" cy="182880"/>
          </a:xfrm>
          <a:prstGeom prst="rect">
            <a:avLst/>
          </a:prstGeom>
          <a:noFill/>
        </p:spPr>
        <p:txBody>
          <a:bodyPr wrap="none" lIns="54864" tIns="18288" rIns="54864" bIns="18288" anchor="ctr">
            <a:spAutoFit/>
          </a:bodyPr>
          <a:lstStyle/>
          <a:p>
            <a:pPr algn="ctr">
              <a:spcAft>
                <a:spcPts val="0"/>
              </a:spcAft>
              <a:defRPr sz="900" b="0">
                <a:solidFill>
                  <a:srgbClr val="23303C"/>
                </a:solidFill>
                <a:latin typeface="Arial" panose="020B0604020202020204"/>
              </a:defRPr>
            </a:pPr>
            <a:r>
              <a:t>إنشاء حساب / دخول</a:t>
            </a:r>
          </a:p>
        </p:txBody>
      </p:sp>
      <p:sp>
        <p:nvSpPr>
          <p:cNvPr id="34" name="Oval 33"/>
          <p:cNvSpPr/>
          <p:nvPr/>
        </p:nvSpPr>
        <p:spPr>
          <a:xfrm>
            <a:off x="4617720" y="2926080"/>
            <a:ext cx="2148840" cy="640080"/>
          </a:xfrm>
          <a:prstGeom prst="ellipse">
            <a:avLst/>
          </a:prstGeom>
          <a:solidFill>
            <a:srgbClr val="FFFFFF"/>
          </a:solidFill>
          <a:ln w="20320">
            <a:solidFill>
              <a:srgbClr val="008E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72583" y="2999232"/>
            <a:ext cx="2039112" cy="228600"/>
          </a:xfrm>
          <a:prstGeom prst="rect">
            <a:avLst/>
          </a:prstGeom>
          <a:noFill/>
        </p:spPr>
        <p:txBody>
          <a:bodyPr wrap="none" lIns="54864" tIns="18288" rIns="54864" bIns="18288" anchor="ctr">
            <a:spAutoFit/>
          </a:bodyPr>
          <a:lstStyle/>
          <a:p>
            <a:pPr algn="ctr">
              <a:spcAft>
                <a:spcPts val="0"/>
              </a:spcAft>
              <a:defRPr sz="1100" b="1">
                <a:solidFill>
                  <a:srgbClr val="142A43"/>
                </a:solidFill>
                <a:latin typeface="Arial" panose="020B0604020202020204"/>
              </a:defRPr>
            </a:pPr>
            <a:r>
              <a:t>Send inquiry</a:t>
            </a:r>
          </a:p>
        </p:txBody>
      </p:sp>
      <p:sp>
        <p:nvSpPr>
          <p:cNvPr id="36" name="TextBox 35"/>
          <p:cNvSpPr txBox="1"/>
          <p:nvPr/>
        </p:nvSpPr>
        <p:spPr>
          <a:xfrm>
            <a:off x="4672583" y="3255264"/>
            <a:ext cx="2039112" cy="182880"/>
          </a:xfrm>
          <a:prstGeom prst="rect">
            <a:avLst/>
          </a:prstGeom>
          <a:noFill/>
        </p:spPr>
        <p:txBody>
          <a:bodyPr wrap="none" lIns="54864" tIns="18288" rIns="54864" bIns="18288" anchor="ctr">
            <a:spAutoFit/>
          </a:bodyPr>
          <a:lstStyle/>
          <a:p>
            <a:pPr algn="ctr">
              <a:spcAft>
                <a:spcPts val="0"/>
              </a:spcAft>
              <a:defRPr sz="900" b="0">
                <a:solidFill>
                  <a:srgbClr val="23303C"/>
                </a:solidFill>
                <a:latin typeface="Arial" panose="020B0604020202020204"/>
              </a:defRPr>
            </a:pPr>
            <a:r>
              <a:t>إرسال استفسار</a:t>
            </a:r>
          </a:p>
        </p:txBody>
      </p:sp>
      <p:sp>
        <p:nvSpPr>
          <p:cNvPr id="37" name="Oval 36"/>
          <p:cNvSpPr/>
          <p:nvPr/>
        </p:nvSpPr>
        <p:spPr>
          <a:xfrm>
            <a:off x="6967728" y="2926080"/>
            <a:ext cx="2606040" cy="640080"/>
          </a:xfrm>
          <a:prstGeom prst="ellipse">
            <a:avLst/>
          </a:prstGeom>
          <a:solidFill>
            <a:srgbClr val="FFFFFF"/>
          </a:solidFill>
          <a:ln w="20320">
            <a:solidFill>
              <a:srgbClr val="008E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022592" y="2999232"/>
            <a:ext cx="2496312" cy="228600"/>
          </a:xfrm>
          <a:prstGeom prst="rect">
            <a:avLst/>
          </a:prstGeom>
          <a:noFill/>
        </p:spPr>
        <p:txBody>
          <a:bodyPr wrap="none" lIns="54864" tIns="18288" rIns="54864" bIns="18288" anchor="ctr">
            <a:spAutoFit/>
          </a:bodyPr>
          <a:lstStyle/>
          <a:p>
            <a:pPr algn="ctr">
              <a:spcAft>
                <a:spcPts val="0"/>
              </a:spcAft>
              <a:defRPr sz="1100" b="1">
                <a:solidFill>
                  <a:srgbClr val="142A43"/>
                </a:solidFill>
                <a:latin typeface="Arial" panose="020B0604020202020204"/>
              </a:defRPr>
            </a:pPr>
            <a:r>
              <a:t>Manage car inventory</a:t>
            </a:r>
          </a:p>
        </p:txBody>
      </p:sp>
      <p:sp>
        <p:nvSpPr>
          <p:cNvPr id="39" name="TextBox 38"/>
          <p:cNvSpPr txBox="1"/>
          <p:nvPr/>
        </p:nvSpPr>
        <p:spPr>
          <a:xfrm>
            <a:off x="7022592" y="3255264"/>
            <a:ext cx="2496312" cy="182880"/>
          </a:xfrm>
          <a:prstGeom prst="rect">
            <a:avLst/>
          </a:prstGeom>
          <a:noFill/>
        </p:spPr>
        <p:txBody>
          <a:bodyPr wrap="none" lIns="54864" tIns="18288" rIns="54864" bIns="18288" anchor="ctr">
            <a:spAutoFit/>
          </a:bodyPr>
          <a:lstStyle/>
          <a:p>
            <a:pPr algn="ctr">
              <a:spcAft>
                <a:spcPts val="0"/>
              </a:spcAft>
              <a:defRPr sz="900" b="0">
                <a:solidFill>
                  <a:srgbClr val="23303C"/>
                </a:solidFill>
                <a:latin typeface="Arial" panose="020B0604020202020204"/>
              </a:defRPr>
            </a:pPr>
            <a:r>
              <a:t>إدارة السيارات</a:t>
            </a:r>
          </a:p>
        </p:txBody>
      </p:sp>
      <p:sp>
        <p:nvSpPr>
          <p:cNvPr id="40" name="Oval 39"/>
          <p:cNvSpPr/>
          <p:nvPr/>
        </p:nvSpPr>
        <p:spPr>
          <a:xfrm>
            <a:off x="2971800" y="4133087"/>
            <a:ext cx="2468880" cy="640080"/>
          </a:xfrm>
          <a:prstGeom prst="ellipse">
            <a:avLst/>
          </a:prstGeom>
          <a:solidFill>
            <a:srgbClr val="FFFFFF"/>
          </a:solidFill>
          <a:ln w="20320">
            <a:solidFill>
              <a:srgbClr val="008E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026664" y="4206240"/>
            <a:ext cx="2359152" cy="228600"/>
          </a:xfrm>
          <a:prstGeom prst="rect">
            <a:avLst/>
          </a:prstGeom>
          <a:noFill/>
        </p:spPr>
        <p:txBody>
          <a:bodyPr wrap="none" lIns="54864" tIns="18288" rIns="54864" bIns="18288" anchor="ctr">
            <a:spAutoFit/>
          </a:bodyPr>
          <a:lstStyle/>
          <a:p>
            <a:pPr algn="ctr">
              <a:spcAft>
                <a:spcPts val="0"/>
              </a:spcAft>
              <a:defRPr sz="1100" b="1">
                <a:solidFill>
                  <a:srgbClr val="142A43"/>
                </a:solidFill>
                <a:latin typeface="Arial" panose="020B0604020202020204"/>
              </a:defRPr>
            </a:pPr>
            <a:r>
              <a:t>Manage office profile</a:t>
            </a:r>
          </a:p>
        </p:txBody>
      </p:sp>
      <p:sp>
        <p:nvSpPr>
          <p:cNvPr id="42" name="TextBox 41"/>
          <p:cNvSpPr txBox="1"/>
          <p:nvPr/>
        </p:nvSpPr>
        <p:spPr>
          <a:xfrm>
            <a:off x="3026664" y="4462272"/>
            <a:ext cx="2359152" cy="182880"/>
          </a:xfrm>
          <a:prstGeom prst="rect">
            <a:avLst/>
          </a:prstGeom>
          <a:noFill/>
        </p:spPr>
        <p:txBody>
          <a:bodyPr wrap="none" lIns="54864" tIns="18288" rIns="54864" bIns="18288" anchor="ctr">
            <a:spAutoFit/>
          </a:bodyPr>
          <a:lstStyle/>
          <a:p>
            <a:pPr algn="ctr">
              <a:spcAft>
                <a:spcPts val="0"/>
              </a:spcAft>
              <a:defRPr sz="900" b="0">
                <a:solidFill>
                  <a:srgbClr val="23303C"/>
                </a:solidFill>
                <a:latin typeface="Arial" panose="020B0604020202020204"/>
              </a:defRPr>
            </a:pPr>
            <a:r>
              <a:t>إدارة ملف المكتب</a:t>
            </a:r>
          </a:p>
        </p:txBody>
      </p:sp>
      <p:sp>
        <p:nvSpPr>
          <p:cNvPr id="43" name="Oval 42"/>
          <p:cNvSpPr/>
          <p:nvPr/>
        </p:nvSpPr>
        <p:spPr>
          <a:xfrm>
            <a:off x="5852160" y="4133087"/>
            <a:ext cx="2468880" cy="640080"/>
          </a:xfrm>
          <a:prstGeom prst="ellipse">
            <a:avLst/>
          </a:prstGeom>
          <a:solidFill>
            <a:srgbClr val="FFFFFF"/>
          </a:solidFill>
          <a:ln w="20320">
            <a:solidFill>
              <a:srgbClr val="008E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907024" y="4206240"/>
            <a:ext cx="2359152" cy="228600"/>
          </a:xfrm>
          <a:prstGeom prst="rect">
            <a:avLst/>
          </a:prstGeom>
          <a:noFill/>
        </p:spPr>
        <p:txBody>
          <a:bodyPr wrap="none" lIns="54864" tIns="18288" rIns="54864" bIns="18288" anchor="ctr">
            <a:spAutoFit/>
          </a:bodyPr>
          <a:lstStyle/>
          <a:p>
            <a:pPr algn="ctr">
              <a:spcAft>
                <a:spcPts val="0"/>
              </a:spcAft>
              <a:defRPr sz="1100" b="1">
                <a:solidFill>
                  <a:srgbClr val="142A43"/>
                </a:solidFill>
                <a:latin typeface="Arial" panose="020B0604020202020204"/>
              </a:defRPr>
            </a:pPr>
            <a:r>
              <a:t>Manage users &amp; offices</a:t>
            </a:r>
          </a:p>
        </p:txBody>
      </p:sp>
      <p:sp>
        <p:nvSpPr>
          <p:cNvPr id="45" name="TextBox 44"/>
          <p:cNvSpPr txBox="1"/>
          <p:nvPr/>
        </p:nvSpPr>
        <p:spPr>
          <a:xfrm>
            <a:off x="5907024" y="4462272"/>
            <a:ext cx="2359152" cy="182880"/>
          </a:xfrm>
          <a:prstGeom prst="rect">
            <a:avLst/>
          </a:prstGeom>
          <a:noFill/>
        </p:spPr>
        <p:txBody>
          <a:bodyPr wrap="none" lIns="54864" tIns="18288" rIns="54864" bIns="18288" anchor="ctr">
            <a:spAutoFit/>
          </a:bodyPr>
          <a:lstStyle/>
          <a:p>
            <a:pPr algn="ctr">
              <a:spcAft>
                <a:spcPts val="0"/>
              </a:spcAft>
              <a:defRPr sz="900" b="0">
                <a:solidFill>
                  <a:srgbClr val="23303C"/>
                </a:solidFill>
                <a:latin typeface="Arial" panose="020B0604020202020204"/>
              </a:defRPr>
            </a:pPr>
            <a:r>
              <a:t>إدارة المستخدمين والمكاتب</a:t>
            </a:r>
          </a:p>
        </p:txBody>
      </p:sp>
      <p:cxnSp>
        <p:nvCxnSpPr>
          <p:cNvPr id="46" name="Connector 45"/>
          <p:cNvCxnSpPr/>
          <p:nvPr/>
        </p:nvCxnSpPr>
        <p:spPr>
          <a:xfrm>
            <a:off x="1737360" y="2148840"/>
            <a:ext cx="594360" cy="0"/>
          </a:xfrm>
          <a:prstGeom prst="line">
            <a:avLst/>
          </a:prstGeom>
          <a:ln w="15240">
            <a:solidFill>
              <a:srgbClr val="697C8C"/>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737360" y="2148840"/>
            <a:ext cx="2880360" cy="0"/>
          </a:xfrm>
          <a:prstGeom prst="line">
            <a:avLst/>
          </a:prstGeom>
          <a:ln w="12700">
            <a:solidFill>
              <a:srgbClr val="697C8C"/>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737360" y="2148840"/>
            <a:ext cx="5230368" cy="0"/>
          </a:xfrm>
          <a:prstGeom prst="line">
            <a:avLst/>
          </a:prstGeom>
          <a:ln w="12700">
            <a:solidFill>
              <a:srgbClr val="697C8C"/>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1737360" y="3246120"/>
            <a:ext cx="594360" cy="685800"/>
          </a:xfrm>
          <a:prstGeom prst="line">
            <a:avLst/>
          </a:prstGeom>
          <a:ln w="15240">
            <a:solidFill>
              <a:srgbClr val="697C8C"/>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1737360" y="3246120"/>
            <a:ext cx="2880360" cy="685800"/>
          </a:xfrm>
          <a:prstGeom prst="line">
            <a:avLst/>
          </a:prstGeom>
          <a:ln w="15240">
            <a:solidFill>
              <a:srgbClr val="697C8C"/>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9573768" y="2194560"/>
            <a:ext cx="758952" cy="1051560"/>
          </a:xfrm>
          <a:prstGeom prst="line">
            <a:avLst/>
          </a:prstGeom>
          <a:ln w="15240">
            <a:solidFill>
              <a:srgbClr val="697C8C"/>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5440680" y="2194560"/>
            <a:ext cx="4892040" cy="2258568"/>
          </a:xfrm>
          <a:prstGeom prst="line">
            <a:avLst/>
          </a:prstGeom>
          <a:ln w="12700">
            <a:solidFill>
              <a:srgbClr val="697C8C"/>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8321040" y="4023360"/>
            <a:ext cx="2011680" cy="429768"/>
          </a:xfrm>
          <a:prstGeom prst="line">
            <a:avLst/>
          </a:prstGeom>
          <a:ln w="15240">
            <a:solidFill>
              <a:srgbClr val="697C8C"/>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2148840" y="5504688"/>
            <a:ext cx="7818120" cy="365760"/>
          </a:xfrm>
          <a:prstGeom prst="rect">
            <a:avLst/>
          </a:prstGeom>
          <a:noFill/>
        </p:spPr>
        <p:txBody>
          <a:bodyPr wrap="none" lIns="54864" tIns="18288" rIns="54864" bIns="18288" anchor="ctr">
            <a:spAutoFit/>
          </a:bodyPr>
          <a:lstStyle/>
          <a:p>
            <a:pPr algn="ctr">
              <a:spcAft>
                <a:spcPts val="0"/>
              </a:spcAft>
              <a:defRPr sz="1000" b="1">
                <a:solidFill>
                  <a:srgbClr val="142A43"/>
                </a:solidFill>
                <a:latin typeface="Arial" panose="020B0604020202020204"/>
              </a:defRPr>
            </a:pPr>
            <a:r>
              <a:t>ملاحظة: لا يتضمن النطاق الحجوزات أو الاشتراكات أو الدفع الإلكتروني؛ يتواصل العميل مع المكتب عبر الاستفسارات.</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p:sp>
        <p:nvSpPr>
          <p:cNvPr id="2" name="TextBox 1"/>
          <p:cNvSpPr txBox="1"/>
          <p:nvPr/>
        </p:nvSpPr>
        <p:spPr>
          <a:xfrm>
            <a:off x="411480" y="164592"/>
            <a:ext cx="11338560" cy="384048"/>
          </a:xfrm>
          <a:prstGeom prst="rect">
            <a:avLst/>
          </a:prstGeom>
          <a:noFill/>
        </p:spPr>
        <p:txBody>
          <a:bodyPr wrap="square" lIns="54864" tIns="18288" rIns="54864" bIns="18288">
            <a:spAutoFit/>
          </a:bodyPr>
          <a:lstStyle/>
          <a:p>
            <a:pPr algn="ctr"/>
            <a:r>
              <a:rPr sz="2400" b="1">
                <a:solidFill>
                  <a:srgbClr val="18314F"/>
                </a:solidFill>
                <a:latin typeface="Aptos"/>
              </a:rPr>
              <a:t>Use Case Description: Browse Cars</a:t>
            </a:r>
            <a:endParaRPr sz="2400" b="1">
              <a:solidFill>
                <a:srgbClr val="18314F"/>
              </a:solidFill>
              <a:latin typeface="Aptos"/>
            </a:endParaRPr>
          </a:p>
        </p:txBody>
      </p:sp>
      <p:sp>
        <p:nvSpPr>
          <p:cNvPr id="3" name="TextBox 2"/>
          <p:cNvSpPr txBox="1"/>
          <p:nvPr/>
        </p:nvSpPr>
        <p:spPr>
          <a:xfrm>
            <a:off x="411480" y="539496"/>
            <a:ext cx="11338560" cy="329184"/>
          </a:xfrm>
          <a:prstGeom prst="rect">
            <a:avLst/>
          </a:prstGeom>
          <a:noFill/>
        </p:spPr>
        <p:txBody>
          <a:bodyPr wrap="square" lIns="54864" tIns="18288" rIns="54864" bIns="18288">
            <a:spAutoFit/>
          </a:bodyPr>
          <a:lstStyle/>
          <a:p>
            <a:pPr algn="ctr"/>
            <a:r>
              <a:rPr sz="1800" b="1">
                <a:solidFill>
                  <a:srgbClr val="18314F"/>
                </a:solidFill>
                <a:latin typeface="Aptos"/>
              </a:rPr>
              <a:t>وصف حالة الاستخدام: تصفح السيارات</a:t>
            </a:r>
            <a:endParaRPr sz="1800" b="1">
              <a:solidFill>
                <a:srgbClr val="18314F"/>
              </a:solidFill>
              <a:latin typeface="Aptos"/>
            </a:endParaRPr>
          </a:p>
        </p:txBody>
      </p:sp>
      <p:sp>
        <p:nvSpPr>
          <p:cNvPr id="4" name="TextBox 3"/>
          <p:cNvSpPr txBox="1"/>
          <p:nvPr/>
        </p:nvSpPr>
        <p:spPr>
          <a:xfrm>
            <a:off x="502920" y="877824"/>
            <a:ext cx="11155680" cy="256032"/>
          </a:xfrm>
          <a:prstGeom prst="rect">
            <a:avLst/>
          </a:prstGeom>
          <a:noFill/>
        </p:spPr>
        <p:txBody>
          <a:bodyPr wrap="square" lIns="54864" tIns="18288" rIns="54864" bIns="18288">
            <a:spAutoFit/>
          </a:bodyPr>
          <a:lstStyle/>
          <a:p>
            <a:pPr algn="ctr"/>
            <a:r>
              <a:rPr sz="1000" b="0">
                <a:solidFill>
                  <a:srgbClr val="5B7084"/>
                </a:solidFill>
                <a:latin typeface="Aptos"/>
              </a:rPr>
              <a:t>Selected high-priority use case / حالة استخدام ذات أولوية عالية</a:t>
            </a:r>
            <a:endParaRPr sz="1000" b="0">
              <a:solidFill>
                <a:srgbClr val="5B7084"/>
              </a:solidFill>
              <a:latin typeface="Aptos"/>
            </a:endParaRPr>
          </a:p>
        </p:txBody>
      </p:sp>
      <p:sp>
        <p:nvSpPr>
          <p:cNvPr id="5" name="Rectangle 4"/>
          <p:cNvSpPr/>
          <p:nvPr/>
        </p:nvSpPr>
        <p:spPr>
          <a:xfrm>
            <a:off x="502920" y="1170432"/>
            <a:ext cx="11155680" cy="22860"/>
          </a:xfrm>
          <a:prstGeom prst="rect">
            <a:avLst/>
          </a:prstGeom>
          <a:solidFill>
            <a:srgbClr val="E2EDF5"/>
          </a:solidFill>
          <a:ln>
            <a:solidFill>
              <a:srgbClr val="0091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6528816"/>
            <a:ext cx="11521440" cy="164592"/>
          </a:xfrm>
          <a:prstGeom prst="rect">
            <a:avLst/>
          </a:prstGeom>
          <a:noFill/>
        </p:spPr>
        <p:txBody>
          <a:bodyPr wrap="square" lIns="54864" tIns="18288" rIns="54864" bIns="18288">
            <a:spAutoFit/>
          </a:bodyPr>
          <a:lstStyle/>
          <a:p>
            <a:pPr algn="ctr"/>
            <a:r>
              <a:rPr sz="800" b="0">
                <a:solidFill>
                  <a:srgbClr val="18314F"/>
                </a:solidFill>
                <a:latin typeface="Aptos"/>
              </a:rPr>
              <a:t>Car Rental Platform  |  مخططات المشروع  •  15</a:t>
            </a:r>
            <a:endParaRPr sz="800" b="0">
              <a:solidFill>
                <a:srgbClr val="18314F"/>
              </a:solidFill>
              <a:latin typeface="Aptos"/>
            </a:endParaRPr>
          </a:p>
        </p:txBody>
      </p:sp>
      <p:sp>
        <p:nvSpPr>
          <p:cNvPr id="7" name="Rounded Rectangle 6"/>
          <p:cNvSpPr/>
          <p:nvPr/>
        </p:nvSpPr>
        <p:spPr>
          <a:xfrm>
            <a:off x="502920" y="1417320"/>
            <a:ext cx="2743200" cy="713232"/>
          </a:xfrm>
          <a:prstGeom prst="roundRect">
            <a:avLst/>
          </a:prstGeom>
          <a:solidFill>
            <a:srgbClr val="FFFFFF"/>
          </a:solidFill>
          <a:ln w="19050">
            <a:solidFill>
              <a:srgbClr val="0091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18314F"/>
                </a:solidFill>
                <a:latin typeface="Aptos"/>
              </a:rPr>
              <a:t>Use Case: Browse &amp; Search Cars</a:t>
            </a:r>
            <a:endParaRPr sz="1200" b="1">
              <a:solidFill>
                <a:srgbClr val="18314F"/>
              </a:solidFill>
              <a:latin typeface="Aptos"/>
            </a:endParaRPr>
          </a:p>
          <a:p>
            <a:pPr algn="ctr">
              <a:spcBef>
                <a:spcPts val="200"/>
              </a:spcBef>
            </a:pPr>
            <a:r>
              <a:rPr sz="1000">
                <a:solidFill>
                  <a:srgbClr val="18314F"/>
                </a:solidFill>
                <a:latin typeface="Arial" panose="020B0604020202020204"/>
              </a:rPr>
              <a:t>حالة الاستخدام: تصفح وبحث السيارات</a:t>
            </a:r>
            <a:endParaRPr sz="1000">
              <a:solidFill>
                <a:srgbClr val="18314F"/>
              </a:solidFill>
              <a:latin typeface="Arial" panose="020B0604020202020204"/>
            </a:endParaRPr>
          </a:p>
        </p:txBody>
      </p:sp>
      <p:sp>
        <p:nvSpPr>
          <p:cNvPr id="8" name="Rounded Rectangle 7"/>
          <p:cNvSpPr/>
          <p:nvPr/>
        </p:nvSpPr>
        <p:spPr>
          <a:xfrm>
            <a:off x="3429000" y="1417320"/>
            <a:ext cx="2468880" cy="713232"/>
          </a:xfrm>
          <a:prstGeom prst="roundRect">
            <a:avLst/>
          </a:prstGeom>
          <a:solidFill>
            <a:srgbClr val="FFFFFF"/>
          </a:solidFill>
          <a:ln w="19050">
            <a:solidFill>
              <a:srgbClr val="0091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18314F"/>
                </a:solidFill>
                <a:latin typeface="Aptos"/>
              </a:rPr>
              <a:t>Primary Actor: Visitor / Customer</a:t>
            </a:r>
            <a:endParaRPr sz="1100" b="1">
              <a:solidFill>
                <a:srgbClr val="18314F"/>
              </a:solidFill>
              <a:latin typeface="Aptos"/>
            </a:endParaRPr>
          </a:p>
          <a:p>
            <a:pPr algn="ctr">
              <a:spcBef>
                <a:spcPts val="200"/>
              </a:spcBef>
            </a:pPr>
            <a:r>
              <a:rPr sz="900">
                <a:solidFill>
                  <a:srgbClr val="18314F"/>
                </a:solidFill>
                <a:latin typeface="Arial" panose="020B0604020202020204"/>
              </a:rPr>
              <a:t>الممثل الأساسي: زائر / عميل</a:t>
            </a:r>
            <a:endParaRPr sz="900">
              <a:solidFill>
                <a:srgbClr val="18314F"/>
              </a:solidFill>
              <a:latin typeface="Arial" panose="020B0604020202020204"/>
            </a:endParaRPr>
          </a:p>
        </p:txBody>
      </p:sp>
      <p:sp>
        <p:nvSpPr>
          <p:cNvPr id="9" name="Rounded Rectangle 8"/>
          <p:cNvSpPr/>
          <p:nvPr/>
        </p:nvSpPr>
        <p:spPr>
          <a:xfrm>
            <a:off x="6080760" y="1417320"/>
            <a:ext cx="2468880" cy="713232"/>
          </a:xfrm>
          <a:prstGeom prst="roundRect">
            <a:avLst/>
          </a:prstGeom>
          <a:solidFill>
            <a:srgbClr val="FFFFFF"/>
          </a:solidFill>
          <a:ln w="19050">
            <a:solidFill>
              <a:srgbClr val="0091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18314F"/>
                </a:solidFill>
                <a:latin typeface="Aptos"/>
              </a:rPr>
              <a:t>Goal: Find a suitable car</a:t>
            </a:r>
            <a:endParaRPr sz="1100" b="1">
              <a:solidFill>
                <a:srgbClr val="18314F"/>
              </a:solidFill>
              <a:latin typeface="Aptos"/>
            </a:endParaRPr>
          </a:p>
          <a:p>
            <a:pPr algn="ctr">
              <a:spcBef>
                <a:spcPts val="200"/>
              </a:spcBef>
            </a:pPr>
            <a:r>
              <a:rPr sz="900">
                <a:solidFill>
                  <a:srgbClr val="18314F"/>
                </a:solidFill>
                <a:latin typeface="Arial" panose="020B0604020202020204"/>
              </a:rPr>
              <a:t>الهدف: العثور على سيارة مناسبة</a:t>
            </a:r>
            <a:endParaRPr sz="900">
              <a:solidFill>
                <a:srgbClr val="18314F"/>
              </a:solidFill>
              <a:latin typeface="Arial" panose="020B0604020202020204"/>
            </a:endParaRPr>
          </a:p>
        </p:txBody>
      </p:sp>
      <p:sp>
        <p:nvSpPr>
          <p:cNvPr id="10" name="Rounded Rectangle 9"/>
          <p:cNvSpPr/>
          <p:nvPr/>
        </p:nvSpPr>
        <p:spPr>
          <a:xfrm>
            <a:off x="8732520" y="1417320"/>
            <a:ext cx="2926080" cy="713232"/>
          </a:xfrm>
          <a:prstGeom prst="roundRect">
            <a:avLst/>
          </a:prstGeom>
          <a:solidFill>
            <a:srgbClr val="FFFFFF"/>
          </a:solidFill>
          <a:ln w="19050">
            <a:solidFill>
              <a:srgbClr val="0091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18314F"/>
                </a:solidFill>
                <a:latin typeface="Aptos"/>
              </a:rPr>
              <a:t>Trigger: Open catalog or search</a:t>
            </a:r>
            <a:endParaRPr sz="1100" b="1">
              <a:solidFill>
                <a:srgbClr val="18314F"/>
              </a:solidFill>
              <a:latin typeface="Aptos"/>
            </a:endParaRPr>
          </a:p>
          <a:p>
            <a:pPr algn="ctr">
              <a:spcBef>
                <a:spcPts val="200"/>
              </a:spcBef>
            </a:pPr>
            <a:r>
              <a:rPr sz="900">
                <a:solidFill>
                  <a:srgbClr val="18314F"/>
                </a:solidFill>
                <a:latin typeface="Arial" panose="020B0604020202020204"/>
              </a:rPr>
              <a:t>المحفز: فتح الكتالوج أو البحث</a:t>
            </a:r>
            <a:endParaRPr sz="900">
              <a:solidFill>
                <a:srgbClr val="18314F"/>
              </a:solidFill>
              <a:latin typeface="Arial" panose="020B0604020202020204"/>
            </a:endParaRPr>
          </a:p>
        </p:txBody>
      </p:sp>
      <p:sp>
        <p:nvSpPr>
          <p:cNvPr id="11" name="Rounded Rectangle 10"/>
          <p:cNvSpPr/>
          <p:nvPr/>
        </p:nvSpPr>
        <p:spPr>
          <a:xfrm>
            <a:off x="594360" y="2423160"/>
            <a:ext cx="5394960" cy="566928"/>
          </a:xfrm>
          <a:prstGeom prst="roundRect">
            <a:avLst/>
          </a:prstGeom>
          <a:solidFill>
            <a:srgbClr val="FFFFFF"/>
          </a:solidFill>
          <a:ln w="19050">
            <a:solidFill>
              <a:srgbClr val="0091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18314F"/>
                </a:solidFill>
                <a:latin typeface="Aptos"/>
              </a:rPr>
              <a:t>Preconditions</a:t>
            </a:r>
            <a:endParaRPr sz="1400" b="1">
              <a:solidFill>
                <a:srgbClr val="18314F"/>
              </a:solidFill>
              <a:latin typeface="Aptos"/>
            </a:endParaRPr>
          </a:p>
          <a:p>
            <a:pPr algn="ctr">
              <a:spcBef>
                <a:spcPts val="200"/>
              </a:spcBef>
            </a:pPr>
            <a:r>
              <a:rPr sz="1200">
                <a:solidFill>
                  <a:srgbClr val="18314F"/>
                </a:solidFill>
                <a:latin typeface="Arial" panose="020B0604020202020204"/>
              </a:rPr>
              <a:t>الشروط المسبقة</a:t>
            </a:r>
            <a:endParaRPr sz="1200">
              <a:solidFill>
                <a:srgbClr val="18314F"/>
              </a:solidFill>
              <a:latin typeface="Arial" panose="020B0604020202020204"/>
            </a:endParaRPr>
          </a:p>
        </p:txBody>
      </p:sp>
      <p:sp>
        <p:nvSpPr>
          <p:cNvPr id="12" name="TextBox 11"/>
          <p:cNvSpPr txBox="1"/>
          <p:nvPr/>
        </p:nvSpPr>
        <p:spPr>
          <a:xfrm>
            <a:off x="777240" y="3035808"/>
            <a:ext cx="5029200" cy="685800"/>
          </a:xfrm>
          <a:prstGeom prst="rect">
            <a:avLst/>
          </a:prstGeom>
          <a:noFill/>
        </p:spPr>
        <p:txBody>
          <a:bodyPr wrap="square" lIns="54864" tIns="18288" rIns="54864" bIns="18288">
            <a:spAutoFit/>
          </a:bodyPr>
          <a:lstStyle/>
          <a:p>
            <a:pPr algn="l"/>
            <a:r>
              <a:rPr sz="1200" b="0">
                <a:solidFill>
                  <a:srgbClr val="18314F"/>
                </a:solidFill>
                <a:latin typeface="Aptos"/>
              </a:rPr>
              <a:t>• Public catalog is available
• Active office listings are shown</a:t>
            </a:r>
            <a:endParaRPr sz="1200" b="0">
              <a:solidFill>
                <a:srgbClr val="18314F"/>
              </a:solidFill>
              <a:latin typeface="Aptos"/>
            </a:endParaRPr>
          </a:p>
        </p:txBody>
      </p:sp>
      <p:sp>
        <p:nvSpPr>
          <p:cNvPr id="13" name="TextBox 12"/>
          <p:cNvSpPr txBox="1"/>
          <p:nvPr/>
        </p:nvSpPr>
        <p:spPr>
          <a:xfrm>
            <a:off x="777240" y="3749039"/>
            <a:ext cx="5029200" cy="475488"/>
          </a:xfrm>
          <a:prstGeom prst="rect">
            <a:avLst/>
          </a:prstGeom>
          <a:noFill/>
        </p:spPr>
        <p:txBody>
          <a:bodyPr wrap="square" lIns="54864" tIns="18288" rIns="54864" bIns="18288">
            <a:spAutoFit/>
          </a:bodyPr>
          <a:lstStyle/>
          <a:p>
            <a:pPr algn="l"/>
            <a:r>
              <a:rPr sz="1100" b="0">
                <a:solidFill>
                  <a:srgbClr val="18314F"/>
                </a:solidFill>
                <a:latin typeface="Arial" panose="020B0604020202020204"/>
              </a:rPr>
              <a:t>• الكتالوج العام متاح
• تظهر سيارات المكاتب النشطة فقط</a:t>
            </a:r>
            <a:endParaRPr sz="1100" b="0">
              <a:solidFill>
                <a:srgbClr val="18314F"/>
              </a:solidFill>
              <a:latin typeface="Arial" panose="020B0604020202020204"/>
            </a:endParaRPr>
          </a:p>
        </p:txBody>
      </p:sp>
      <p:sp>
        <p:nvSpPr>
          <p:cNvPr id="14" name="Rounded Rectangle 13"/>
          <p:cNvSpPr/>
          <p:nvPr/>
        </p:nvSpPr>
        <p:spPr>
          <a:xfrm>
            <a:off x="6217920" y="2423160"/>
            <a:ext cx="5349240" cy="566928"/>
          </a:xfrm>
          <a:prstGeom prst="roundRect">
            <a:avLst/>
          </a:prstGeom>
          <a:solidFill>
            <a:srgbClr val="FFFFFF"/>
          </a:solidFill>
          <a:ln w="19050">
            <a:solidFill>
              <a:srgbClr val="0091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18314F"/>
                </a:solidFill>
                <a:latin typeface="Aptos"/>
              </a:rPr>
              <a:t>Main Success Flow</a:t>
            </a:r>
            <a:endParaRPr sz="1400" b="1">
              <a:solidFill>
                <a:srgbClr val="18314F"/>
              </a:solidFill>
              <a:latin typeface="Aptos"/>
            </a:endParaRPr>
          </a:p>
          <a:p>
            <a:pPr algn="ctr">
              <a:spcBef>
                <a:spcPts val="200"/>
              </a:spcBef>
            </a:pPr>
            <a:r>
              <a:rPr sz="1200">
                <a:solidFill>
                  <a:srgbClr val="18314F"/>
                </a:solidFill>
                <a:latin typeface="Arial" panose="020B0604020202020204"/>
              </a:rPr>
              <a:t>التدفق الرئيسي الناجح</a:t>
            </a:r>
            <a:endParaRPr sz="1200">
              <a:solidFill>
                <a:srgbClr val="18314F"/>
              </a:solidFill>
              <a:latin typeface="Arial" panose="020B0604020202020204"/>
            </a:endParaRPr>
          </a:p>
        </p:txBody>
      </p:sp>
      <p:sp>
        <p:nvSpPr>
          <p:cNvPr id="15" name="Rounded Rectangle 14"/>
          <p:cNvSpPr/>
          <p:nvPr/>
        </p:nvSpPr>
        <p:spPr>
          <a:xfrm>
            <a:off x="6400800" y="3035808"/>
            <a:ext cx="4983480" cy="393192"/>
          </a:xfrm>
          <a:prstGeom prst="roundRect">
            <a:avLst/>
          </a:prstGeom>
          <a:solidFill>
            <a:srgbClr val="FFFFFF"/>
          </a:solidFill>
          <a:ln w="19050">
            <a:solidFill>
              <a:srgbClr val="0091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18314F"/>
                </a:solidFill>
                <a:latin typeface="Aptos"/>
              </a:rPr>
              <a:t>1. Open car catalog</a:t>
            </a:r>
            <a:endParaRPr sz="1000" b="1">
              <a:solidFill>
                <a:srgbClr val="18314F"/>
              </a:solidFill>
              <a:latin typeface="Aptos"/>
            </a:endParaRPr>
          </a:p>
          <a:p>
            <a:pPr algn="ctr">
              <a:spcBef>
                <a:spcPts val="200"/>
              </a:spcBef>
            </a:pPr>
            <a:r>
              <a:rPr sz="900">
                <a:solidFill>
                  <a:srgbClr val="18314F"/>
                </a:solidFill>
                <a:latin typeface="Arial" panose="020B0604020202020204"/>
              </a:rPr>
              <a:t>١. فتح كتالوج السيارات</a:t>
            </a:r>
            <a:endParaRPr sz="900">
              <a:solidFill>
                <a:srgbClr val="18314F"/>
              </a:solidFill>
              <a:latin typeface="Arial" panose="020B0604020202020204"/>
            </a:endParaRPr>
          </a:p>
        </p:txBody>
      </p:sp>
      <p:sp>
        <p:nvSpPr>
          <p:cNvPr id="16" name="Rounded Rectangle 15"/>
          <p:cNvSpPr/>
          <p:nvPr/>
        </p:nvSpPr>
        <p:spPr>
          <a:xfrm>
            <a:off x="6400800" y="3511296"/>
            <a:ext cx="4983480" cy="393192"/>
          </a:xfrm>
          <a:prstGeom prst="roundRect">
            <a:avLst/>
          </a:prstGeom>
          <a:solidFill>
            <a:srgbClr val="FFFFFF"/>
          </a:solidFill>
          <a:ln w="19050">
            <a:solidFill>
              <a:srgbClr val="0091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18314F"/>
                </a:solidFill>
                <a:latin typeface="Aptos"/>
              </a:rPr>
              <a:t>2. Enter keyword or filters</a:t>
            </a:r>
            <a:endParaRPr sz="1000" b="1">
              <a:solidFill>
                <a:srgbClr val="18314F"/>
              </a:solidFill>
              <a:latin typeface="Aptos"/>
            </a:endParaRPr>
          </a:p>
          <a:p>
            <a:pPr algn="ctr">
              <a:spcBef>
                <a:spcPts val="200"/>
              </a:spcBef>
            </a:pPr>
            <a:r>
              <a:rPr sz="900">
                <a:solidFill>
                  <a:srgbClr val="18314F"/>
                </a:solidFill>
                <a:latin typeface="Arial" panose="020B0604020202020204"/>
              </a:rPr>
              <a:t>٢. إدخال كلمة بحث أو عوامل تصفية</a:t>
            </a:r>
            <a:endParaRPr sz="900">
              <a:solidFill>
                <a:srgbClr val="18314F"/>
              </a:solidFill>
              <a:latin typeface="Arial" panose="020B0604020202020204"/>
            </a:endParaRPr>
          </a:p>
        </p:txBody>
      </p:sp>
      <p:sp>
        <p:nvSpPr>
          <p:cNvPr id="17" name="Rounded Rectangle 16"/>
          <p:cNvSpPr/>
          <p:nvPr/>
        </p:nvSpPr>
        <p:spPr>
          <a:xfrm>
            <a:off x="6400800" y="3986783"/>
            <a:ext cx="4983480" cy="393192"/>
          </a:xfrm>
          <a:prstGeom prst="roundRect">
            <a:avLst/>
          </a:prstGeom>
          <a:solidFill>
            <a:srgbClr val="FFFFFF"/>
          </a:solidFill>
          <a:ln w="19050">
            <a:solidFill>
              <a:srgbClr val="0091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18314F"/>
                </a:solidFill>
                <a:latin typeface="Aptos"/>
              </a:rPr>
              <a:t>3. System validates and applies filters</a:t>
            </a:r>
            <a:endParaRPr sz="1000" b="1">
              <a:solidFill>
                <a:srgbClr val="18314F"/>
              </a:solidFill>
              <a:latin typeface="Aptos"/>
            </a:endParaRPr>
          </a:p>
          <a:p>
            <a:pPr algn="ctr">
              <a:spcBef>
                <a:spcPts val="200"/>
              </a:spcBef>
            </a:pPr>
            <a:r>
              <a:rPr sz="900">
                <a:solidFill>
                  <a:srgbClr val="18314F"/>
                </a:solidFill>
                <a:latin typeface="Arial" panose="020B0604020202020204"/>
              </a:rPr>
              <a:t>٣. النظام يتحقق ويطبق عوامل التصفية</a:t>
            </a:r>
            <a:endParaRPr sz="900">
              <a:solidFill>
                <a:srgbClr val="18314F"/>
              </a:solidFill>
              <a:latin typeface="Arial" panose="020B0604020202020204"/>
            </a:endParaRPr>
          </a:p>
        </p:txBody>
      </p:sp>
      <p:sp>
        <p:nvSpPr>
          <p:cNvPr id="18" name="Rounded Rectangle 17"/>
          <p:cNvSpPr/>
          <p:nvPr/>
        </p:nvSpPr>
        <p:spPr>
          <a:xfrm>
            <a:off x="6400800" y="4462272"/>
            <a:ext cx="4983480" cy="393192"/>
          </a:xfrm>
          <a:prstGeom prst="roundRect">
            <a:avLst/>
          </a:prstGeom>
          <a:solidFill>
            <a:srgbClr val="FFFFFF"/>
          </a:solidFill>
          <a:ln w="19050">
            <a:solidFill>
              <a:srgbClr val="0091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18314F"/>
                </a:solidFill>
                <a:latin typeface="Aptos"/>
              </a:rPr>
              <a:t>4. Display matching cars</a:t>
            </a:r>
            <a:endParaRPr sz="1000" b="1">
              <a:solidFill>
                <a:srgbClr val="18314F"/>
              </a:solidFill>
              <a:latin typeface="Aptos"/>
            </a:endParaRPr>
          </a:p>
          <a:p>
            <a:pPr algn="ctr">
              <a:spcBef>
                <a:spcPts val="200"/>
              </a:spcBef>
            </a:pPr>
            <a:r>
              <a:rPr sz="900">
                <a:solidFill>
                  <a:srgbClr val="18314F"/>
                </a:solidFill>
                <a:latin typeface="Arial" panose="020B0604020202020204"/>
              </a:rPr>
              <a:t>٤. عرض السيارات المطابقة</a:t>
            </a:r>
            <a:endParaRPr sz="900">
              <a:solidFill>
                <a:srgbClr val="18314F"/>
              </a:solidFill>
              <a:latin typeface="Arial" panose="020B0604020202020204"/>
            </a:endParaRPr>
          </a:p>
        </p:txBody>
      </p:sp>
      <p:sp>
        <p:nvSpPr>
          <p:cNvPr id="19" name="Rounded Rectangle 18"/>
          <p:cNvSpPr/>
          <p:nvPr/>
        </p:nvSpPr>
        <p:spPr>
          <a:xfrm>
            <a:off x="6400800" y="4937760"/>
            <a:ext cx="4983480" cy="393192"/>
          </a:xfrm>
          <a:prstGeom prst="roundRect">
            <a:avLst/>
          </a:prstGeom>
          <a:solidFill>
            <a:srgbClr val="FFFFFF"/>
          </a:solidFill>
          <a:ln w="19050">
            <a:solidFill>
              <a:srgbClr val="0091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18314F"/>
                </a:solidFill>
                <a:latin typeface="Aptos"/>
              </a:rPr>
              <a:t>5. Select a car to view details</a:t>
            </a:r>
            <a:endParaRPr sz="1000" b="1">
              <a:solidFill>
                <a:srgbClr val="18314F"/>
              </a:solidFill>
              <a:latin typeface="Aptos"/>
            </a:endParaRPr>
          </a:p>
          <a:p>
            <a:pPr algn="ctr">
              <a:spcBef>
                <a:spcPts val="200"/>
              </a:spcBef>
            </a:pPr>
            <a:r>
              <a:rPr sz="900">
                <a:solidFill>
                  <a:srgbClr val="18314F"/>
                </a:solidFill>
                <a:latin typeface="Arial" panose="020B0604020202020204"/>
              </a:rPr>
              <a:t>٥. اختيار سيارة لعرض التفاصيل</a:t>
            </a:r>
            <a:endParaRPr sz="900">
              <a:solidFill>
                <a:srgbClr val="18314F"/>
              </a:solidFill>
              <a:latin typeface="Arial" panose="020B0604020202020204"/>
            </a:endParaRPr>
          </a:p>
        </p:txBody>
      </p:sp>
      <p:sp>
        <p:nvSpPr>
          <p:cNvPr id="20" name="Rounded Rectangle 19"/>
          <p:cNvSpPr/>
          <p:nvPr/>
        </p:nvSpPr>
        <p:spPr>
          <a:xfrm>
            <a:off x="594360" y="4736592"/>
            <a:ext cx="5394960" cy="530352"/>
          </a:xfrm>
          <a:prstGeom prst="roundRect">
            <a:avLst/>
          </a:prstGeom>
          <a:solidFill>
            <a:srgbClr val="FFFFFF"/>
          </a:solidFill>
          <a:ln w="19050">
            <a:solidFill>
              <a:srgbClr val="0091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18314F"/>
                </a:solidFill>
                <a:latin typeface="Aptos"/>
              </a:rPr>
              <a:t>Alternative Flow</a:t>
            </a:r>
            <a:endParaRPr sz="1300" b="1">
              <a:solidFill>
                <a:srgbClr val="18314F"/>
              </a:solidFill>
              <a:latin typeface="Aptos"/>
            </a:endParaRPr>
          </a:p>
          <a:p>
            <a:pPr algn="ctr">
              <a:spcBef>
                <a:spcPts val="200"/>
              </a:spcBef>
            </a:pPr>
            <a:r>
              <a:rPr sz="1100">
                <a:solidFill>
                  <a:srgbClr val="18314F"/>
                </a:solidFill>
                <a:latin typeface="Arial" panose="020B0604020202020204"/>
              </a:rPr>
              <a:t>التدفق البديل</a:t>
            </a:r>
            <a:endParaRPr sz="1100">
              <a:solidFill>
                <a:srgbClr val="18314F"/>
              </a:solidFill>
              <a:latin typeface="Arial" panose="020B0604020202020204"/>
            </a:endParaRPr>
          </a:p>
        </p:txBody>
      </p:sp>
      <p:sp>
        <p:nvSpPr>
          <p:cNvPr id="21" name="TextBox 20"/>
          <p:cNvSpPr txBox="1"/>
          <p:nvPr/>
        </p:nvSpPr>
        <p:spPr>
          <a:xfrm>
            <a:off x="777240" y="5321808"/>
            <a:ext cx="5029200" cy="658368"/>
          </a:xfrm>
          <a:prstGeom prst="rect">
            <a:avLst/>
          </a:prstGeom>
          <a:noFill/>
        </p:spPr>
        <p:txBody>
          <a:bodyPr wrap="square" lIns="54864" tIns="18288" rIns="54864" bIns="18288">
            <a:spAutoFit/>
          </a:bodyPr>
          <a:lstStyle/>
          <a:p>
            <a:pPr algn="l"/>
            <a:r>
              <a:rPr sz="1000" b="0">
                <a:solidFill>
                  <a:srgbClr val="18314F"/>
                </a:solidFill>
                <a:latin typeface="Aptos"/>
              </a:rPr>
              <a:t>No matching results → show an empty-state message and allow the user to adjust filters.
لا توجد نتائج → عرض رسالة مناسبة والسماح بتعديل عوامل التصفية.</a:t>
            </a:r>
            <a:endParaRPr sz="1000" b="0">
              <a:solidFill>
                <a:srgbClr val="18314F"/>
              </a:solidFill>
              <a:latin typeface="Aptos"/>
            </a:endParaRPr>
          </a:p>
        </p:txBody>
      </p:sp>
      <p:sp>
        <p:nvSpPr>
          <p:cNvPr id="22" name="Rounded Rectangle 21"/>
          <p:cNvSpPr/>
          <p:nvPr/>
        </p:nvSpPr>
        <p:spPr>
          <a:xfrm>
            <a:off x="6217920" y="5559552"/>
            <a:ext cx="5349240" cy="530352"/>
          </a:xfrm>
          <a:prstGeom prst="roundRect">
            <a:avLst/>
          </a:prstGeom>
          <a:solidFill>
            <a:srgbClr val="FFFFFF"/>
          </a:solidFill>
          <a:ln w="19050">
            <a:solidFill>
              <a:srgbClr val="0091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18314F"/>
                </a:solidFill>
                <a:latin typeface="Aptos"/>
              </a:rPr>
              <a:t>Postcondition</a:t>
            </a:r>
            <a:endParaRPr sz="1300" b="1">
              <a:solidFill>
                <a:srgbClr val="18314F"/>
              </a:solidFill>
              <a:latin typeface="Aptos"/>
            </a:endParaRPr>
          </a:p>
          <a:p>
            <a:pPr algn="ctr">
              <a:spcBef>
                <a:spcPts val="200"/>
              </a:spcBef>
            </a:pPr>
            <a:r>
              <a:rPr sz="1100">
                <a:solidFill>
                  <a:srgbClr val="18314F"/>
                </a:solidFill>
                <a:latin typeface="Arial" panose="020B0604020202020204"/>
              </a:rPr>
              <a:t>النتيجة النهائية</a:t>
            </a:r>
            <a:endParaRPr sz="1100">
              <a:solidFill>
                <a:srgbClr val="18314F"/>
              </a:solidFill>
              <a:latin typeface="Arial" panose="020B0604020202020204"/>
            </a:endParaRPr>
          </a:p>
        </p:txBody>
      </p:sp>
      <p:sp>
        <p:nvSpPr>
          <p:cNvPr id="23" name="TextBox 22"/>
          <p:cNvSpPr txBox="1"/>
          <p:nvPr/>
        </p:nvSpPr>
        <p:spPr>
          <a:xfrm>
            <a:off x="6400800" y="6080760"/>
            <a:ext cx="4983480" cy="320040"/>
          </a:xfrm>
          <a:prstGeom prst="rect">
            <a:avLst/>
          </a:prstGeom>
          <a:noFill/>
        </p:spPr>
        <p:txBody>
          <a:bodyPr wrap="square" lIns="54864" tIns="18288" rIns="54864" bIns="18288">
            <a:spAutoFit/>
          </a:bodyPr>
          <a:lstStyle/>
          <a:p>
            <a:pPr algn="ctr"/>
            <a:r>
              <a:rPr sz="900" b="0">
                <a:solidFill>
                  <a:srgbClr val="18314F"/>
                </a:solidFill>
                <a:latin typeface="Aptos"/>
              </a:rPr>
              <a:t>Matching cars or car details are displayed / عرض النتائج أو تفاصيل السيارة</a:t>
            </a:r>
            <a:endParaRPr sz="900" b="0">
              <a:solidFill>
                <a:srgbClr val="18314F"/>
              </a:solidFill>
              <a:latin typeface="Apto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p:sp>
        <p:nvSpPr>
          <p:cNvPr id="2" name="TextBox 1"/>
          <p:cNvSpPr txBox="1"/>
          <p:nvPr/>
        </p:nvSpPr>
        <p:spPr>
          <a:xfrm>
            <a:off x="411480" y="164592"/>
            <a:ext cx="11338560" cy="384048"/>
          </a:xfrm>
          <a:prstGeom prst="rect">
            <a:avLst/>
          </a:prstGeom>
          <a:noFill/>
        </p:spPr>
        <p:txBody>
          <a:bodyPr wrap="square" lIns="54864" tIns="18288" rIns="54864" bIns="18288">
            <a:spAutoFit/>
          </a:bodyPr>
          <a:lstStyle/>
          <a:p>
            <a:pPr algn="ctr"/>
            <a:r>
              <a:rPr sz="2400" b="1">
                <a:solidFill>
                  <a:srgbClr val="18314F"/>
                </a:solidFill>
                <a:latin typeface="Aptos"/>
              </a:rPr>
              <a:t>Activity Diagram: Browse Cars</a:t>
            </a:r>
            <a:endParaRPr sz="2400" b="1">
              <a:solidFill>
                <a:srgbClr val="18314F"/>
              </a:solidFill>
              <a:latin typeface="Aptos"/>
            </a:endParaRPr>
          </a:p>
        </p:txBody>
      </p:sp>
      <p:sp>
        <p:nvSpPr>
          <p:cNvPr id="3" name="TextBox 2"/>
          <p:cNvSpPr txBox="1"/>
          <p:nvPr/>
        </p:nvSpPr>
        <p:spPr>
          <a:xfrm>
            <a:off x="411480" y="539496"/>
            <a:ext cx="11338560" cy="329184"/>
          </a:xfrm>
          <a:prstGeom prst="rect">
            <a:avLst/>
          </a:prstGeom>
          <a:noFill/>
        </p:spPr>
        <p:txBody>
          <a:bodyPr wrap="square" lIns="54864" tIns="18288" rIns="54864" bIns="18288">
            <a:spAutoFit/>
          </a:bodyPr>
          <a:lstStyle/>
          <a:p>
            <a:pPr algn="ctr"/>
            <a:r>
              <a:rPr sz="1800" b="1">
                <a:solidFill>
                  <a:srgbClr val="18314F"/>
                </a:solidFill>
                <a:latin typeface="Aptos"/>
              </a:rPr>
              <a:t>مخطط النشاط: تصفح السيارات</a:t>
            </a:r>
            <a:endParaRPr sz="1800" b="1">
              <a:solidFill>
                <a:srgbClr val="18314F"/>
              </a:solidFill>
              <a:latin typeface="Aptos"/>
            </a:endParaRPr>
          </a:p>
        </p:txBody>
      </p:sp>
      <p:sp>
        <p:nvSpPr>
          <p:cNvPr id="4" name="TextBox 3"/>
          <p:cNvSpPr txBox="1"/>
          <p:nvPr/>
        </p:nvSpPr>
        <p:spPr>
          <a:xfrm>
            <a:off x="502920" y="877824"/>
            <a:ext cx="11155680" cy="256032"/>
          </a:xfrm>
          <a:prstGeom prst="rect">
            <a:avLst/>
          </a:prstGeom>
          <a:noFill/>
        </p:spPr>
        <p:txBody>
          <a:bodyPr wrap="square" lIns="54864" tIns="18288" rIns="54864" bIns="18288">
            <a:spAutoFit/>
          </a:bodyPr>
          <a:lstStyle/>
          <a:p>
            <a:pPr algn="ctr"/>
            <a:r>
              <a:rPr sz="1000" b="0">
                <a:solidFill>
                  <a:srgbClr val="5B7084"/>
                </a:solidFill>
                <a:latin typeface="Aptos"/>
              </a:rPr>
              <a:t>Flow of the selected use case / سير حالة الاستخدام المختارة</a:t>
            </a:r>
            <a:endParaRPr sz="1000" b="0">
              <a:solidFill>
                <a:srgbClr val="5B7084"/>
              </a:solidFill>
              <a:latin typeface="Aptos"/>
            </a:endParaRPr>
          </a:p>
        </p:txBody>
      </p:sp>
      <p:sp>
        <p:nvSpPr>
          <p:cNvPr id="5" name="Rectangle 4"/>
          <p:cNvSpPr/>
          <p:nvPr/>
        </p:nvSpPr>
        <p:spPr>
          <a:xfrm>
            <a:off x="502920" y="1170432"/>
            <a:ext cx="11155680" cy="22860"/>
          </a:xfrm>
          <a:prstGeom prst="rect">
            <a:avLst/>
          </a:prstGeom>
          <a:solidFill>
            <a:srgbClr val="E2EDF5"/>
          </a:solidFill>
          <a:ln>
            <a:solidFill>
              <a:srgbClr val="0091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6528816"/>
            <a:ext cx="11521440" cy="164592"/>
          </a:xfrm>
          <a:prstGeom prst="rect">
            <a:avLst/>
          </a:prstGeom>
          <a:noFill/>
        </p:spPr>
        <p:txBody>
          <a:bodyPr wrap="square" lIns="54864" tIns="18288" rIns="54864" bIns="18288">
            <a:spAutoFit/>
          </a:bodyPr>
          <a:lstStyle/>
          <a:p>
            <a:pPr algn="ctr"/>
            <a:r>
              <a:rPr sz="800" b="0">
                <a:solidFill>
                  <a:srgbClr val="18314F"/>
                </a:solidFill>
                <a:latin typeface="Aptos"/>
              </a:rPr>
              <a:t>Car Rental Platform  |  مخططات المشروع  •  16</a:t>
            </a:r>
            <a:endParaRPr sz="800" b="0">
              <a:solidFill>
                <a:srgbClr val="18314F"/>
              </a:solidFill>
              <a:latin typeface="Aptos"/>
            </a:endParaRPr>
          </a:p>
        </p:txBody>
      </p:sp>
      <p:sp>
        <p:nvSpPr>
          <p:cNvPr id="7" name="Rounded Rectangle 6"/>
          <p:cNvSpPr/>
          <p:nvPr/>
        </p:nvSpPr>
        <p:spPr>
          <a:xfrm>
            <a:off x="4892040" y="1353312"/>
            <a:ext cx="2423160" cy="438912"/>
          </a:xfrm>
          <a:prstGeom prst="roundRect">
            <a:avLst/>
          </a:prstGeom>
          <a:solidFill>
            <a:srgbClr val="FFFFFF"/>
          </a:solidFill>
          <a:ln w="19050">
            <a:solidFill>
              <a:srgbClr val="0091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18314F"/>
                </a:solidFill>
                <a:latin typeface="Aptos"/>
              </a:rPr>
              <a:t>Start</a:t>
            </a:r>
            <a:endParaRPr sz="1200" b="1">
              <a:solidFill>
                <a:srgbClr val="18314F"/>
              </a:solidFill>
              <a:latin typeface="Aptos"/>
            </a:endParaRPr>
          </a:p>
          <a:p>
            <a:pPr algn="ctr">
              <a:spcBef>
                <a:spcPts val="200"/>
              </a:spcBef>
            </a:pPr>
            <a:r>
              <a:rPr sz="1000">
                <a:solidFill>
                  <a:srgbClr val="18314F"/>
                </a:solidFill>
                <a:latin typeface="Arial" panose="020B0604020202020204"/>
              </a:rPr>
              <a:t>البداية</a:t>
            </a:r>
            <a:endParaRPr sz="1000">
              <a:solidFill>
                <a:srgbClr val="18314F"/>
              </a:solidFill>
              <a:latin typeface="Arial" panose="020B0604020202020204"/>
            </a:endParaRPr>
          </a:p>
        </p:txBody>
      </p:sp>
      <p:sp>
        <p:nvSpPr>
          <p:cNvPr id="8" name="Rounded Rectangle 7"/>
          <p:cNvSpPr/>
          <p:nvPr/>
        </p:nvSpPr>
        <p:spPr>
          <a:xfrm>
            <a:off x="4160520" y="1938528"/>
            <a:ext cx="3886200" cy="502920"/>
          </a:xfrm>
          <a:prstGeom prst="roundRect">
            <a:avLst/>
          </a:prstGeom>
          <a:solidFill>
            <a:srgbClr val="FFFFFF"/>
          </a:solidFill>
          <a:ln w="19050">
            <a:solidFill>
              <a:srgbClr val="0091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18314F"/>
                </a:solidFill>
                <a:latin typeface="Aptos"/>
              </a:rPr>
              <a:t>Open car catalog</a:t>
            </a:r>
            <a:endParaRPr sz="1200" b="1">
              <a:solidFill>
                <a:srgbClr val="18314F"/>
              </a:solidFill>
              <a:latin typeface="Aptos"/>
            </a:endParaRPr>
          </a:p>
          <a:p>
            <a:pPr algn="ctr">
              <a:spcBef>
                <a:spcPts val="200"/>
              </a:spcBef>
            </a:pPr>
            <a:r>
              <a:rPr sz="1000">
                <a:solidFill>
                  <a:srgbClr val="18314F"/>
                </a:solidFill>
                <a:latin typeface="Arial" panose="020B0604020202020204"/>
              </a:rPr>
              <a:t>فتح كتالوج السيارات</a:t>
            </a:r>
            <a:endParaRPr sz="1000">
              <a:solidFill>
                <a:srgbClr val="18314F"/>
              </a:solidFill>
              <a:latin typeface="Arial" panose="020B0604020202020204"/>
            </a:endParaRPr>
          </a:p>
        </p:txBody>
      </p:sp>
      <p:sp>
        <p:nvSpPr>
          <p:cNvPr id="9" name="Rounded Rectangle 8"/>
          <p:cNvSpPr/>
          <p:nvPr/>
        </p:nvSpPr>
        <p:spPr>
          <a:xfrm>
            <a:off x="4160520" y="2633472"/>
            <a:ext cx="3886200" cy="502920"/>
          </a:xfrm>
          <a:prstGeom prst="roundRect">
            <a:avLst/>
          </a:prstGeom>
          <a:solidFill>
            <a:srgbClr val="FFFFFF"/>
          </a:solidFill>
          <a:ln w="19050">
            <a:solidFill>
              <a:srgbClr val="0091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18314F"/>
                </a:solidFill>
                <a:latin typeface="Aptos"/>
              </a:rPr>
              <a:t>Enter keyword / select filters</a:t>
            </a:r>
            <a:endParaRPr sz="1200" b="1">
              <a:solidFill>
                <a:srgbClr val="18314F"/>
              </a:solidFill>
              <a:latin typeface="Aptos"/>
            </a:endParaRPr>
          </a:p>
          <a:p>
            <a:pPr algn="ctr">
              <a:spcBef>
                <a:spcPts val="200"/>
              </a:spcBef>
            </a:pPr>
            <a:r>
              <a:rPr sz="1000">
                <a:solidFill>
                  <a:srgbClr val="18314F"/>
                </a:solidFill>
                <a:latin typeface="Arial" panose="020B0604020202020204"/>
              </a:rPr>
              <a:t>إدخال كلمة بحث / اختيار مرشحات</a:t>
            </a:r>
            <a:endParaRPr sz="1000">
              <a:solidFill>
                <a:srgbClr val="18314F"/>
              </a:solidFill>
              <a:latin typeface="Arial" panose="020B0604020202020204"/>
            </a:endParaRPr>
          </a:p>
        </p:txBody>
      </p:sp>
      <p:sp>
        <p:nvSpPr>
          <p:cNvPr id="10" name="Rounded Rectangle 9"/>
          <p:cNvSpPr/>
          <p:nvPr/>
        </p:nvSpPr>
        <p:spPr>
          <a:xfrm>
            <a:off x="4160520" y="3328416"/>
            <a:ext cx="3886200" cy="502920"/>
          </a:xfrm>
          <a:prstGeom prst="roundRect">
            <a:avLst/>
          </a:prstGeom>
          <a:solidFill>
            <a:srgbClr val="FFFFFF"/>
          </a:solidFill>
          <a:ln w="19050">
            <a:solidFill>
              <a:srgbClr val="0091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18314F"/>
                </a:solidFill>
                <a:latin typeface="Aptos"/>
              </a:rPr>
              <a:t>Apply filters to active listings</a:t>
            </a:r>
            <a:endParaRPr sz="1200" b="1">
              <a:solidFill>
                <a:srgbClr val="18314F"/>
              </a:solidFill>
              <a:latin typeface="Aptos"/>
            </a:endParaRPr>
          </a:p>
          <a:p>
            <a:pPr algn="ctr">
              <a:spcBef>
                <a:spcPts val="200"/>
              </a:spcBef>
            </a:pPr>
            <a:r>
              <a:rPr sz="1000">
                <a:solidFill>
                  <a:srgbClr val="18314F"/>
                </a:solidFill>
                <a:latin typeface="Arial" panose="020B0604020202020204"/>
              </a:rPr>
              <a:t>تطبيق المرشحات على الإعلانات النشطة</a:t>
            </a:r>
            <a:endParaRPr sz="1000">
              <a:solidFill>
                <a:srgbClr val="18314F"/>
              </a:solidFill>
              <a:latin typeface="Arial" panose="020B0604020202020204"/>
            </a:endParaRPr>
          </a:p>
        </p:txBody>
      </p:sp>
      <p:sp>
        <p:nvSpPr>
          <p:cNvPr id="11" name="Diamond 10"/>
          <p:cNvSpPr/>
          <p:nvPr/>
        </p:nvSpPr>
        <p:spPr>
          <a:xfrm>
            <a:off x="4800600" y="4005072"/>
            <a:ext cx="2606040" cy="822960"/>
          </a:xfrm>
          <a:prstGeom prst="diamond">
            <a:avLst/>
          </a:prstGeom>
          <a:solidFill>
            <a:srgbClr val="FFFFFF"/>
          </a:solidFill>
          <a:ln w="20320">
            <a:solidFill>
              <a:srgbClr val="0091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18314F"/>
                </a:solidFill>
              </a:rPr>
              <a:t>Results found?
هل توجد نتائج؟</a:t>
            </a:r>
            <a:endParaRPr sz="1100" b="1">
              <a:solidFill>
                <a:srgbClr val="18314F"/>
              </a:solidFill>
            </a:endParaRPr>
          </a:p>
        </p:txBody>
      </p:sp>
      <p:sp>
        <p:nvSpPr>
          <p:cNvPr id="12" name="Rounded Rectangle 11"/>
          <p:cNvSpPr/>
          <p:nvPr/>
        </p:nvSpPr>
        <p:spPr>
          <a:xfrm>
            <a:off x="1325880" y="5120640"/>
            <a:ext cx="3108960" cy="566928"/>
          </a:xfrm>
          <a:prstGeom prst="roundRect">
            <a:avLst/>
          </a:prstGeom>
          <a:solidFill>
            <a:srgbClr val="FFFFFF"/>
          </a:solidFill>
          <a:ln w="19050">
            <a:solidFill>
              <a:srgbClr val="0091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18314F"/>
                </a:solidFill>
                <a:latin typeface="Aptos"/>
              </a:rPr>
              <a:t>Show matching cars</a:t>
            </a:r>
            <a:endParaRPr sz="1100" b="1">
              <a:solidFill>
                <a:srgbClr val="18314F"/>
              </a:solidFill>
              <a:latin typeface="Aptos"/>
            </a:endParaRPr>
          </a:p>
          <a:p>
            <a:pPr algn="ctr">
              <a:spcBef>
                <a:spcPts val="200"/>
              </a:spcBef>
            </a:pPr>
            <a:r>
              <a:rPr sz="900">
                <a:solidFill>
                  <a:srgbClr val="18314F"/>
                </a:solidFill>
                <a:latin typeface="Arial" panose="020B0604020202020204"/>
              </a:rPr>
              <a:t>عرض السيارات المطابقة</a:t>
            </a:r>
            <a:endParaRPr sz="900">
              <a:solidFill>
                <a:srgbClr val="18314F"/>
              </a:solidFill>
              <a:latin typeface="Arial" panose="020B0604020202020204"/>
            </a:endParaRPr>
          </a:p>
        </p:txBody>
      </p:sp>
      <p:sp>
        <p:nvSpPr>
          <p:cNvPr id="13" name="Rounded Rectangle 12"/>
          <p:cNvSpPr/>
          <p:nvPr/>
        </p:nvSpPr>
        <p:spPr>
          <a:xfrm>
            <a:off x="7543800" y="5120640"/>
            <a:ext cx="3291840" cy="566928"/>
          </a:xfrm>
          <a:prstGeom prst="roundRect">
            <a:avLst/>
          </a:prstGeom>
          <a:solidFill>
            <a:srgbClr val="FFFFFF"/>
          </a:solidFill>
          <a:ln w="19050">
            <a:solidFill>
              <a:srgbClr val="0091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18314F"/>
                </a:solidFill>
                <a:latin typeface="Aptos"/>
              </a:rPr>
              <a:t>Show no-results message</a:t>
            </a:r>
            <a:endParaRPr sz="1100" b="1">
              <a:solidFill>
                <a:srgbClr val="18314F"/>
              </a:solidFill>
              <a:latin typeface="Aptos"/>
            </a:endParaRPr>
          </a:p>
          <a:p>
            <a:pPr algn="ctr">
              <a:spcBef>
                <a:spcPts val="200"/>
              </a:spcBef>
            </a:pPr>
            <a:r>
              <a:rPr sz="900">
                <a:solidFill>
                  <a:srgbClr val="18314F"/>
                </a:solidFill>
                <a:latin typeface="Arial" panose="020B0604020202020204"/>
              </a:rPr>
              <a:t>عرض رسالة عدم وجود نتائج</a:t>
            </a:r>
            <a:endParaRPr sz="900">
              <a:solidFill>
                <a:srgbClr val="18314F"/>
              </a:solidFill>
              <a:latin typeface="Arial" panose="020B0604020202020204"/>
            </a:endParaRPr>
          </a:p>
        </p:txBody>
      </p:sp>
      <p:sp>
        <p:nvSpPr>
          <p:cNvPr id="14" name="Rounded Rectangle 13"/>
          <p:cNvSpPr/>
          <p:nvPr/>
        </p:nvSpPr>
        <p:spPr>
          <a:xfrm>
            <a:off x="4389120" y="5897880"/>
            <a:ext cx="3429000" cy="438912"/>
          </a:xfrm>
          <a:prstGeom prst="roundRect">
            <a:avLst/>
          </a:prstGeom>
          <a:solidFill>
            <a:srgbClr val="FFFFFF"/>
          </a:solidFill>
          <a:ln w="19050">
            <a:solidFill>
              <a:srgbClr val="0091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18314F"/>
                </a:solidFill>
                <a:latin typeface="Aptos"/>
              </a:rPr>
              <a:t>Select car → view details</a:t>
            </a:r>
            <a:endParaRPr sz="1100" b="1">
              <a:solidFill>
                <a:srgbClr val="18314F"/>
              </a:solidFill>
              <a:latin typeface="Aptos"/>
            </a:endParaRPr>
          </a:p>
          <a:p>
            <a:pPr algn="ctr">
              <a:spcBef>
                <a:spcPts val="200"/>
              </a:spcBef>
            </a:pPr>
            <a:r>
              <a:rPr sz="900">
                <a:solidFill>
                  <a:srgbClr val="18314F"/>
                </a:solidFill>
                <a:latin typeface="Arial" panose="020B0604020202020204"/>
              </a:rPr>
              <a:t>اختيار سيارة ← عرض التفاصيل</a:t>
            </a:r>
            <a:endParaRPr sz="900">
              <a:solidFill>
                <a:srgbClr val="18314F"/>
              </a:solidFill>
              <a:latin typeface="Arial" panose="020B0604020202020204"/>
            </a:endParaRPr>
          </a:p>
        </p:txBody>
      </p:sp>
      <p:sp>
        <p:nvSpPr>
          <p:cNvPr id="15" name="Rounded Rectangle 14"/>
          <p:cNvSpPr/>
          <p:nvPr/>
        </p:nvSpPr>
        <p:spPr>
          <a:xfrm>
            <a:off x="594360" y="5897880"/>
            <a:ext cx="2971800" cy="438912"/>
          </a:xfrm>
          <a:prstGeom prst="roundRect">
            <a:avLst/>
          </a:prstGeom>
          <a:solidFill>
            <a:srgbClr val="FFFFFF"/>
          </a:solidFill>
          <a:ln w="19050">
            <a:solidFill>
              <a:srgbClr val="0091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18314F"/>
                </a:solidFill>
                <a:latin typeface="Aptos"/>
              </a:rPr>
              <a:t>Adjust filters</a:t>
            </a:r>
            <a:endParaRPr sz="1000" b="1">
              <a:solidFill>
                <a:srgbClr val="18314F"/>
              </a:solidFill>
              <a:latin typeface="Aptos"/>
            </a:endParaRPr>
          </a:p>
          <a:p>
            <a:pPr algn="ctr">
              <a:spcBef>
                <a:spcPts val="200"/>
              </a:spcBef>
            </a:pPr>
            <a:r>
              <a:rPr sz="900">
                <a:solidFill>
                  <a:srgbClr val="18314F"/>
                </a:solidFill>
                <a:latin typeface="Arial" panose="020B0604020202020204"/>
              </a:rPr>
              <a:t>تعديل المرشحات</a:t>
            </a:r>
            <a:endParaRPr sz="900">
              <a:solidFill>
                <a:srgbClr val="18314F"/>
              </a:solidFill>
              <a:latin typeface="Arial" panose="020B0604020202020204"/>
            </a:endParaRPr>
          </a:p>
        </p:txBody>
      </p:sp>
      <p:cxnSp>
        <p:nvCxnSpPr>
          <p:cNvPr id="16" name="Connector 15"/>
          <p:cNvCxnSpPr/>
          <p:nvPr/>
        </p:nvCxnSpPr>
        <p:spPr>
          <a:xfrm>
            <a:off x="6108192" y="1792224"/>
            <a:ext cx="0" cy="146304"/>
          </a:xfrm>
          <a:prstGeom prst="line">
            <a:avLst/>
          </a:prstGeom>
          <a:ln w="17780">
            <a:solidFill>
              <a:srgbClr val="0091A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108192" y="2441448"/>
            <a:ext cx="0" cy="192024"/>
          </a:xfrm>
          <a:prstGeom prst="line">
            <a:avLst/>
          </a:prstGeom>
          <a:ln w="17780">
            <a:solidFill>
              <a:srgbClr val="0091A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108192" y="3136392"/>
            <a:ext cx="0" cy="192024"/>
          </a:xfrm>
          <a:prstGeom prst="line">
            <a:avLst/>
          </a:prstGeom>
          <a:ln w="17780">
            <a:solidFill>
              <a:srgbClr val="0091A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108192" y="3831336"/>
            <a:ext cx="0" cy="173736"/>
          </a:xfrm>
          <a:prstGeom prst="line">
            <a:avLst/>
          </a:prstGeom>
          <a:ln w="17780">
            <a:solidFill>
              <a:srgbClr val="0091A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2880360" y="4416552"/>
            <a:ext cx="1920240" cy="704088"/>
          </a:xfrm>
          <a:prstGeom prst="line">
            <a:avLst/>
          </a:prstGeom>
          <a:ln w="17780">
            <a:solidFill>
              <a:srgbClr val="0091A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406640" y="4416552"/>
            <a:ext cx="1737360" cy="704088"/>
          </a:xfrm>
          <a:prstGeom prst="line">
            <a:avLst/>
          </a:prstGeom>
          <a:ln w="17780">
            <a:solidFill>
              <a:srgbClr val="0091A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880360" y="4681728"/>
            <a:ext cx="914400" cy="219456"/>
          </a:xfrm>
          <a:prstGeom prst="rect">
            <a:avLst/>
          </a:prstGeom>
          <a:noFill/>
        </p:spPr>
        <p:txBody>
          <a:bodyPr wrap="square" lIns="54864" tIns="18288" rIns="54864" bIns="18288">
            <a:spAutoFit/>
          </a:bodyPr>
          <a:lstStyle/>
          <a:p>
            <a:pPr algn="ctr"/>
            <a:r>
              <a:rPr sz="900" b="1">
                <a:solidFill>
                  <a:srgbClr val="18314F"/>
                </a:solidFill>
                <a:latin typeface="Aptos"/>
              </a:rPr>
              <a:t>Yes / نعم</a:t>
            </a:r>
            <a:endParaRPr sz="900" b="1">
              <a:solidFill>
                <a:srgbClr val="18314F"/>
              </a:solidFill>
              <a:latin typeface="Aptos"/>
            </a:endParaRPr>
          </a:p>
        </p:txBody>
      </p:sp>
      <p:sp>
        <p:nvSpPr>
          <p:cNvPr id="23" name="TextBox 22"/>
          <p:cNvSpPr txBox="1"/>
          <p:nvPr/>
        </p:nvSpPr>
        <p:spPr>
          <a:xfrm>
            <a:off x="8686800" y="4681728"/>
            <a:ext cx="914400" cy="219456"/>
          </a:xfrm>
          <a:prstGeom prst="rect">
            <a:avLst/>
          </a:prstGeom>
          <a:noFill/>
        </p:spPr>
        <p:txBody>
          <a:bodyPr wrap="square" lIns="54864" tIns="18288" rIns="54864" bIns="18288">
            <a:spAutoFit/>
          </a:bodyPr>
          <a:lstStyle/>
          <a:p>
            <a:pPr algn="ctr"/>
            <a:r>
              <a:rPr sz="900" b="1">
                <a:solidFill>
                  <a:srgbClr val="18314F"/>
                </a:solidFill>
                <a:latin typeface="Aptos"/>
              </a:rPr>
              <a:t>No / لا</a:t>
            </a:r>
            <a:endParaRPr sz="900" b="1">
              <a:solidFill>
                <a:srgbClr val="18314F"/>
              </a:solidFill>
              <a:latin typeface="Aptos"/>
            </a:endParaRPr>
          </a:p>
        </p:txBody>
      </p:sp>
      <p:cxnSp>
        <p:nvCxnSpPr>
          <p:cNvPr id="24" name="Connector 23"/>
          <p:cNvCxnSpPr/>
          <p:nvPr/>
        </p:nvCxnSpPr>
        <p:spPr>
          <a:xfrm>
            <a:off x="2880360" y="5687568"/>
            <a:ext cx="0" cy="210312"/>
          </a:xfrm>
          <a:prstGeom prst="line">
            <a:avLst/>
          </a:prstGeom>
          <a:ln w="17780">
            <a:solidFill>
              <a:srgbClr val="0091A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657600" y="6117336"/>
            <a:ext cx="731520" cy="0"/>
          </a:xfrm>
          <a:prstGeom prst="line">
            <a:avLst/>
          </a:prstGeom>
          <a:ln w="17780">
            <a:solidFill>
              <a:srgbClr val="0091A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108192" y="5687568"/>
            <a:ext cx="0" cy="210312"/>
          </a:xfrm>
          <a:prstGeom prst="line">
            <a:avLst/>
          </a:prstGeom>
          <a:ln w="17780">
            <a:solidFill>
              <a:srgbClr val="0091A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p:sp>
        <p:nvSpPr>
          <p:cNvPr id="2" name="TextBox 1"/>
          <p:cNvSpPr txBox="1"/>
          <p:nvPr/>
        </p:nvSpPr>
        <p:spPr>
          <a:xfrm>
            <a:off x="411480" y="164592"/>
            <a:ext cx="11338560" cy="384048"/>
          </a:xfrm>
          <a:prstGeom prst="rect">
            <a:avLst/>
          </a:prstGeom>
          <a:noFill/>
        </p:spPr>
        <p:txBody>
          <a:bodyPr wrap="square" lIns="54864" tIns="18288" rIns="54864" bIns="18288">
            <a:spAutoFit/>
          </a:bodyPr>
          <a:lstStyle/>
          <a:p>
            <a:pPr algn="ctr"/>
            <a:r>
              <a:rPr sz="2400" b="1">
                <a:solidFill>
                  <a:srgbClr val="18314F"/>
                </a:solidFill>
                <a:latin typeface="Aptos"/>
              </a:rPr>
              <a:t>Sequence Diagram: Browse Cars</a:t>
            </a:r>
            <a:endParaRPr sz="2400" b="1">
              <a:solidFill>
                <a:srgbClr val="18314F"/>
              </a:solidFill>
              <a:latin typeface="Aptos"/>
            </a:endParaRPr>
          </a:p>
        </p:txBody>
      </p:sp>
      <p:sp>
        <p:nvSpPr>
          <p:cNvPr id="3" name="TextBox 2"/>
          <p:cNvSpPr txBox="1"/>
          <p:nvPr/>
        </p:nvSpPr>
        <p:spPr>
          <a:xfrm>
            <a:off x="411480" y="539496"/>
            <a:ext cx="11338560" cy="329184"/>
          </a:xfrm>
          <a:prstGeom prst="rect">
            <a:avLst/>
          </a:prstGeom>
          <a:noFill/>
        </p:spPr>
        <p:txBody>
          <a:bodyPr wrap="square" lIns="54864" tIns="18288" rIns="54864" bIns="18288">
            <a:spAutoFit/>
          </a:bodyPr>
          <a:lstStyle/>
          <a:p>
            <a:pPr algn="ctr"/>
            <a:r>
              <a:rPr sz="1800" b="1">
                <a:solidFill>
                  <a:srgbClr val="18314F"/>
                </a:solidFill>
                <a:latin typeface="Aptos"/>
              </a:rPr>
              <a:t>مخطط التتابع: تصفح السيارات</a:t>
            </a:r>
            <a:endParaRPr sz="1800" b="1">
              <a:solidFill>
                <a:srgbClr val="18314F"/>
              </a:solidFill>
              <a:latin typeface="Aptos"/>
            </a:endParaRPr>
          </a:p>
        </p:txBody>
      </p:sp>
      <p:sp>
        <p:nvSpPr>
          <p:cNvPr id="4" name="TextBox 3"/>
          <p:cNvSpPr txBox="1"/>
          <p:nvPr/>
        </p:nvSpPr>
        <p:spPr>
          <a:xfrm>
            <a:off x="502920" y="877824"/>
            <a:ext cx="11155680" cy="256032"/>
          </a:xfrm>
          <a:prstGeom prst="rect">
            <a:avLst/>
          </a:prstGeom>
          <a:noFill/>
        </p:spPr>
        <p:txBody>
          <a:bodyPr wrap="square" lIns="54864" tIns="18288" rIns="54864" bIns="18288">
            <a:spAutoFit/>
          </a:bodyPr>
          <a:lstStyle/>
          <a:p>
            <a:pPr algn="ctr"/>
            <a:r>
              <a:rPr sz="1000" b="0">
                <a:solidFill>
                  <a:srgbClr val="5B7084"/>
                </a:solidFill>
                <a:latin typeface="Aptos"/>
              </a:rPr>
              <a:t>Messages between UI, API/controller, service and database / الرسائل بين المكونات</a:t>
            </a:r>
            <a:endParaRPr sz="1000" b="0">
              <a:solidFill>
                <a:srgbClr val="5B7084"/>
              </a:solidFill>
              <a:latin typeface="Aptos"/>
            </a:endParaRPr>
          </a:p>
        </p:txBody>
      </p:sp>
      <p:sp>
        <p:nvSpPr>
          <p:cNvPr id="5" name="Rectangle 4"/>
          <p:cNvSpPr/>
          <p:nvPr/>
        </p:nvSpPr>
        <p:spPr>
          <a:xfrm>
            <a:off x="502920" y="1170432"/>
            <a:ext cx="11155680" cy="22860"/>
          </a:xfrm>
          <a:prstGeom prst="rect">
            <a:avLst/>
          </a:prstGeom>
          <a:solidFill>
            <a:srgbClr val="E2EDF5"/>
          </a:solidFill>
          <a:ln>
            <a:solidFill>
              <a:srgbClr val="0091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6528816"/>
            <a:ext cx="11521440" cy="164592"/>
          </a:xfrm>
          <a:prstGeom prst="rect">
            <a:avLst/>
          </a:prstGeom>
          <a:noFill/>
        </p:spPr>
        <p:txBody>
          <a:bodyPr wrap="square" lIns="54864" tIns="18288" rIns="54864" bIns="18288">
            <a:spAutoFit/>
          </a:bodyPr>
          <a:lstStyle/>
          <a:p>
            <a:pPr algn="ctr"/>
            <a:r>
              <a:rPr sz="800" b="0">
                <a:solidFill>
                  <a:srgbClr val="18314F"/>
                </a:solidFill>
                <a:latin typeface="Aptos"/>
              </a:rPr>
              <a:t>Car Rental Platform  |  مخططات المشروع  •  17</a:t>
            </a:r>
            <a:endParaRPr sz="800" b="0">
              <a:solidFill>
                <a:srgbClr val="18314F"/>
              </a:solidFill>
              <a:latin typeface="Aptos"/>
            </a:endParaRPr>
          </a:p>
        </p:txBody>
      </p:sp>
      <p:sp>
        <p:nvSpPr>
          <p:cNvPr id="7" name="Rounded Rectangle 6"/>
          <p:cNvSpPr/>
          <p:nvPr/>
        </p:nvSpPr>
        <p:spPr>
          <a:xfrm>
            <a:off x="502920" y="1417320"/>
            <a:ext cx="1691640" cy="594360"/>
          </a:xfrm>
          <a:prstGeom prst="roundRect">
            <a:avLst/>
          </a:prstGeom>
          <a:solidFill>
            <a:srgbClr val="18314F"/>
          </a:solidFill>
          <a:ln w="19050">
            <a:solidFill>
              <a:srgbClr val="0091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FFFFF"/>
                </a:solidFill>
                <a:latin typeface="Aptos"/>
              </a:rPr>
              <a:t>Visitor</a:t>
            </a:r>
            <a:endParaRPr sz="1100" b="1">
              <a:solidFill>
                <a:srgbClr val="FFFFFF"/>
              </a:solidFill>
              <a:latin typeface="Aptos"/>
            </a:endParaRPr>
          </a:p>
          <a:p>
            <a:pPr algn="ctr">
              <a:spcBef>
                <a:spcPts val="200"/>
              </a:spcBef>
            </a:pPr>
            <a:r>
              <a:rPr sz="900">
                <a:solidFill>
                  <a:srgbClr val="FFFFFF"/>
                </a:solidFill>
                <a:latin typeface="Arial" panose="020B0604020202020204"/>
              </a:rPr>
              <a:t>زائر</a:t>
            </a:r>
            <a:endParaRPr sz="900">
              <a:solidFill>
                <a:srgbClr val="FFFFFF"/>
              </a:solidFill>
              <a:latin typeface="Arial" panose="020B0604020202020204"/>
            </a:endParaRPr>
          </a:p>
        </p:txBody>
      </p:sp>
      <p:cxnSp>
        <p:nvCxnSpPr>
          <p:cNvPr id="8" name="Connector 7"/>
          <p:cNvCxnSpPr/>
          <p:nvPr/>
        </p:nvCxnSpPr>
        <p:spPr>
          <a:xfrm>
            <a:off x="1348740" y="2011680"/>
            <a:ext cx="0" cy="3977640"/>
          </a:xfrm>
          <a:prstGeom prst="line">
            <a:avLst/>
          </a:prstGeom>
          <a:ln w="12700">
            <a:solidFill>
              <a:srgbClr val="0091A0"/>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880360" y="1417320"/>
            <a:ext cx="1691640" cy="594360"/>
          </a:xfrm>
          <a:prstGeom prst="roundRect">
            <a:avLst/>
          </a:prstGeom>
          <a:solidFill>
            <a:srgbClr val="FFFFFF"/>
          </a:solidFill>
          <a:ln w="19050">
            <a:solidFill>
              <a:srgbClr val="0091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18314F"/>
                </a:solidFill>
                <a:latin typeface="Aptos"/>
              </a:rPr>
              <a:t>Web UI</a:t>
            </a:r>
            <a:endParaRPr sz="1100" b="1">
              <a:solidFill>
                <a:srgbClr val="18314F"/>
              </a:solidFill>
              <a:latin typeface="Aptos"/>
            </a:endParaRPr>
          </a:p>
          <a:p>
            <a:pPr algn="ctr">
              <a:spcBef>
                <a:spcPts val="200"/>
              </a:spcBef>
            </a:pPr>
            <a:r>
              <a:rPr sz="900">
                <a:solidFill>
                  <a:srgbClr val="18314F"/>
                </a:solidFill>
                <a:latin typeface="Arial" panose="020B0604020202020204"/>
              </a:rPr>
              <a:t>واجهة الويب</a:t>
            </a:r>
            <a:endParaRPr sz="900">
              <a:solidFill>
                <a:srgbClr val="18314F"/>
              </a:solidFill>
              <a:latin typeface="Arial" panose="020B0604020202020204"/>
            </a:endParaRPr>
          </a:p>
        </p:txBody>
      </p:sp>
      <p:cxnSp>
        <p:nvCxnSpPr>
          <p:cNvPr id="10" name="Connector 9"/>
          <p:cNvCxnSpPr/>
          <p:nvPr/>
        </p:nvCxnSpPr>
        <p:spPr>
          <a:xfrm>
            <a:off x="3726180" y="2011680"/>
            <a:ext cx="0" cy="3977640"/>
          </a:xfrm>
          <a:prstGeom prst="line">
            <a:avLst/>
          </a:prstGeom>
          <a:ln w="12700">
            <a:solidFill>
              <a:srgbClr val="0091A0"/>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257800" y="1417320"/>
            <a:ext cx="1691640" cy="594360"/>
          </a:xfrm>
          <a:prstGeom prst="roundRect">
            <a:avLst/>
          </a:prstGeom>
          <a:solidFill>
            <a:srgbClr val="FFFFFF"/>
          </a:solidFill>
          <a:ln w="19050">
            <a:solidFill>
              <a:srgbClr val="0091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18314F"/>
                </a:solidFill>
                <a:latin typeface="Aptos"/>
              </a:rPr>
              <a:t>Cars API</a:t>
            </a:r>
            <a:endParaRPr sz="1100" b="1">
              <a:solidFill>
                <a:srgbClr val="18314F"/>
              </a:solidFill>
              <a:latin typeface="Aptos"/>
            </a:endParaRPr>
          </a:p>
          <a:p>
            <a:pPr algn="ctr">
              <a:spcBef>
                <a:spcPts val="200"/>
              </a:spcBef>
            </a:pPr>
            <a:r>
              <a:rPr sz="900">
                <a:solidFill>
                  <a:srgbClr val="18314F"/>
                </a:solidFill>
                <a:latin typeface="Arial" panose="020B0604020202020204"/>
              </a:rPr>
              <a:t>متحكم السيارات</a:t>
            </a:r>
            <a:endParaRPr sz="900">
              <a:solidFill>
                <a:srgbClr val="18314F"/>
              </a:solidFill>
              <a:latin typeface="Arial" panose="020B0604020202020204"/>
            </a:endParaRPr>
          </a:p>
        </p:txBody>
      </p:sp>
      <p:cxnSp>
        <p:nvCxnSpPr>
          <p:cNvPr id="12" name="Connector 11"/>
          <p:cNvCxnSpPr/>
          <p:nvPr/>
        </p:nvCxnSpPr>
        <p:spPr>
          <a:xfrm>
            <a:off x="6103620" y="2011680"/>
            <a:ext cx="0" cy="3977640"/>
          </a:xfrm>
          <a:prstGeom prst="line">
            <a:avLst/>
          </a:prstGeom>
          <a:ln w="12700">
            <a:solidFill>
              <a:srgbClr val="0091A0"/>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635240" y="1417320"/>
            <a:ext cx="1691640" cy="594360"/>
          </a:xfrm>
          <a:prstGeom prst="roundRect">
            <a:avLst/>
          </a:prstGeom>
          <a:solidFill>
            <a:srgbClr val="FFFFFF"/>
          </a:solidFill>
          <a:ln w="19050">
            <a:solidFill>
              <a:srgbClr val="0091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18314F"/>
                </a:solidFill>
                <a:latin typeface="Aptos"/>
              </a:rPr>
              <a:t>Inventory Service</a:t>
            </a:r>
            <a:endParaRPr sz="1100" b="1">
              <a:solidFill>
                <a:srgbClr val="18314F"/>
              </a:solidFill>
              <a:latin typeface="Aptos"/>
            </a:endParaRPr>
          </a:p>
          <a:p>
            <a:pPr algn="ctr">
              <a:spcBef>
                <a:spcPts val="200"/>
              </a:spcBef>
            </a:pPr>
            <a:r>
              <a:rPr sz="900">
                <a:solidFill>
                  <a:srgbClr val="18314F"/>
                </a:solidFill>
                <a:latin typeface="Arial" panose="020B0604020202020204"/>
              </a:rPr>
              <a:t>خدمة المخزون</a:t>
            </a:r>
            <a:endParaRPr sz="900">
              <a:solidFill>
                <a:srgbClr val="18314F"/>
              </a:solidFill>
              <a:latin typeface="Arial" panose="020B0604020202020204"/>
            </a:endParaRPr>
          </a:p>
        </p:txBody>
      </p:sp>
      <p:cxnSp>
        <p:nvCxnSpPr>
          <p:cNvPr id="14" name="Connector 13"/>
          <p:cNvCxnSpPr/>
          <p:nvPr/>
        </p:nvCxnSpPr>
        <p:spPr>
          <a:xfrm>
            <a:off x="8481060" y="2011680"/>
            <a:ext cx="0" cy="3977640"/>
          </a:xfrm>
          <a:prstGeom prst="line">
            <a:avLst/>
          </a:prstGeom>
          <a:ln w="12700">
            <a:solidFill>
              <a:srgbClr val="0091A0"/>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0012680" y="1417320"/>
            <a:ext cx="1691640" cy="594360"/>
          </a:xfrm>
          <a:prstGeom prst="roundRect">
            <a:avLst/>
          </a:prstGeom>
          <a:solidFill>
            <a:srgbClr val="FFFFFF"/>
          </a:solidFill>
          <a:ln w="19050">
            <a:solidFill>
              <a:srgbClr val="0091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18314F"/>
                </a:solidFill>
                <a:latin typeface="Aptos"/>
              </a:rPr>
              <a:t>Database</a:t>
            </a:r>
            <a:endParaRPr sz="1100" b="1">
              <a:solidFill>
                <a:srgbClr val="18314F"/>
              </a:solidFill>
              <a:latin typeface="Aptos"/>
            </a:endParaRPr>
          </a:p>
          <a:p>
            <a:pPr algn="ctr">
              <a:spcBef>
                <a:spcPts val="200"/>
              </a:spcBef>
            </a:pPr>
            <a:r>
              <a:rPr sz="900">
                <a:solidFill>
                  <a:srgbClr val="18314F"/>
                </a:solidFill>
                <a:latin typeface="Arial" panose="020B0604020202020204"/>
              </a:rPr>
              <a:t>قاعدة البيانات</a:t>
            </a:r>
            <a:endParaRPr sz="900">
              <a:solidFill>
                <a:srgbClr val="18314F"/>
              </a:solidFill>
              <a:latin typeface="Arial" panose="020B0604020202020204"/>
            </a:endParaRPr>
          </a:p>
        </p:txBody>
      </p:sp>
      <p:cxnSp>
        <p:nvCxnSpPr>
          <p:cNvPr id="16" name="Connector 15"/>
          <p:cNvCxnSpPr/>
          <p:nvPr/>
        </p:nvCxnSpPr>
        <p:spPr>
          <a:xfrm>
            <a:off x="10858500" y="2011680"/>
            <a:ext cx="0" cy="3977640"/>
          </a:xfrm>
          <a:prstGeom prst="line">
            <a:avLst/>
          </a:prstGeom>
          <a:ln w="12700">
            <a:solidFill>
              <a:srgbClr val="0091A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48740" y="2176272"/>
            <a:ext cx="2377440" cy="0"/>
          </a:xfrm>
          <a:prstGeom prst="line">
            <a:avLst/>
          </a:prstGeom>
          <a:ln w="16510">
            <a:solidFill>
              <a:srgbClr val="0091A0"/>
            </a:solidFill>
          </a:ln>
        </p:spPr>
        <p:style>
          <a:lnRef idx="2">
            <a:schemeClr val="accent1"/>
          </a:lnRef>
          <a:fillRef idx="0">
            <a:schemeClr val="accent1"/>
          </a:fillRef>
          <a:effectRef idx="1">
            <a:schemeClr val="accent1"/>
          </a:effectRef>
          <a:fontRef idx="minor">
            <a:schemeClr val="tx1"/>
          </a:fontRef>
        </p:style>
      </p:cxnSp>
      <p:sp>
        <p:nvSpPr>
          <p:cNvPr id="18" name="Isosceles Triangle 17"/>
          <p:cNvSpPr/>
          <p:nvPr/>
        </p:nvSpPr>
        <p:spPr>
          <a:xfrm>
            <a:off x="3675888" y="2112264"/>
            <a:ext cx="128016" cy="128016"/>
          </a:xfrm>
          <a:prstGeom prst="triangle">
            <a:avLst/>
          </a:prstGeom>
          <a:solidFill>
            <a:srgbClr val="E2EDF5"/>
          </a:solidFill>
          <a:ln>
            <a:solidFill>
              <a:srgbClr val="0091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03604" y="1947672"/>
            <a:ext cx="2267712" cy="201168"/>
          </a:xfrm>
          <a:prstGeom prst="rect">
            <a:avLst/>
          </a:prstGeom>
          <a:noFill/>
        </p:spPr>
        <p:txBody>
          <a:bodyPr wrap="square" lIns="54864" tIns="18288" rIns="54864" bIns="18288">
            <a:spAutoFit/>
          </a:bodyPr>
          <a:lstStyle/>
          <a:p>
            <a:pPr algn="ctr"/>
            <a:r>
              <a:rPr sz="800" b="0">
                <a:solidFill>
                  <a:srgbClr val="18314F"/>
                </a:solidFill>
                <a:latin typeface="Aptos"/>
              </a:rPr>
              <a:t>Open catalog / فتح الكتالوج</a:t>
            </a:r>
            <a:endParaRPr sz="800" b="0">
              <a:solidFill>
                <a:srgbClr val="18314F"/>
              </a:solidFill>
              <a:latin typeface="Aptos"/>
            </a:endParaRPr>
          </a:p>
        </p:txBody>
      </p:sp>
      <p:cxnSp>
        <p:nvCxnSpPr>
          <p:cNvPr id="20" name="Connector 19"/>
          <p:cNvCxnSpPr/>
          <p:nvPr/>
        </p:nvCxnSpPr>
        <p:spPr>
          <a:xfrm>
            <a:off x="3726180" y="2697480"/>
            <a:ext cx="2377440" cy="0"/>
          </a:xfrm>
          <a:prstGeom prst="line">
            <a:avLst/>
          </a:prstGeom>
          <a:ln w="16510">
            <a:solidFill>
              <a:srgbClr val="0091A0"/>
            </a:solidFill>
          </a:ln>
        </p:spPr>
        <p:style>
          <a:lnRef idx="2">
            <a:schemeClr val="accent1"/>
          </a:lnRef>
          <a:fillRef idx="0">
            <a:schemeClr val="accent1"/>
          </a:fillRef>
          <a:effectRef idx="1">
            <a:schemeClr val="accent1"/>
          </a:effectRef>
          <a:fontRef idx="minor">
            <a:schemeClr val="tx1"/>
          </a:fontRef>
        </p:style>
      </p:cxnSp>
      <p:sp>
        <p:nvSpPr>
          <p:cNvPr id="21" name="Isosceles Triangle 20"/>
          <p:cNvSpPr/>
          <p:nvPr/>
        </p:nvSpPr>
        <p:spPr>
          <a:xfrm>
            <a:off x="6053328" y="2633472"/>
            <a:ext cx="128016" cy="128016"/>
          </a:xfrm>
          <a:prstGeom prst="triangle">
            <a:avLst/>
          </a:prstGeom>
          <a:solidFill>
            <a:srgbClr val="E2EDF5"/>
          </a:solidFill>
          <a:ln>
            <a:solidFill>
              <a:srgbClr val="0091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81044" y="2468880"/>
            <a:ext cx="2267711" cy="201168"/>
          </a:xfrm>
          <a:prstGeom prst="rect">
            <a:avLst/>
          </a:prstGeom>
          <a:noFill/>
        </p:spPr>
        <p:txBody>
          <a:bodyPr wrap="square" lIns="54864" tIns="18288" rIns="54864" bIns="18288">
            <a:spAutoFit/>
          </a:bodyPr>
          <a:lstStyle/>
          <a:p>
            <a:pPr algn="ctr"/>
            <a:r>
              <a:rPr sz="800" b="0">
                <a:solidFill>
                  <a:srgbClr val="18314F"/>
                </a:solidFill>
                <a:latin typeface="Aptos"/>
              </a:rPr>
              <a:t>GET /api/cars / طلب قائمة السيارات</a:t>
            </a:r>
            <a:endParaRPr sz="800" b="0">
              <a:solidFill>
                <a:srgbClr val="18314F"/>
              </a:solidFill>
              <a:latin typeface="Aptos"/>
            </a:endParaRPr>
          </a:p>
        </p:txBody>
      </p:sp>
      <p:cxnSp>
        <p:nvCxnSpPr>
          <p:cNvPr id="23" name="Connector 22"/>
          <p:cNvCxnSpPr/>
          <p:nvPr/>
        </p:nvCxnSpPr>
        <p:spPr>
          <a:xfrm>
            <a:off x="6103620" y="3218688"/>
            <a:ext cx="2377440" cy="0"/>
          </a:xfrm>
          <a:prstGeom prst="line">
            <a:avLst/>
          </a:prstGeom>
          <a:ln w="16510">
            <a:solidFill>
              <a:srgbClr val="0091A0"/>
            </a:solidFill>
          </a:ln>
        </p:spPr>
        <p:style>
          <a:lnRef idx="2">
            <a:schemeClr val="accent1"/>
          </a:lnRef>
          <a:fillRef idx="0">
            <a:schemeClr val="accent1"/>
          </a:fillRef>
          <a:effectRef idx="1">
            <a:schemeClr val="accent1"/>
          </a:effectRef>
          <a:fontRef idx="minor">
            <a:schemeClr val="tx1"/>
          </a:fontRef>
        </p:style>
      </p:cxnSp>
      <p:sp>
        <p:nvSpPr>
          <p:cNvPr id="24" name="Isosceles Triangle 23"/>
          <p:cNvSpPr/>
          <p:nvPr/>
        </p:nvSpPr>
        <p:spPr>
          <a:xfrm>
            <a:off x="8430768" y="3154680"/>
            <a:ext cx="128016" cy="128016"/>
          </a:xfrm>
          <a:prstGeom prst="triangle">
            <a:avLst/>
          </a:prstGeom>
          <a:solidFill>
            <a:srgbClr val="E2EDF5"/>
          </a:solidFill>
          <a:ln>
            <a:solidFill>
              <a:srgbClr val="0091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58483" y="2990088"/>
            <a:ext cx="2267712" cy="201168"/>
          </a:xfrm>
          <a:prstGeom prst="rect">
            <a:avLst/>
          </a:prstGeom>
          <a:noFill/>
        </p:spPr>
        <p:txBody>
          <a:bodyPr wrap="square" lIns="54864" tIns="18288" rIns="54864" bIns="18288">
            <a:spAutoFit/>
          </a:bodyPr>
          <a:lstStyle/>
          <a:p>
            <a:pPr algn="ctr"/>
            <a:r>
              <a:rPr sz="800" b="0">
                <a:solidFill>
                  <a:srgbClr val="18314F"/>
                </a:solidFill>
                <a:latin typeface="Aptos"/>
              </a:rPr>
              <a:t>list_public(filters) / تطبيق المرشحات</a:t>
            </a:r>
            <a:endParaRPr sz="800" b="0">
              <a:solidFill>
                <a:srgbClr val="18314F"/>
              </a:solidFill>
              <a:latin typeface="Aptos"/>
            </a:endParaRPr>
          </a:p>
        </p:txBody>
      </p:sp>
      <p:cxnSp>
        <p:nvCxnSpPr>
          <p:cNvPr id="26" name="Connector 25"/>
          <p:cNvCxnSpPr/>
          <p:nvPr/>
        </p:nvCxnSpPr>
        <p:spPr>
          <a:xfrm>
            <a:off x="8481060" y="3739896"/>
            <a:ext cx="2377440" cy="0"/>
          </a:xfrm>
          <a:prstGeom prst="line">
            <a:avLst/>
          </a:prstGeom>
          <a:ln w="16510">
            <a:solidFill>
              <a:srgbClr val="0091A0"/>
            </a:solidFill>
          </a:ln>
        </p:spPr>
        <p:style>
          <a:lnRef idx="2">
            <a:schemeClr val="accent1"/>
          </a:lnRef>
          <a:fillRef idx="0">
            <a:schemeClr val="accent1"/>
          </a:fillRef>
          <a:effectRef idx="1">
            <a:schemeClr val="accent1"/>
          </a:effectRef>
          <a:fontRef idx="minor">
            <a:schemeClr val="tx1"/>
          </a:fontRef>
        </p:style>
      </p:cxnSp>
      <p:sp>
        <p:nvSpPr>
          <p:cNvPr id="27" name="Isosceles Triangle 26"/>
          <p:cNvSpPr/>
          <p:nvPr/>
        </p:nvSpPr>
        <p:spPr>
          <a:xfrm>
            <a:off x="10808208" y="3675887"/>
            <a:ext cx="128016" cy="128016"/>
          </a:xfrm>
          <a:prstGeom prst="triangle">
            <a:avLst/>
          </a:prstGeom>
          <a:solidFill>
            <a:srgbClr val="E2EDF5"/>
          </a:solidFill>
          <a:ln>
            <a:solidFill>
              <a:srgbClr val="0091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35924" y="3511296"/>
            <a:ext cx="2267711" cy="201168"/>
          </a:xfrm>
          <a:prstGeom prst="rect">
            <a:avLst/>
          </a:prstGeom>
          <a:noFill/>
        </p:spPr>
        <p:txBody>
          <a:bodyPr wrap="square" lIns="54864" tIns="18288" rIns="54864" bIns="18288">
            <a:spAutoFit/>
          </a:bodyPr>
          <a:lstStyle/>
          <a:p>
            <a:pPr algn="ctr"/>
            <a:r>
              <a:rPr sz="800" b="0">
                <a:solidFill>
                  <a:srgbClr val="18314F"/>
                </a:solidFill>
                <a:latin typeface="Aptos"/>
              </a:rPr>
              <a:t>SELECT active listings / استعلام السيارات النشطة</a:t>
            </a:r>
            <a:endParaRPr sz="800" b="0">
              <a:solidFill>
                <a:srgbClr val="18314F"/>
              </a:solidFill>
              <a:latin typeface="Aptos"/>
            </a:endParaRPr>
          </a:p>
        </p:txBody>
      </p:sp>
      <p:cxnSp>
        <p:nvCxnSpPr>
          <p:cNvPr id="29" name="Connector 28"/>
          <p:cNvCxnSpPr/>
          <p:nvPr/>
        </p:nvCxnSpPr>
        <p:spPr>
          <a:xfrm flipH="1">
            <a:off x="8481060" y="4261104"/>
            <a:ext cx="2377440" cy="0"/>
          </a:xfrm>
          <a:prstGeom prst="line">
            <a:avLst/>
          </a:prstGeom>
          <a:ln w="16510">
            <a:solidFill>
              <a:srgbClr val="0091A0"/>
            </a:solidFill>
          </a:ln>
        </p:spPr>
        <p:style>
          <a:lnRef idx="2">
            <a:schemeClr val="accent1"/>
          </a:lnRef>
          <a:fillRef idx="0">
            <a:schemeClr val="accent1"/>
          </a:fillRef>
          <a:effectRef idx="1">
            <a:schemeClr val="accent1"/>
          </a:effectRef>
          <a:fontRef idx="minor">
            <a:schemeClr val="tx1"/>
          </a:fontRef>
        </p:style>
      </p:cxnSp>
      <p:sp>
        <p:nvSpPr>
          <p:cNvPr id="30" name="Isosceles Triangle 29"/>
          <p:cNvSpPr/>
          <p:nvPr/>
        </p:nvSpPr>
        <p:spPr>
          <a:xfrm rot="16200000">
            <a:off x="8430768" y="4197096"/>
            <a:ext cx="128016" cy="128016"/>
          </a:xfrm>
          <a:prstGeom prst="triangle">
            <a:avLst/>
          </a:prstGeom>
          <a:solidFill>
            <a:srgbClr val="E2EDF5"/>
          </a:solidFill>
          <a:ln>
            <a:solidFill>
              <a:srgbClr val="0091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35924" y="4032504"/>
            <a:ext cx="2267711" cy="201168"/>
          </a:xfrm>
          <a:prstGeom prst="rect">
            <a:avLst/>
          </a:prstGeom>
          <a:noFill/>
        </p:spPr>
        <p:txBody>
          <a:bodyPr wrap="square" lIns="54864" tIns="18288" rIns="54864" bIns="18288">
            <a:spAutoFit/>
          </a:bodyPr>
          <a:lstStyle/>
          <a:p>
            <a:pPr algn="ctr"/>
            <a:r>
              <a:rPr sz="800" b="0">
                <a:solidFill>
                  <a:srgbClr val="18314F"/>
                </a:solidFill>
                <a:latin typeface="Aptos"/>
              </a:rPr>
              <a:t>Matching records / السجلات المطابقة</a:t>
            </a:r>
            <a:endParaRPr sz="800" b="0">
              <a:solidFill>
                <a:srgbClr val="18314F"/>
              </a:solidFill>
              <a:latin typeface="Aptos"/>
            </a:endParaRPr>
          </a:p>
        </p:txBody>
      </p:sp>
      <p:cxnSp>
        <p:nvCxnSpPr>
          <p:cNvPr id="32" name="Connector 31"/>
          <p:cNvCxnSpPr/>
          <p:nvPr/>
        </p:nvCxnSpPr>
        <p:spPr>
          <a:xfrm flipH="1">
            <a:off x="6103620" y="4782312"/>
            <a:ext cx="2377440" cy="0"/>
          </a:xfrm>
          <a:prstGeom prst="line">
            <a:avLst/>
          </a:prstGeom>
          <a:ln w="16510">
            <a:solidFill>
              <a:srgbClr val="0091A0"/>
            </a:solidFill>
          </a:ln>
        </p:spPr>
        <p:style>
          <a:lnRef idx="2">
            <a:schemeClr val="accent1"/>
          </a:lnRef>
          <a:fillRef idx="0">
            <a:schemeClr val="accent1"/>
          </a:fillRef>
          <a:effectRef idx="1">
            <a:schemeClr val="accent1"/>
          </a:effectRef>
          <a:fontRef idx="minor">
            <a:schemeClr val="tx1"/>
          </a:fontRef>
        </p:style>
      </p:cxnSp>
      <p:sp>
        <p:nvSpPr>
          <p:cNvPr id="33" name="Isosceles Triangle 32"/>
          <p:cNvSpPr/>
          <p:nvPr/>
        </p:nvSpPr>
        <p:spPr>
          <a:xfrm rot="16200000">
            <a:off x="6053328" y="4718304"/>
            <a:ext cx="128016" cy="128016"/>
          </a:xfrm>
          <a:prstGeom prst="triangle">
            <a:avLst/>
          </a:prstGeom>
          <a:solidFill>
            <a:srgbClr val="E2EDF5"/>
          </a:solidFill>
          <a:ln>
            <a:solidFill>
              <a:srgbClr val="0091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58483" y="4553712"/>
            <a:ext cx="2267712" cy="201168"/>
          </a:xfrm>
          <a:prstGeom prst="rect">
            <a:avLst/>
          </a:prstGeom>
          <a:noFill/>
        </p:spPr>
        <p:txBody>
          <a:bodyPr wrap="square" lIns="54864" tIns="18288" rIns="54864" bIns="18288">
            <a:spAutoFit/>
          </a:bodyPr>
          <a:lstStyle/>
          <a:p>
            <a:pPr algn="ctr"/>
            <a:r>
              <a:rPr sz="800" b="0">
                <a:solidFill>
                  <a:srgbClr val="18314F"/>
                </a:solidFill>
                <a:latin typeface="Aptos"/>
              </a:rPr>
              <a:t>Car data / بيانات السيارات</a:t>
            </a:r>
            <a:endParaRPr sz="800" b="0">
              <a:solidFill>
                <a:srgbClr val="18314F"/>
              </a:solidFill>
              <a:latin typeface="Aptos"/>
            </a:endParaRPr>
          </a:p>
        </p:txBody>
      </p:sp>
      <p:cxnSp>
        <p:nvCxnSpPr>
          <p:cNvPr id="35" name="Connector 34"/>
          <p:cNvCxnSpPr/>
          <p:nvPr/>
        </p:nvCxnSpPr>
        <p:spPr>
          <a:xfrm flipH="1">
            <a:off x="3726180" y="5303520"/>
            <a:ext cx="2377440" cy="0"/>
          </a:xfrm>
          <a:prstGeom prst="line">
            <a:avLst/>
          </a:prstGeom>
          <a:ln w="16510">
            <a:solidFill>
              <a:srgbClr val="0091A0"/>
            </a:solidFill>
          </a:ln>
        </p:spPr>
        <p:style>
          <a:lnRef idx="2">
            <a:schemeClr val="accent1"/>
          </a:lnRef>
          <a:fillRef idx="0">
            <a:schemeClr val="accent1"/>
          </a:fillRef>
          <a:effectRef idx="1">
            <a:schemeClr val="accent1"/>
          </a:effectRef>
          <a:fontRef idx="minor">
            <a:schemeClr val="tx1"/>
          </a:fontRef>
        </p:style>
      </p:cxnSp>
      <p:sp>
        <p:nvSpPr>
          <p:cNvPr id="36" name="Isosceles Triangle 35"/>
          <p:cNvSpPr/>
          <p:nvPr/>
        </p:nvSpPr>
        <p:spPr>
          <a:xfrm rot="16200000">
            <a:off x="3675888" y="5239512"/>
            <a:ext cx="128016" cy="128016"/>
          </a:xfrm>
          <a:prstGeom prst="triangle">
            <a:avLst/>
          </a:prstGeom>
          <a:solidFill>
            <a:srgbClr val="E2EDF5"/>
          </a:solidFill>
          <a:ln>
            <a:solidFill>
              <a:srgbClr val="0091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781044" y="5074920"/>
            <a:ext cx="2267711" cy="201168"/>
          </a:xfrm>
          <a:prstGeom prst="rect">
            <a:avLst/>
          </a:prstGeom>
          <a:noFill/>
        </p:spPr>
        <p:txBody>
          <a:bodyPr wrap="square" lIns="54864" tIns="18288" rIns="54864" bIns="18288">
            <a:spAutoFit/>
          </a:bodyPr>
          <a:lstStyle/>
          <a:p>
            <a:pPr algn="ctr"/>
            <a:r>
              <a:rPr sz="800" b="0">
                <a:solidFill>
                  <a:srgbClr val="18314F"/>
                </a:solidFill>
                <a:latin typeface="Aptos"/>
              </a:rPr>
              <a:t>JSON response / استجابة JSON</a:t>
            </a:r>
            <a:endParaRPr sz="800" b="0">
              <a:solidFill>
                <a:srgbClr val="18314F"/>
              </a:solidFill>
              <a:latin typeface="Aptos"/>
            </a:endParaRPr>
          </a:p>
        </p:txBody>
      </p:sp>
      <p:cxnSp>
        <p:nvCxnSpPr>
          <p:cNvPr id="38" name="Connector 37"/>
          <p:cNvCxnSpPr/>
          <p:nvPr/>
        </p:nvCxnSpPr>
        <p:spPr>
          <a:xfrm flipH="1">
            <a:off x="1348740" y="5824728"/>
            <a:ext cx="2377440" cy="0"/>
          </a:xfrm>
          <a:prstGeom prst="line">
            <a:avLst/>
          </a:prstGeom>
          <a:ln w="16510">
            <a:solidFill>
              <a:srgbClr val="0091A0"/>
            </a:solidFill>
          </a:ln>
        </p:spPr>
        <p:style>
          <a:lnRef idx="2">
            <a:schemeClr val="accent1"/>
          </a:lnRef>
          <a:fillRef idx="0">
            <a:schemeClr val="accent1"/>
          </a:fillRef>
          <a:effectRef idx="1">
            <a:schemeClr val="accent1"/>
          </a:effectRef>
          <a:fontRef idx="minor">
            <a:schemeClr val="tx1"/>
          </a:fontRef>
        </p:style>
      </p:cxnSp>
      <p:sp>
        <p:nvSpPr>
          <p:cNvPr id="39" name="Isosceles Triangle 38"/>
          <p:cNvSpPr/>
          <p:nvPr/>
        </p:nvSpPr>
        <p:spPr>
          <a:xfrm rot="16200000">
            <a:off x="1298448" y="5760720"/>
            <a:ext cx="128016" cy="128016"/>
          </a:xfrm>
          <a:prstGeom prst="triangle">
            <a:avLst/>
          </a:prstGeom>
          <a:solidFill>
            <a:srgbClr val="E2EDF5"/>
          </a:solidFill>
          <a:ln>
            <a:solidFill>
              <a:srgbClr val="0091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403604" y="5596128"/>
            <a:ext cx="2267712" cy="201168"/>
          </a:xfrm>
          <a:prstGeom prst="rect">
            <a:avLst/>
          </a:prstGeom>
          <a:noFill/>
        </p:spPr>
        <p:txBody>
          <a:bodyPr wrap="square" lIns="54864" tIns="18288" rIns="54864" bIns="18288">
            <a:spAutoFit/>
          </a:bodyPr>
          <a:lstStyle/>
          <a:p>
            <a:pPr algn="ctr"/>
            <a:r>
              <a:rPr sz="800" b="0">
                <a:solidFill>
                  <a:srgbClr val="18314F"/>
                </a:solidFill>
                <a:latin typeface="Aptos"/>
              </a:rPr>
              <a:t>Render results / عرض النتائج</a:t>
            </a:r>
            <a:endParaRPr sz="800" b="0">
              <a:solidFill>
                <a:srgbClr val="18314F"/>
              </a:solidFill>
              <a:latin typeface="Aptos"/>
            </a:endParaRPr>
          </a:p>
        </p:txBody>
      </p:sp>
      <p:sp>
        <p:nvSpPr>
          <p:cNvPr id="44" name="Text Box 43"/>
          <p:cNvSpPr txBox="1"/>
          <p:nvPr/>
        </p:nvSpPr>
        <p:spPr>
          <a:xfrm>
            <a:off x="3571240" y="5764530"/>
            <a:ext cx="4064000" cy="368300"/>
          </a:xfrm>
          <a:prstGeom prst="rect">
            <a:avLst/>
          </a:prstGeom>
          <a:noFill/>
        </p:spPr>
        <p:txBody>
          <a:bodyPr wrap="square" rtlCol="0">
            <a:spAutoFit/>
          </a:bodyPr>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p:sp>
        <p:nvSpPr>
          <p:cNvPr id="2" name="TextBox 1"/>
          <p:cNvSpPr txBox="1"/>
          <p:nvPr/>
        </p:nvSpPr>
        <p:spPr>
          <a:xfrm>
            <a:off x="411480" y="164592"/>
            <a:ext cx="11338560" cy="384048"/>
          </a:xfrm>
          <a:prstGeom prst="rect">
            <a:avLst/>
          </a:prstGeom>
          <a:noFill/>
        </p:spPr>
        <p:txBody>
          <a:bodyPr wrap="square" lIns="54864" tIns="18288" rIns="54864" bIns="18288">
            <a:spAutoFit/>
          </a:bodyPr>
          <a:lstStyle/>
          <a:p>
            <a:pPr algn="ctr"/>
            <a:r>
              <a:rPr sz="2400" b="1">
                <a:solidFill>
                  <a:srgbClr val="18314F"/>
                </a:solidFill>
                <a:latin typeface="Aptos"/>
              </a:rPr>
              <a:t>High-Level Class Diagram</a:t>
            </a:r>
            <a:endParaRPr sz="2400" b="1">
              <a:solidFill>
                <a:srgbClr val="18314F"/>
              </a:solidFill>
              <a:latin typeface="Aptos"/>
            </a:endParaRPr>
          </a:p>
        </p:txBody>
      </p:sp>
      <p:sp>
        <p:nvSpPr>
          <p:cNvPr id="3" name="TextBox 2"/>
          <p:cNvSpPr txBox="1"/>
          <p:nvPr/>
        </p:nvSpPr>
        <p:spPr>
          <a:xfrm>
            <a:off x="411480" y="539496"/>
            <a:ext cx="11338560" cy="329184"/>
          </a:xfrm>
          <a:prstGeom prst="rect">
            <a:avLst/>
          </a:prstGeom>
          <a:noFill/>
        </p:spPr>
        <p:txBody>
          <a:bodyPr wrap="square" lIns="54864" tIns="18288" rIns="54864" bIns="18288">
            <a:spAutoFit/>
          </a:bodyPr>
          <a:lstStyle/>
          <a:p>
            <a:pPr algn="ctr"/>
            <a:r>
              <a:rPr sz="1800" b="1">
                <a:solidFill>
                  <a:srgbClr val="18314F"/>
                </a:solidFill>
                <a:latin typeface="Aptos"/>
              </a:rPr>
              <a:t>مخطط الأصناف بالمستوى العالي</a:t>
            </a:r>
            <a:endParaRPr sz="1800" b="1">
              <a:solidFill>
                <a:srgbClr val="18314F"/>
              </a:solidFill>
              <a:latin typeface="Aptos"/>
            </a:endParaRPr>
          </a:p>
        </p:txBody>
      </p:sp>
      <p:sp>
        <p:nvSpPr>
          <p:cNvPr id="4" name="TextBox 3"/>
          <p:cNvSpPr txBox="1"/>
          <p:nvPr/>
        </p:nvSpPr>
        <p:spPr>
          <a:xfrm>
            <a:off x="502920" y="877824"/>
            <a:ext cx="11155680" cy="256032"/>
          </a:xfrm>
          <a:prstGeom prst="rect">
            <a:avLst/>
          </a:prstGeom>
          <a:noFill/>
        </p:spPr>
        <p:txBody>
          <a:bodyPr wrap="square" lIns="54864" tIns="18288" rIns="54864" bIns="18288">
            <a:spAutoFit/>
          </a:bodyPr>
          <a:lstStyle/>
          <a:p>
            <a:pPr algn="ctr"/>
            <a:r>
              <a:rPr sz="1000" b="0">
                <a:solidFill>
                  <a:srgbClr val="5B7084"/>
                </a:solidFill>
                <a:latin typeface="Aptos"/>
              </a:rPr>
              <a:t>Core classes for the approved scope / الأصناف الأساسية ضمن النطاق المعتمد</a:t>
            </a:r>
            <a:endParaRPr sz="1000" b="0">
              <a:solidFill>
                <a:srgbClr val="5B7084"/>
              </a:solidFill>
              <a:latin typeface="Aptos"/>
            </a:endParaRPr>
          </a:p>
        </p:txBody>
      </p:sp>
      <p:sp>
        <p:nvSpPr>
          <p:cNvPr id="5" name="Rectangle 4"/>
          <p:cNvSpPr/>
          <p:nvPr/>
        </p:nvSpPr>
        <p:spPr>
          <a:xfrm>
            <a:off x="502920" y="1170432"/>
            <a:ext cx="11155680" cy="22860"/>
          </a:xfrm>
          <a:prstGeom prst="rect">
            <a:avLst/>
          </a:prstGeom>
          <a:solidFill>
            <a:srgbClr val="E2EDF5"/>
          </a:solidFill>
          <a:ln>
            <a:solidFill>
              <a:srgbClr val="0091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6528816"/>
            <a:ext cx="11521440" cy="164592"/>
          </a:xfrm>
          <a:prstGeom prst="rect">
            <a:avLst/>
          </a:prstGeom>
          <a:noFill/>
        </p:spPr>
        <p:txBody>
          <a:bodyPr wrap="square" lIns="54864" tIns="18288" rIns="54864" bIns="18288">
            <a:spAutoFit/>
          </a:bodyPr>
          <a:lstStyle/>
          <a:p>
            <a:pPr algn="ctr"/>
            <a:r>
              <a:rPr sz="800" b="0">
                <a:solidFill>
                  <a:srgbClr val="18314F"/>
                </a:solidFill>
                <a:latin typeface="Aptos"/>
              </a:rPr>
              <a:t>Car Rental Platform  |  مخططات المشروع  •  18</a:t>
            </a:r>
            <a:endParaRPr sz="800" b="0">
              <a:solidFill>
                <a:srgbClr val="18314F"/>
              </a:solidFill>
              <a:latin typeface="Aptos"/>
            </a:endParaRPr>
          </a:p>
        </p:txBody>
      </p:sp>
      <p:sp>
        <p:nvSpPr>
          <p:cNvPr id="7" name="Rectangle 6"/>
          <p:cNvSpPr/>
          <p:nvPr/>
        </p:nvSpPr>
        <p:spPr>
          <a:xfrm>
            <a:off x="411480" y="1572768"/>
            <a:ext cx="2240280" cy="1298448"/>
          </a:xfrm>
          <a:prstGeom prst="rect">
            <a:avLst/>
          </a:prstGeom>
          <a:solidFill>
            <a:srgbClr val="FFFFFF"/>
          </a:solidFill>
          <a:ln w="15240">
            <a:solidFill>
              <a:srgbClr val="0091A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18314F"/>
                </a:solidFill>
              </a:rPr>
              <a:t>User / المستخدم</a:t>
            </a:r>
            <a:endParaRPr sz="1200" b="1">
              <a:solidFill>
                <a:srgbClr val="18314F"/>
              </a:solidFill>
            </a:endParaRPr>
          </a:p>
          <a:p>
            <a:pPr algn="l"/>
            <a:r>
              <a:rPr sz="900">
                <a:solidFill>
                  <a:srgbClr val="18314F"/>
                </a:solidFill>
              </a:rPr>
              <a:t>id: UUID
name, email
password_hash, role
is_active</a:t>
            </a:r>
            <a:endParaRPr sz="900">
              <a:solidFill>
                <a:srgbClr val="18314F"/>
              </a:solidFill>
            </a:endParaRPr>
          </a:p>
        </p:txBody>
      </p:sp>
      <p:sp>
        <p:nvSpPr>
          <p:cNvPr id="8" name="Rectangle 7"/>
          <p:cNvSpPr/>
          <p:nvPr/>
        </p:nvSpPr>
        <p:spPr>
          <a:xfrm>
            <a:off x="2971800" y="1572768"/>
            <a:ext cx="2331720" cy="1298448"/>
          </a:xfrm>
          <a:prstGeom prst="rect">
            <a:avLst/>
          </a:prstGeom>
          <a:solidFill>
            <a:srgbClr val="FFFFFF"/>
          </a:solidFill>
          <a:ln w="15240">
            <a:solidFill>
              <a:srgbClr val="0091A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18314F"/>
                </a:solidFill>
              </a:rPr>
              <a:t>Office / المكتب</a:t>
            </a:r>
            <a:endParaRPr sz="1200" b="1">
              <a:solidFill>
                <a:srgbClr val="18314F"/>
              </a:solidFill>
            </a:endParaRPr>
          </a:p>
          <a:p>
            <a:pPr algn="l"/>
            <a:r>
              <a:rPr sz="900">
                <a:solidFill>
                  <a:srgbClr val="18314F"/>
                </a:solidFill>
              </a:rPr>
              <a:t>id: UUID
owner_id: FK
name, location, logo_url
status, created_at</a:t>
            </a:r>
            <a:endParaRPr sz="900">
              <a:solidFill>
                <a:srgbClr val="18314F"/>
              </a:solidFill>
            </a:endParaRPr>
          </a:p>
        </p:txBody>
      </p:sp>
      <p:sp>
        <p:nvSpPr>
          <p:cNvPr id="9" name="Rectangle 8"/>
          <p:cNvSpPr/>
          <p:nvPr/>
        </p:nvSpPr>
        <p:spPr>
          <a:xfrm>
            <a:off x="5623560" y="1572768"/>
            <a:ext cx="2331720" cy="1298448"/>
          </a:xfrm>
          <a:prstGeom prst="rect">
            <a:avLst/>
          </a:prstGeom>
          <a:solidFill>
            <a:srgbClr val="FFFFFF"/>
          </a:solidFill>
          <a:ln w="15240">
            <a:solidFill>
              <a:srgbClr val="0091A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18314F"/>
                </a:solidFill>
              </a:rPr>
              <a:t>Car / السيارة</a:t>
            </a:r>
            <a:endParaRPr sz="1200" b="1">
              <a:solidFill>
                <a:srgbClr val="18314F"/>
              </a:solidFill>
            </a:endParaRPr>
          </a:p>
          <a:p>
            <a:pPr algn="l"/>
            <a:r>
              <a:rPr sz="900">
                <a:solidFill>
                  <a:srgbClr val="18314F"/>
                </a:solidFill>
              </a:rPr>
              <a:t>id: UUID
office_id: FK
brand, model, year, price
fuel_type, condition, status</a:t>
            </a:r>
            <a:endParaRPr sz="900">
              <a:solidFill>
                <a:srgbClr val="18314F"/>
              </a:solidFill>
            </a:endParaRPr>
          </a:p>
        </p:txBody>
      </p:sp>
      <p:sp>
        <p:nvSpPr>
          <p:cNvPr id="10" name="Rectangle 9"/>
          <p:cNvSpPr/>
          <p:nvPr/>
        </p:nvSpPr>
        <p:spPr>
          <a:xfrm>
            <a:off x="8275320" y="1572768"/>
            <a:ext cx="2331720" cy="1298448"/>
          </a:xfrm>
          <a:prstGeom prst="rect">
            <a:avLst/>
          </a:prstGeom>
          <a:solidFill>
            <a:srgbClr val="FFFFFF"/>
          </a:solidFill>
          <a:ln w="15240">
            <a:solidFill>
              <a:srgbClr val="0091A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18314F"/>
                </a:solidFill>
              </a:rPr>
              <a:t>CarImage / صورة السيارة</a:t>
            </a:r>
            <a:endParaRPr sz="1200" b="1">
              <a:solidFill>
                <a:srgbClr val="18314F"/>
              </a:solidFill>
            </a:endParaRPr>
          </a:p>
          <a:p>
            <a:pPr algn="l"/>
            <a:r>
              <a:rPr sz="900">
                <a:solidFill>
                  <a:srgbClr val="18314F"/>
                </a:solidFill>
              </a:rPr>
              <a:t>id: UUID
car_id: FK
image_url, is_main</a:t>
            </a:r>
            <a:endParaRPr sz="900">
              <a:solidFill>
                <a:srgbClr val="18314F"/>
              </a:solidFill>
            </a:endParaRPr>
          </a:p>
        </p:txBody>
      </p:sp>
      <p:sp>
        <p:nvSpPr>
          <p:cNvPr id="11" name="Rectangle 10"/>
          <p:cNvSpPr/>
          <p:nvPr/>
        </p:nvSpPr>
        <p:spPr>
          <a:xfrm>
            <a:off x="4069080" y="3977639"/>
            <a:ext cx="2834640" cy="1298448"/>
          </a:xfrm>
          <a:prstGeom prst="rect">
            <a:avLst/>
          </a:prstGeom>
          <a:solidFill>
            <a:srgbClr val="FFFFFF"/>
          </a:solidFill>
          <a:ln w="15240">
            <a:solidFill>
              <a:srgbClr val="0091A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18314F"/>
                </a:solidFill>
              </a:rPr>
              <a:t>Notification / الإشعار</a:t>
            </a:r>
            <a:endParaRPr sz="1200" b="1">
              <a:solidFill>
                <a:srgbClr val="18314F"/>
              </a:solidFill>
            </a:endParaRPr>
          </a:p>
          <a:p>
            <a:pPr algn="l"/>
            <a:r>
              <a:rPr sz="900">
                <a:solidFill>
                  <a:srgbClr val="18314F"/>
                </a:solidFill>
              </a:rPr>
              <a:t>id: UUID
user_id: FK
message, is_read
related_entity, created_at</a:t>
            </a:r>
            <a:endParaRPr sz="900">
              <a:solidFill>
                <a:srgbClr val="18314F"/>
              </a:solidFill>
            </a:endParaRPr>
          </a:p>
        </p:txBody>
      </p:sp>
      <p:cxnSp>
        <p:nvCxnSpPr>
          <p:cNvPr id="12" name="Connector 11"/>
          <p:cNvCxnSpPr/>
          <p:nvPr/>
        </p:nvCxnSpPr>
        <p:spPr>
          <a:xfrm>
            <a:off x="2651760" y="2194560"/>
            <a:ext cx="320040" cy="0"/>
          </a:xfrm>
          <a:prstGeom prst="line">
            <a:avLst/>
          </a:prstGeom>
          <a:ln w="19050">
            <a:solidFill>
              <a:srgbClr val="0091A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578608" y="1938528"/>
            <a:ext cx="457200" cy="182880"/>
          </a:xfrm>
          <a:prstGeom prst="rect">
            <a:avLst/>
          </a:prstGeom>
          <a:noFill/>
        </p:spPr>
        <p:txBody>
          <a:bodyPr wrap="square" lIns="54864" tIns="18288" rIns="54864" bIns="18288">
            <a:spAutoFit/>
          </a:bodyPr>
          <a:lstStyle/>
          <a:p>
            <a:pPr algn="ctr"/>
            <a:r>
              <a:rPr sz="800" b="1">
                <a:solidFill>
                  <a:srgbClr val="18314F"/>
                </a:solidFill>
                <a:latin typeface="Aptos"/>
              </a:rPr>
              <a:t>1:1</a:t>
            </a:r>
            <a:endParaRPr sz="800" b="1">
              <a:solidFill>
                <a:srgbClr val="18314F"/>
              </a:solidFill>
              <a:latin typeface="Aptos"/>
            </a:endParaRPr>
          </a:p>
        </p:txBody>
      </p:sp>
      <p:cxnSp>
        <p:nvCxnSpPr>
          <p:cNvPr id="14" name="Connector 13"/>
          <p:cNvCxnSpPr/>
          <p:nvPr/>
        </p:nvCxnSpPr>
        <p:spPr>
          <a:xfrm>
            <a:off x="5303520" y="2194560"/>
            <a:ext cx="320040" cy="0"/>
          </a:xfrm>
          <a:prstGeom prst="line">
            <a:avLst/>
          </a:prstGeom>
          <a:ln w="19050">
            <a:solidFill>
              <a:srgbClr val="0091A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257800" y="1938528"/>
            <a:ext cx="457200" cy="182880"/>
          </a:xfrm>
          <a:prstGeom prst="rect">
            <a:avLst/>
          </a:prstGeom>
          <a:noFill/>
        </p:spPr>
        <p:txBody>
          <a:bodyPr wrap="square" lIns="54864" tIns="18288" rIns="54864" bIns="18288">
            <a:spAutoFit/>
          </a:bodyPr>
          <a:lstStyle/>
          <a:p>
            <a:pPr algn="ctr"/>
            <a:r>
              <a:rPr sz="800" b="1">
                <a:solidFill>
                  <a:srgbClr val="18314F"/>
                </a:solidFill>
                <a:latin typeface="Aptos"/>
              </a:rPr>
              <a:t>1:N</a:t>
            </a:r>
            <a:endParaRPr sz="800" b="1">
              <a:solidFill>
                <a:srgbClr val="18314F"/>
              </a:solidFill>
              <a:latin typeface="Aptos"/>
            </a:endParaRPr>
          </a:p>
        </p:txBody>
      </p:sp>
      <p:cxnSp>
        <p:nvCxnSpPr>
          <p:cNvPr id="16" name="Connector 15"/>
          <p:cNvCxnSpPr/>
          <p:nvPr/>
        </p:nvCxnSpPr>
        <p:spPr>
          <a:xfrm>
            <a:off x="7955279" y="2194560"/>
            <a:ext cx="320041" cy="0"/>
          </a:xfrm>
          <a:prstGeom prst="line">
            <a:avLst/>
          </a:prstGeom>
          <a:ln w="19050">
            <a:solidFill>
              <a:srgbClr val="0091A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927848" y="1938528"/>
            <a:ext cx="457200" cy="182880"/>
          </a:xfrm>
          <a:prstGeom prst="rect">
            <a:avLst/>
          </a:prstGeom>
          <a:noFill/>
        </p:spPr>
        <p:txBody>
          <a:bodyPr wrap="square" lIns="54864" tIns="18288" rIns="54864" bIns="18288">
            <a:spAutoFit/>
          </a:bodyPr>
          <a:lstStyle/>
          <a:p>
            <a:pPr algn="ctr"/>
            <a:r>
              <a:rPr sz="800" b="1">
                <a:solidFill>
                  <a:srgbClr val="18314F"/>
                </a:solidFill>
                <a:latin typeface="Aptos"/>
              </a:rPr>
              <a:t>1:N</a:t>
            </a:r>
            <a:endParaRPr sz="800" b="1">
              <a:solidFill>
                <a:srgbClr val="18314F"/>
              </a:solidFill>
              <a:latin typeface="Aptos"/>
            </a:endParaRPr>
          </a:p>
        </p:txBody>
      </p:sp>
      <p:cxnSp>
        <p:nvCxnSpPr>
          <p:cNvPr id="18" name="Connector 17"/>
          <p:cNvCxnSpPr/>
          <p:nvPr/>
        </p:nvCxnSpPr>
        <p:spPr>
          <a:xfrm>
            <a:off x="1508760" y="2871216"/>
            <a:ext cx="0" cy="466344"/>
          </a:xfrm>
          <a:prstGeom prst="line">
            <a:avLst/>
          </a:prstGeom>
          <a:ln w="15240">
            <a:solidFill>
              <a:srgbClr val="0091A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508760" y="3337560"/>
            <a:ext cx="3063240" cy="0"/>
          </a:xfrm>
          <a:prstGeom prst="line">
            <a:avLst/>
          </a:prstGeom>
          <a:ln w="15240">
            <a:solidFill>
              <a:srgbClr val="0091A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572000" y="3337560"/>
            <a:ext cx="0" cy="640079"/>
          </a:xfrm>
          <a:prstGeom prst="line">
            <a:avLst/>
          </a:prstGeom>
          <a:ln w="15240">
            <a:solidFill>
              <a:srgbClr val="0091A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240280" y="3108960"/>
            <a:ext cx="1920240" cy="182880"/>
          </a:xfrm>
          <a:prstGeom prst="rect">
            <a:avLst/>
          </a:prstGeom>
          <a:noFill/>
        </p:spPr>
        <p:txBody>
          <a:bodyPr wrap="square" lIns="54864" tIns="18288" rIns="54864" bIns="18288">
            <a:spAutoFit/>
          </a:bodyPr>
          <a:lstStyle/>
          <a:p>
            <a:pPr algn="ctr"/>
            <a:r>
              <a:rPr sz="800" b="1">
                <a:solidFill>
                  <a:srgbClr val="18314F"/>
                </a:solidFill>
                <a:latin typeface="Aptos"/>
              </a:rPr>
              <a:t>User → notifications / المستخدم والإشعارات</a:t>
            </a:r>
            <a:endParaRPr sz="800" b="1">
              <a:solidFill>
                <a:srgbClr val="18314F"/>
              </a:solidFill>
              <a:latin typeface="Aptos"/>
            </a:endParaRPr>
          </a:p>
        </p:txBody>
      </p:sp>
      <p:sp>
        <p:nvSpPr>
          <p:cNvPr id="22" name="TextBox 21"/>
          <p:cNvSpPr txBox="1"/>
          <p:nvPr/>
        </p:nvSpPr>
        <p:spPr>
          <a:xfrm>
            <a:off x="7406640" y="3886200"/>
            <a:ext cx="3886200" cy="1051560"/>
          </a:xfrm>
          <a:prstGeom prst="rect">
            <a:avLst/>
          </a:prstGeom>
          <a:noFill/>
        </p:spPr>
        <p:txBody>
          <a:bodyPr wrap="square" lIns="54864" tIns="18288" rIns="54864" bIns="18288">
            <a:spAutoFit/>
          </a:bodyPr>
          <a:lstStyle/>
          <a:p>
            <a:pPr algn="l"/>
            <a:r>
              <a:rPr sz="900" b="0">
                <a:solidFill>
                  <a:srgbClr val="18314F"/>
                </a:solidFill>
                <a:latin typeface="Aptos"/>
              </a:rPr>
              <a:t>Scope consistency / توحيد النطاق:
Booking endpoints and model still exist in the supplied ZIP. They are excluded here per your instruction; remove them from the code if requests are excluded from the final project.
لا يزال نموذج الطلبات ومساراته موجودًا في ملف الكود؛ استُبعدت هنا حسب توجيهك، ويجب حذفها من الكود إذا كانت الطلبات خارج النطاق النهائي.</a:t>
            </a:r>
            <a:endParaRPr sz="900" b="0">
              <a:solidFill>
                <a:srgbClr val="18314F"/>
              </a:solidFill>
              <a:latin typeface="Apto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p:sp>
        <p:nvSpPr>
          <p:cNvPr id="2" name="TextBox 1"/>
          <p:cNvSpPr txBox="1"/>
          <p:nvPr/>
        </p:nvSpPr>
        <p:spPr>
          <a:xfrm>
            <a:off x="411480" y="164592"/>
            <a:ext cx="11338560" cy="384048"/>
          </a:xfrm>
          <a:prstGeom prst="rect">
            <a:avLst/>
          </a:prstGeom>
          <a:noFill/>
        </p:spPr>
        <p:txBody>
          <a:bodyPr wrap="square" lIns="54864" tIns="18288" rIns="54864" bIns="18288">
            <a:spAutoFit/>
          </a:bodyPr>
          <a:lstStyle/>
          <a:p>
            <a:pPr algn="ctr"/>
            <a:r>
              <a:rPr sz="2400" b="1">
                <a:solidFill>
                  <a:srgbClr val="18314F"/>
                </a:solidFill>
                <a:latin typeface="Aptos"/>
              </a:rPr>
              <a:t>High-Level Entity Relationship Diagram (ERD)</a:t>
            </a:r>
            <a:endParaRPr sz="2400" b="1">
              <a:solidFill>
                <a:srgbClr val="18314F"/>
              </a:solidFill>
              <a:latin typeface="Aptos"/>
            </a:endParaRPr>
          </a:p>
        </p:txBody>
      </p:sp>
      <p:sp>
        <p:nvSpPr>
          <p:cNvPr id="3" name="TextBox 2"/>
          <p:cNvSpPr txBox="1"/>
          <p:nvPr/>
        </p:nvSpPr>
        <p:spPr>
          <a:xfrm>
            <a:off x="411480" y="539496"/>
            <a:ext cx="11338560" cy="329184"/>
          </a:xfrm>
          <a:prstGeom prst="rect">
            <a:avLst/>
          </a:prstGeom>
          <a:noFill/>
        </p:spPr>
        <p:txBody>
          <a:bodyPr wrap="square" lIns="54864" tIns="18288" rIns="54864" bIns="18288">
            <a:spAutoFit/>
          </a:bodyPr>
          <a:lstStyle/>
          <a:p>
            <a:pPr algn="ctr"/>
            <a:r>
              <a:rPr sz="1800" b="1">
                <a:solidFill>
                  <a:srgbClr val="18314F"/>
                </a:solidFill>
                <a:latin typeface="Aptos"/>
              </a:rPr>
              <a:t>مخطط الكيانات والعلاقات بالمستوى العالي</a:t>
            </a:r>
            <a:endParaRPr sz="1800" b="1">
              <a:solidFill>
                <a:srgbClr val="18314F"/>
              </a:solidFill>
              <a:latin typeface="Aptos"/>
            </a:endParaRPr>
          </a:p>
        </p:txBody>
      </p:sp>
      <p:sp>
        <p:nvSpPr>
          <p:cNvPr id="4" name="TextBox 3"/>
          <p:cNvSpPr txBox="1"/>
          <p:nvPr/>
        </p:nvSpPr>
        <p:spPr>
          <a:xfrm>
            <a:off x="502920" y="877824"/>
            <a:ext cx="11155680" cy="256032"/>
          </a:xfrm>
          <a:prstGeom prst="rect">
            <a:avLst/>
          </a:prstGeom>
          <a:noFill/>
        </p:spPr>
        <p:txBody>
          <a:bodyPr wrap="square" lIns="54864" tIns="18288" rIns="54864" bIns="18288">
            <a:spAutoFit/>
          </a:bodyPr>
          <a:lstStyle/>
          <a:p>
            <a:pPr algn="ctr"/>
            <a:r>
              <a:rPr sz="1000" b="0">
                <a:solidFill>
                  <a:srgbClr val="5B7084"/>
                </a:solidFill>
                <a:latin typeface="Aptos"/>
              </a:rPr>
              <a:t>PK = Primary Key / مفتاح أساسي • FK = Foreign Key / مفتاح أجنبي</a:t>
            </a:r>
            <a:endParaRPr sz="1000" b="0">
              <a:solidFill>
                <a:srgbClr val="5B7084"/>
              </a:solidFill>
              <a:latin typeface="Aptos"/>
            </a:endParaRPr>
          </a:p>
        </p:txBody>
      </p:sp>
      <p:sp>
        <p:nvSpPr>
          <p:cNvPr id="5" name="Rectangle 4"/>
          <p:cNvSpPr/>
          <p:nvPr/>
        </p:nvSpPr>
        <p:spPr>
          <a:xfrm>
            <a:off x="502920" y="1170432"/>
            <a:ext cx="11155680" cy="22860"/>
          </a:xfrm>
          <a:prstGeom prst="rect">
            <a:avLst/>
          </a:prstGeom>
          <a:solidFill>
            <a:srgbClr val="E2EDF5"/>
          </a:solidFill>
          <a:ln>
            <a:solidFill>
              <a:srgbClr val="0091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6528816"/>
            <a:ext cx="11521440" cy="164592"/>
          </a:xfrm>
          <a:prstGeom prst="rect">
            <a:avLst/>
          </a:prstGeom>
          <a:noFill/>
        </p:spPr>
        <p:txBody>
          <a:bodyPr wrap="square" lIns="54864" tIns="18288" rIns="54864" bIns="18288">
            <a:spAutoFit/>
          </a:bodyPr>
          <a:lstStyle/>
          <a:p>
            <a:pPr algn="ctr"/>
            <a:r>
              <a:rPr sz="800" b="0">
                <a:solidFill>
                  <a:srgbClr val="18314F"/>
                </a:solidFill>
                <a:latin typeface="Aptos"/>
              </a:rPr>
              <a:t>Car Rental Platform  |  مخططات المشروع  •  19</a:t>
            </a:r>
            <a:endParaRPr sz="800" b="0">
              <a:solidFill>
                <a:srgbClr val="18314F"/>
              </a:solidFill>
              <a:latin typeface="Aptos"/>
            </a:endParaRPr>
          </a:p>
        </p:txBody>
      </p:sp>
      <p:sp>
        <p:nvSpPr>
          <p:cNvPr id="7" name="Rounded Rectangle 6"/>
          <p:cNvSpPr/>
          <p:nvPr/>
        </p:nvSpPr>
        <p:spPr>
          <a:xfrm>
            <a:off x="502920" y="1645920"/>
            <a:ext cx="2240280" cy="1417320"/>
          </a:xfrm>
          <a:prstGeom prst="roundRect">
            <a:avLst/>
          </a:prstGeom>
          <a:solidFill>
            <a:srgbClr val="FFFFFF"/>
          </a:solidFill>
          <a:ln w="20320">
            <a:solidFill>
              <a:srgbClr val="0091A0"/>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100" b="1">
                <a:solidFill>
                  <a:srgbClr val="18314F"/>
                </a:solidFill>
              </a:rPr>
              <a:t>USERS / المستخدمون</a:t>
            </a:r>
            <a:endParaRPr sz="1100" b="1">
              <a:solidFill>
                <a:srgbClr val="18314F"/>
              </a:solidFill>
            </a:endParaRPr>
          </a:p>
          <a:p>
            <a:pPr algn="l"/>
            <a:r>
              <a:rPr sz="900">
                <a:solidFill>
                  <a:srgbClr val="18314F"/>
                </a:solidFill>
              </a:rPr>
              <a:t>PK id
name, email (unique)
password_hash, role
is_active, created_at</a:t>
            </a:r>
            <a:endParaRPr sz="900">
              <a:solidFill>
                <a:srgbClr val="18314F"/>
              </a:solidFill>
            </a:endParaRPr>
          </a:p>
        </p:txBody>
      </p:sp>
      <p:sp>
        <p:nvSpPr>
          <p:cNvPr id="8" name="Rounded Rectangle 7"/>
          <p:cNvSpPr/>
          <p:nvPr/>
        </p:nvSpPr>
        <p:spPr>
          <a:xfrm>
            <a:off x="3154680" y="1645920"/>
            <a:ext cx="2240280" cy="1417320"/>
          </a:xfrm>
          <a:prstGeom prst="roundRect">
            <a:avLst/>
          </a:prstGeom>
          <a:solidFill>
            <a:srgbClr val="FFFFFF"/>
          </a:solidFill>
          <a:ln w="20320">
            <a:solidFill>
              <a:srgbClr val="0091A0"/>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100" b="1">
                <a:solidFill>
                  <a:srgbClr val="18314F"/>
                </a:solidFill>
              </a:rPr>
              <a:t>OFFICES / المكاتب</a:t>
            </a:r>
            <a:endParaRPr sz="1100" b="1">
              <a:solidFill>
                <a:srgbClr val="18314F"/>
              </a:solidFill>
            </a:endParaRPr>
          </a:p>
          <a:p>
            <a:pPr algn="l"/>
            <a:r>
              <a:rPr sz="900">
                <a:solidFill>
                  <a:srgbClr val="18314F"/>
                </a:solidFill>
              </a:rPr>
              <a:t>PK id
FK owner_id → users.id
name, location, logo_url
status, created_at</a:t>
            </a:r>
            <a:endParaRPr sz="900">
              <a:solidFill>
                <a:srgbClr val="18314F"/>
              </a:solidFill>
            </a:endParaRPr>
          </a:p>
        </p:txBody>
      </p:sp>
      <p:sp>
        <p:nvSpPr>
          <p:cNvPr id="9" name="Rounded Rectangle 8"/>
          <p:cNvSpPr/>
          <p:nvPr/>
        </p:nvSpPr>
        <p:spPr>
          <a:xfrm>
            <a:off x="5806440" y="1645920"/>
            <a:ext cx="2240280" cy="1417320"/>
          </a:xfrm>
          <a:prstGeom prst="roundRect">
            <a:avLst/>
          </a:prstGeom>
          <a:solidFill>
            <a:srgbClr val="FFFFFF"/>
          </a:solidFill>
          <a:ln w="20320">
            <a:solidFill>
              <a:srgbClr val="0091A0"/>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100" b="1">
                <a:solidFill>
                  <a:srgbClr val="18314F"/>
                </a:solidFill>
              </a:rPr>
              <a:t>CARS / السيارات</a:t>
            </a:r>
            <a:endParaRPr sz="1100" b="1">
              <a:solidFill>
                <a:srgbClr val="18314F"/>
              </a:solidFill>
            </a:endParaRPr>
          </a:p>
          <a:p>
            <a:pPr algn="l"/>
            <a:r>
              <a:rPr sz="900">
                <a:solidFill>
                  <a:srgbClr val="18314F"/>
                </a:solidFill>
              </a:rPr>
              <a:t>PK id
FK office_id → offices.id
brand, model, year, price
fuel_type, condition, status</a:t>
            </a:r>
            <a:endParaRPr sz="900">
              <a:solidFill>
                <a:srgbClr val="18314F"/>
              </a:solidFill>
            </a:endParaRPr>
          </a:p>
        </p:txBody>
      </p:sp>
      <p:sp>
        <p:nvSpPr>
          <p:cNvPr id="10" name="Rounded Rectangle 9"/>
          <p:cNvSpPr/>
          <p:nvPr/>
        </p:nvSpPr>
        <p:spPr>
          <a:xfrm>
            <a:off x="8458200" y="1645920"/>
            <a:ext cx="2514600" cy="1417320"/>
          </a:xfrm>
          <a:prstGeom prst="roundRect">
            <a:avLst/>
          </a:prstGeom>
          <a:solidFill>
            <a:srgbClr val="FFFFFF"/>
          </a:solidFill>
          <a:ln w="20320">
            <a:solidFill>
              <a:srgbClr val="0091A0"/>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100" b="1">
                <a:solidFill>
                  <a:srgbClr val="18314F"/>
                </a:solidFill>
              </a:rPr>
              <a:t>CAR_IMAGES / صور السيارات</a:t>
            </a:r>
            <a:endParaRPr sz="1100" b="1">
              <a:solidFill>
                <a:srgbClr val="18314F"/>
              </a:solidFill>
            </a:endParaRPr>
          </a:p>
          <a:p>
            <a:pPr algn="l"/>
            <a:r>
              <a:rPr sz="900">
                <a:solidFill>
                  <a:srgbClr val="18314F"/>
                </a:solidFill>
              </a:rPr>
              <a:t>PK id
FK car_id → cars.id
image_url, is_main</a:t>
            </a:r>
            <a:endParaRPr sz="900">
              <a:solidFill>
                <a:srgbClr val="18314F"/>
              </a:solidFill>
            </a:endParaRPr>
          </a:p>
        </p:txBody>
      </p:sp>
      <p:sp>
        <p:nvSpPr>
          <p:cNvPr id="11" name="Rounded Rectangle 10"/>
          <p:cNvSpPr/>
          <p:nvPr/>
        </p:nvSpPr>
        <p:spPr>
          <a:xfrm>
            <a:off x="4160520" y="4251960"/>
            <a:ext cx="2788920" cy="1325880"/>
          </a:xfrm>
          <a:prstGeom prst="roundRect">
            <a:avLst/>
          </a:prstGeom>
          <a:solidFill>
            <a:srgbClr val="FFFFFF"/>
          </a:solidFill>
          <a:ln w="20320">
            <a:solidFill>
              <a:srgbClr val="0091A0"/>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100" b="1">
                <a:solidFill>
                  <a:srgbClr val="18314F"/>
                </a:solidFill>
              </a:rPr>
              <a:t>NOTIFICATIONS / الإشعارات</a:t>
            </a:r>
            <a:endParaRPr sz="1100" b="1">
              <a:solidFill>
                <a:srgbClr val="18314F"/>
              </a:solidFill>
            </a:endParaRPr>
          </a:p>
          <a:p>
            <a:pPr algn="l"/>
            <a:r>
              <a:rPr sz="900">
                <a:solidFill>
                  <a:srgbClr val="18314F"/>
                </a:solidFill>
              </a:rPr>
              <a:t>PK id
FK user_id → users.id
message, is_read
related_entity_type/id, created_at</a:t>
            </a:r>
            <a:endParaRPr sz="900">
              <a:solidFill>
                <a:srgbClr val="18314F"/>
              </a:solidFill>
            </a:endParaRPr>
          </a:p>
        </p:txBody>
      </p:sp>
      <p:cxnSp>
        <p:nvCxnSpPr>
          <p:cNvPr id="12" name="Connector 11"/>
          <p:cNvCxnSpPr/>
          <p:nvPr/>
        </p:nvCxnSpPr>
        <p:spPr>
          <a:xfrm>
            <a:off x="2743200" y="2331720"/>
            <a:ext cx="411480" cy="0"/>
          </a:xfrm>
          <a:prstGeom prst="line">
            <a:avLst/>
          </a:prstGeom>
          <a:ln w="19050">
            <a:solidFill>
              <a:srgbClr val="0091A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677160" y="2084831"/>
            <a:ext cx="502920" cy="182880"/>
          </a:xfrm>
          <a:prstGeom prst="rect">
            <a:avLst/>
          </a:prstGeom>
          <a:noFill/>
        </p:spPr>
        <p:txBody>
          <a:bodyPr wrap="square" lIns="54864" tIns="18288" rIns="54864" bIns="18288">
            <a:spAutoFit/>
          </a:bodyPr>
          <a:lstStyle/>
          <a:p>
            <a:pPr algn="ctr"/>
            <a:r>
              <a:rPr sz="800" b="1">
                <a:solidFill>
                  <a:srgbClr val="18314F"/>
                </a:solidFill>
                <a:latin typeface="Aptos"/>
              </a:rPr>
              <a:t>1:1</a:t>
            </a:r>
            <a:endParaRPr sz="800" b="1">
              <a:solidFill>
                <a:srgbClr val="18314F"/>
              </a:solidFill>
              <a:latin typeface="Aptos"/>
            </a:endParaRPr>
          </a:p>
        </p:txBody>
      </p:sp>
      <p:cxnSp>
        <p:nvCxnSpPr>
          <p:cNvPr id="14" name="Connector 13"/>
          <p:cNvCxnSpPr/>
          <p:nvPr/>
        </p:nvCxnSpPr>
        <p:spPr>
          <a:xfrm>
            <a:off x="5394960" y="2331720"/>
            <a:ext cx="411480" cy="0"/>
          </a:xfrm>
          <a:prstGeom prst="line">
            <a:avLst/>
          </a:prstGeom>
          <a:ln w="19050">
            <a:solidFill>
              <a:srgbClr val="0091A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376672" y="2084831"/>
            <a:ext cx="502920" cy="182880"/>
          </a:xfrm>
          <a:prstGeom prst="rect">
            <a:avLst/>
          </a:prstGeom>
          <a:noFill/>
        </p:spPr>
        <p:txBody>
          <a:bodyPr wrap="square" lIns="54864" tIns="18288" rIns="54864" bIns="18288">
            <a:spAutoFit/>
          </a:bodyPr>
          <a:lstStyle/>
          <a:p>
            <a:pPr algn="ctr"/>
            <a:r>
              <a:rPr sz="800" b="1">
                <a:solidFill>
                  <a:srgbClr val="18314F"/>
                </a:solidFill>
                <a:latin typeface="Aptos"/>
              </a:rPr>
              <a:t>1:N</a:t>
            </a:r>
            <a:endParaRPr sz="800" b="1">
              <a:solidFill>
                <a:srgbClr val="18314F"/>
              </a:solidFill>
              <a:latin typeface="Aptos"/>
            </a:endParaRPr>
          </a:p>
        </p:txBody>
      </p:sp>
      <p:cxnSp>
        <p:nvCxnSpPr>
          <p:cNvPr id="16" name="Connector 15"/>
          <p:cNvCxnSpPr/>
          <p:nvPr/>
        </p:nvCxnSpPr>
        <p:spPr>
          <a:xfrm>
            <a:off x="8046720" y="2331720"/>
            <a:ext cx="411480" cy="0"/>
          </a:xfrm>
          <a:prstGeom prst="line">
            <a:avLst/>
          </a:prstGeom>
          <a:ln w="19050">
            <a:solidFill>
              <a:srgbClr val="0091A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019288" y="2084831"/>
            <a:ext cx="502920" cy="182880"/>
          </a:xfrm>
          <a:prstGeom prst="rect">
            <a:avLst/>
          </a:prstGeom>
          <a:noFill/>
        </p:spPr>
        <p:txBody>
          <a:bodyPr wrap="square" lIns="54864" tIns="18288" rIns="54864" bIns="18288">
            <a:spAutoFit/>
          </a:bodyPr>
          <a:lstStyle/>
          <a:p>
            <a:pPr algn="ctr"/>
            <a:r>
              <a:rPr sz="800" b="1">
                <a:solidFill>
                  <a:srgbClr val="18314F"/>
                </a:solidFill>
                <a:latin typeface="Aptos"/>
              </a:rPr>
              <a:t>1:N</a:t>
            </a:r>
            <a:endParaRPr sz="800" b="1">
              <a:solidFill>
                <a:srgbClr val="18314F"/>
              </a:solidFill>
              <a:latin typeface="Aptos"/>
            </a:endParaRPr>
          </a:p>
        </p:txBody>
      </p:sp>
      <p:cxnSp>
        <p:nvCxnSpPr>
          <p:cNvPr id="18" name="Connector 17"/>
          <p:cNvCxnSpPr/>
          <p:nvPr/>
        </p:nvCxnSpPr>
        <p:spPr>
          <a:xfrm>
            <a:off x="1600200" y="3063240"/>
            <a:ext cx="0" cy="548640"/>
          </a:xfrm>
          <a:prstGeom prst="line">
            <a:avLst/>
          </a:prstGeom>
          <a:ln w="15240">
            <a:solidFill>
              <a:srgbClr val="0091A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600200" y="3611880"/>
            <a:ext cx="3886200" cy="0"/>
          </a:xfrm>
          <a:prstGeom prst="line">
            <a:avLst/>
          </a:prstGeom>
          <a:ln w="15240">
            <a:solidFill>
              <a:srgbClr val="0091A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486400" y="3611880"/>
            <a:ext cx="0" cy="640080"/>
          </a:xfrm>
          <a:prstGeom prst="line">
            <a:avLst/>
          </a:prstGeom>
          <a:ln w="15240">
            <a:solidFill>
              <a:srgbClr val="0091A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02920" y="5806440"/>
            <a:ext cx="11064240" cy="438912"/>
          </a:xfrm>
          <a:prstGeom prst="rect">
            <a:avLst/>
          </a:prstGeom>
          <a:noFill/>
        </p:spPr>
        <p:txBody>
          <a:bodyPr wrap="square" lIns="54864" tIns="18288" rIns="54864" bIns="18288">
            <a:spAutoFit/>
          </a:bodyPr>
          <a:lstStyle/>
          <a:p>
            <a:pPr algn="ctr"/>
            <a:r>
              <a:rPr sz="900" b="0">
                <a:solidFill>
                  <a:srgbClr val="18314F"/>
                </a:solidFill>
                <a:latin typeface="Aptos"/>
              </a:rPr>
              <a:t>Scope consistency / توحيد النطاق: the supplied code still contains a bookings table/model; it is excluded from this ERD per your instruction and should also be removed from code if not required.
الكود المرفق لا يزال يحتوي على جدول/نموذج الطلبات؛ استُبعد من هذا المخطط حسب توجيهك، وينبغي حذفه من الكود أيضًا إذا لم يكن مطلوبًا.</a:t>
            </a:r>
            <a:endParaRPr sz="900" b="0">
              <a:solidFill>
                <a:srgbClr val="18314F"/>
              </a:solidFill>
              <a:latin typeface="Apto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p:sp>
        <p:nvSpPr>
          <p:cNvPr id="2" name="TextBox 1"/>
          <p:cNvSpPr txBox="1"/>
          <p:nvPr/>
        </p:nvSpPr>
        <p:spPr>
          <a:xfrm>
            <a:off x="411480" y="164592"/>
            <a:ext cx="11338560" cy="384048"/>
          </a:xfrm>
          <a:prstGeom prst="rect">
            <a:avLst/>
          </a:prstGeom>
          <a:noFill/>
        </p:spPr>
        <p:txBody>
          <a:bodyPr wrap="square" lIns="54864" tIns="18288" rIns="54864" bIns="18288">
            <a:spAutoFit/>
          </a:bodyPr>
          <a:lstStyle/>
          <a:p>
            <a:pPr algn="ctr"/>
            <a:r>
              <a:rPr sz="2400" b="1">
                <a:solidFill>
                  <a:srgbClr val="18314F"/>
                </a:solidFill>
                <a:latin typeface="Aptos"/>
              </a:rPr>
              <a:t>High-Level Sitemap</a:t>
            </a:r>
            <a:endParaRPr sz="2400" b="1">
              <a:solidFill>
                <a:srgbClr val="18314F"/>
              </a:solidFill>
              <a:latin typeface="Aptos"/>
            </a:endParaRPr>
          </a:p>
        </p:txBody>
      </p:sp>
      <p:sp>
        <p:nvSpPr>
          <p:cNvPr id="3" name="TextBox 2"/>
          <p:cNvSpPr txBox="1"/>
          <p:nvPr/>
        </p:nvSpPr>
        <p:spPr>
          <a:xfrm>
            <a:off x="411480" y="539496"/>
            <a:ext cx="11338560" cy="329184"/>
          </a:xfrm>
          <a:prstGeom prst="rect">
            <a:avLst/>
          </a:prstGeom>
          <a:noFill/>
        </p:spPr>
        <p:txBody>
          <a:bodyPr wrap="square" lIns="54864" tIns="18288" rIns="54864" bIns="18288">
            <a:spAutoFit/>
          </a:bodyPr>
          <a:lstStyle/>
          <a:p>
            <a:pPr algn="ctr"/>
            <a:r>
              <a:rPr sz="1800" b="1">
                <a:solidFill>
                  <a:srgbClr val="18314F"/>
                </a:solidFill>
                <a:latin typeface="Aptos"/>
              </a:rPr>
              <a:t>مخطط خريطة الواجهات والتنقل</a:t>
            </a:r>
            <a:endParaRPr sz="1800" b="1">
              <a:solidFill>
                <a:srgbClr val="18314F"/>
              </a:solidFill>
              <a:latin typeface="Aptos"/>
            </a:endParaRPr>
          </a:p>
        </p:txBody>
      </p:sp>
      <p:sp>
        <p:nvSpPr>
          <p:cNvPr id="4" name="TextBox 3"/>
          <p:cNvSpPr txBox="1"/>
          <p:nvPr/>
        </p:nvSpPr>
        <p:spPr>
          <a:xfrm>
            <a:off x="502920" y="877824"/>
            <a:ext cx="11155680" cy="256032"/>
          </a:xfrm>
          <a:prstGeom prst="rect">
            <a:avLst/>
          </a:prstGeom>
          <a:noFill/>
        </p:spPr>
        <p:txBody>
          <a:bodyPr wrap="square" lIns="54864" tIns="18288" rIns="54864" bIns="18288">
            <a:spAutoFit/>
          </a:bodyPr>
          <a:lstStyle/>
          <a:p>
            <a:pPr algn="ctr"/>
            <a:r>
              <a:rPr sz="1000" b="0">
                <a:solidFill>
                  <a:srgbClr val="5B7084"/>
                </a:solidFill>
                <a:latin typeface="Aptos"/>
              </a:rPr>
              <a:t>Frontend routes are based on the supplied Flask app / المسارات مستخلصة من تطبيق Flask المرفق</a:t>
            </a:r>
            <a:endParaRPr sz="1000" b="0">
              <a:solidFill>
                <a:srgbClr val="5B7084"/>
              </a:solidFill>
              <a:latin typeface="Aptos"/>
            </a:endParaRPr>
          </a:p>
        </p:txBody>
      </p:sp>
      <p:sp>
        <p:nvSpPr>
          <p:cNvPr id="5" name="Rectangle 4"/>
          <p:cNvSpPr/>
          <p:nvPr/>
        </p:nvSpPr>
        <p:spPr>
          <a:xfrm>
            <a:off x="502920" y="1170432"/>
            <a:ext cx="11155680" cy="22860"/>
          </a:xfrm>
          <a:prstGeom prst="rect">
            <a:avLst/>
          </a:prstGeom>
          <a:solidFill>
            <a:srgbClr val="E2EDF5"/>
          </a:solidFill>
          <a:ln>
            <a:solidFill>
              <a:srgbClr val="0091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6528816"/>
            <a:ext cx="11521440" cy="164592"/>
          </a:xfrm>
          <a:prstGeom prst="rect">
            <a:avLst/>
          </a:prstGeom>
          <a:noFill/>
        </p:spPr>
        <p:txBody>
          <a:bodyPr wrap="square" lIns="54864" tIns="18288" rIns="54864" bIns="18288">
            <a:spAutoFit/>
          </a:bodyPr>
          <a:lstStyle/>
          <a:p>
            <a:pPr algn="ctr"/>
            <a:r>
              <a:rPr sz="800" b="0">
                <a:solidFill>
                  <a:srgbClr val="18314F"/>
                </a:solidFill>
                <a:latin typeface="Aptos"/>
              </a:rPr>
              <a:t>Car Rental Platform  |  مخططات المشروع  •  20</a:t>
            </a:r>
            <a:endParaRPr sz="800" b="0">
              <a:solidFill>
                <a:srgbClr val="18314F"/>
              </a:solidFill>
              <a:latin typeface="Aptos"/>
            </a:endParaRPr>
          </a:p>
        </p:txBody>
      </p:sp>
      <p:sp>
        <p:nvSpPr>
          <p:cNvPr id="7" name="Rounded Rectangle 6"/>
          <p:cNvSpPr/>
          <p:nvPr/>
        </p:nvSpPr>
        <p:spPr>
          <a:xfrm>
            <a:off x="4572000" y="1389888"/>
            <a:ext cx="3017520" cy="548640"/>
          </a:xfrm>
          <a:prstGeom prst="roundRect">
            <a:avLst/>
          </a:prstGeom>
          <a:solidFill>
            <a:srgbClr val="FFFFFF"/>
          </a:solidFill>
          <a:ln w="19050">
            <a:solidFill>
              <a:srgbClr val="0091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18314F"/>
                </a:solidFill>
                <a:latin typeface="Aptos"/>
              </a:rPr>
              <a:t>Home / Public Catalog</a:t>
            </a:r>
            <a:endParaRPr sz="1300" b="1">
              <a:solidFill>
                <a:srgbClr val="18314F"/>
              </a:solidFill>
              <a:latin typeface="Aptos"/>
            </a:endParaRPr>
          </a:p>
          <a:p>
            <a:pPr algn="ctr">
              <a:spcBef>
                <a:spcPts val="200"/>
              </a:spcBef>
            </a:pPr>
            <a:r>
              <a:rPr sz="1100">
                <a:solidFill>
                  <a:srgbClr val="18314F"/>
                </a:solidFill>
                <a:latin typeface="Arial" panose="020B0604020202020204"/>
              </a:rPr>
              <a:t>الرئيسية / كتالوج السيارات</a:t>
            </a:r>
            <a:endParaRPr sz="1100">
              <a:solidFill>
                <a:srgbClr val="18314F"/>
              </a:solidFill>
              <a:latin typeface="Arial" panose="020B0604020202020204"/>
            </a:endParaRPr>
          </a:p>
        </p:txBody>
      </p:sp>
      <p:sp>
        <p:nvSpPr>
          <p:cNvPr id="8" name="Rounded Rectangle 7"/>
          <p:cNvSpPr/>
          <p:nvPr/>
        </p:nvSpPr>
        <p:spPr>
          <a:xfrm>
            <a:off x="502920" y="2423160"/>
            <a:ext cx="2423160" cy="621792"/>
          </a:xfrm>
          <a:prstGeom prst="roundRect">
            <a:avLst/>
          </a:prstGeom>
          <a:solidFill>
            <a:srgbClr val="FFFFFF"/>
          </a:solidFill>
          <a:ln w="19050">
            <a:solidFill>
              <a:srgbClr val="0091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18314F"/>
                </a:solidFill>
                <a:latin typeface="Aptos"/>
              </a:rPr>
              <a:t>Car Details: /cars/&lt;id&gt;</a:t>
            </a:r>
            <a:endParaRPr sz="1100" b="1">
              <a:solidFill>
                <a:srgbClr val="18314F"/>
              </a:solidFill>
              <a:latin typeface="Aptos"/>
            </a:endParaRPr>
          </a:p>
          <a:p>
            <a:pPr algn="ctr">
              <a:spcBef>
                <a:spcPts val="200"/>
              </a:spcBef>
            </a:pPr>
            <a:r>
              <a:rPr sz="900">
                <a:solidFill>
                  <a:srgbClr val="18314F"/>
                </a:solidFill>
                <a:latin typeface="Arial" panose="020B0604020202020204"/>
              </a:rPr>
              <a:t>تفاصيل السيارة</a:t>
            </a:r>
            <a:endParaRPr sz="900">
              <a:solidFill>
                <a:srgbClr val="18314F"/>
              </a:solidFill>
              <a:latin typeface="Arial" panose="020B0604020202020204"/>
            </a:endParaRPr>
          </a:p>
        </p:txBody>
      </p:sp>
      <p:sp>
        <p:nvSpPr>
          <p:cNvPr id="9" name="Rounded Rectangle 8"/>
          <p:cNvSpPr/>
          <p:nvPr/>
        </p:nvSpPr>
        <p:spPr>
          <a:xfrm>
            <a:off x="3154680" y="2423160"/>
            <a:ext cx="2423160" cy="621792"/>
          </a:xfrm>
          <a:prstGeom prst="roundRect">
            <a:avLst/>
          </a:prstGeom>
          <a:solidFill>
            <a:srgbClr val="FFFFFF"/>
          </a:solidFill>
          <a:ln w="19050">
            <a:solidFill>
              <a:srgbClr val="0091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18314F"/>
                </a:solidFill>
                <a:latin typeface="Aptos"/>
              </a:rPr>
              <a:t>Login: /login</a:t>
            </a:r>
            <a:endParaRPr sz="1100" b="1">
              <a:solidFill>
                <a:srgbClr val="18314F"/>
              </a:solidFill>
              <a:latin typeface="Aptos"/>
            </a:endParaRPr>
          </a:p>
          <a:p>
            <a:pPr algn="ctr">
              <a:spcBef>
                <a:spcPts val="200"/>
              </a:spcBef>
            </a:pPr>
            <a:r>
              <a:rPr sz="900">
                <a:solidFill>
                  <a:srgbClr val="18314F"/>
                </a:solidFill>
                <a:latin typeface="Arial" panose="020B0604020202020204"/>
              </a:rPr>
              <a:t>تسجيل الدخول</a:t>
            </a:r>
            <a:endParaRPr sz="900">
              <a:solidFill>
                <a:srgbClr val="18314F"/>
              </a:solidFill>
              <a:latin typeface="Arial" panose="020B0604020202020204"/>
            </a:endParaRPr>
          </a:p>
        </p:txBody>
      </p:sp>
      <p:sp>
        <p:nvSpPr>
          <p:cNvPr id="10" name="Rounded Rectangle 9"/>
          <p:cNvSpPr/>
          <p:nvPr/>
        </p:nvSpPr>
        <p:spPr>
          <a:xfrm>
            <a:off x="5806440" y="2423160"/>
            <a:ext cx="2423160" cy="621792"/>
          </a:xfrm>
          <a:prstGeom prst="roundRect">
            <a:avLst/>
          </a:prstGeom>
          <a:solidFill>
            <a:srgbClr val="FFFFFF"/>
          </a:solidFill>
          <a:ln w="19050">
            <a:solidFill>
              <a:srgbClr val="0091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18314F"/>
                </a:solidFill>
                <a:latin typeface="Aptos"/>
              </a:rPr>
              <a:t>Register: /register</a:t>
            </a:r>
            <a:endParaRPr sz="1100" b="1">
              <a:solidFill>
                <a:srgbClr val="18314F"/>
              </a:solidFill>
              <a:latin typeface="Aptos"/>
            </a:endParaRPr>
          </a:p>
          <a:p>
            <a:pPr algn="ctr">
              <a:spcBef>
                <a:spcPts val="200"/>
              </a:spcBef>
            </a:pPr>
            <a:r>
              <a:rPr sz="900">
                <a:solidFill>
                  <a:srgbClr val="18314F"/>
                </a:solidFill>
                <a:latin typeface="Arial" panose="020B0604020202020204"/>
              </a:rPr>
              <a:t>إنشاء حساب</a:t>
            </a:r>
            <a:endParaRPr sz="900">
              <a:solidFill>
                <a:srgbClr val="18314F"/>
              </a:solidFill>
              <a:latin typeface="Arial" panose="020B0604020202020204"/>
            </a:endParaRPr>
          </a:p>
        </p:txBody>
      </p:sp>
      <p:sp>
        <p:nvSpPr>
          <p:cNvPr id="11" name="Rounded Rectangle 10"/>
          <p:cNvSpPr/>
          <p:nvPr/>
        </p:nvSpPr>
        <p:spPr>
          <a:xfrm>
            <a:off x="8458200" y="2423160"/>
            <a:ext cx="2834640" cy="621792"/>
          </a:xfrm>
          <a:prstGeom prst="roundRect">
            <a:avLst/>
          </a:prstGeom>
          <a:solidFill>
            <a:srgbClr val="FFFFFF"/>
          </a:solidFill>
          <a:ln w="19050">
            <a:solidFill>
              <a:srgbClr val="0091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18314F"/>
                </a:solidFill>
                <a:latin typeface="Aptos"/>
              </a:rPr>
              <a:t>Role-based Dashboards</a:t>
            </a:r>
            <a:endParaRPr sz="1100" b="1">
              <a:solidFill>
                <a:srgbClr val="18314F"/>
              </a:solidFill>
              <a:latin typeface="Aptos"/>
            </a:endParaRPr>
          </a:p>
          <a:p>
            <a:pPr algn="ctr">
              <a:spcBef>
                <a:spcPts val="200"/>
              </a:spcBef>
            </a:pPr>
            <a:r>
              <a:rPr sz="900">
                <a:solidFill>
                  <a:srgbClr val="18314F"/>
                </a:solidFill>
                <a:latin typeface="Arial" panose="020B0604020202020204"/>
              </a:rPr>
              <a:t>لوحات التحكم حسب الدور</a:t>
            </a:r>
            <a:endParaRPr sz="900">
              <a:solidFill>
                <a:srgbClr val="18314F"/>
              </a:solidFill>
              <a:latin typeface="Arial" panose="020B0604020202020204"/>
            </a:endParaRPr>
          </a:p>
        </p:txBody>
      </p:sp>
      <p:cxnSp>
        <p:nvCxnSpPr>
          <p:cNvPr id="12" name="Connector 11"/>
          <p:cNvCxnSpPr/>
          <p:nvPr/>
        </p:nvCxnSpPr>
        <p:spPr>
          <a:xfrm flipH="1">
            <a:off x="1714500" y="1938528"/>
            <a:ext cx="4366260" cy="484632"/>
          </a:xfrm>
          <a:prstGeom prst="line">
            <a:avLst/>
          </a:prstGeom>
          <a:ln w="16510">
            <a:solidFill>
              <a:srgbClr val="0091A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366260" y="1938528"/>
            <a:ext cx="1714500" cy="484632"/>
          </a:xfrm>
          <a:prstGeom prst="line">
            <a:avLst/>
          </a:prstGeom>
          <a:ln w="16510">
            <a:solidFill>
              <a:srgbClr val="0091A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080760" y="1938528"/>
            <a:ext cx="937260" cy="484632"/>
          </a:xfrm>
          <a:prstGeom prst="line">
            <a:avLst/>
          </a:prstGeom>
          <a:ln w="16510">
            <a:solidFill>
              <a:srgbClr val="0091A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080760" y="1938528"/>
            <a:ext cx="3794760" cy="484632"/>
          </a:xfrm>
          <a:prstGeom prst="line">
            <a:avLst/>
          </a:prstGeom>
          <a:ln w="16510">
            <a:solidFill>
              <a:srgbClr val="0091A0"/>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94360" y="3794760"/>
            <a:ext cx="3063240" cy="713232"/>
          </a:xfrm>
          <a:prstGeom prst="roundRect">
            <a:avLst/>
          </a:prstGeom>
          <a:solidFill>
            <a:srgbClr val="18314F"/>
          </a:solidFill>
          <a:ln w="19050">
            <a:solidFill>
              <a:srgbClr val="0091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FFFFFF"/>
                </a:solidFill>
                <a:latin typeface="Aptos"/>
              </a:rPr>
              <a:t>Customer Dashboard</a:t>
            </a:r>
            <a:endParaRPr sz="1200" b="1">
              <a:solidFill>
                <a:srgbClr val="FFFFFF"/>
              </a:solidFill>
              <a:latin typeface="Aptos"/>
            </a:endParaRPr>
          </a:p>
          <a:p>
            <a:pPr algn="ctr">
              <a:spcBef>
                <a:spcPts val="200"/>
              </a:spcBef>
            </a:pPr>
            <a:r>
              <a:rPr sz="1000">
                <a:solidFill>
                  <a:srgbClr val="FFFFFF"/>
                </a:solidFill>
                <a:latin typeface="Arial" panose="020B0604020202020204"/>
              </a:rPr>
              <a:t>لوحة العميل</a:t>
            </a:r>
            <a:endParaRPr sz="1000">
              <a:solidFill>
                <a:srgbClr val="FFFFFF"/>
              </a:solidFill>
              <a:latin typeface="Arial" panose="020B0604020202020204"/>
            </a:endParaRPr>
          </a:p>
        </p:txBody>
      </p:sp>
      <p:sp>
        <p:nvSpPr>
          <p:cNvPr id="17" name="Rounded Rectangle 16"/>
          <p:cNvSpPr/>
          <p:nvPr/>
        </p:nvSpPr>
        <p:spPr>
          <a:xfrm>
            <a:off x="4526280" y="3794760"/>
            <a:ext cx="3063240" cy="713232"/>
          </a:xfrm>
          <a:prstGeom prst="roundRect">
            <a:avLst/>
          </a:prstGeom>
          <a:solidFill>
            <a:srgbClr val="18314F"/>
          </a:solidFill>
          <a:ln w="19050">
            <a:solidFill>
              <a:srgbClr val="0091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FFFFFF"/>
                </a:solidFill>
                <a:latin typeface="Aptos"/>
              </a:rPr>
              <a:t>Office Dashboard</a:t>
            </a:r>
            <a:endParaRPr sz="1200" b="1">
              <a:solidFill>
                <a:srgbClr val="FFFFFF"/>
              </a:solidFill>
              <a:latin typeface="Aptos"/>
            </a:endParaRPr>
          </a:p>
          <a:p>
            <a:pPr algn="ctr">
              <a:spcBef>
                <a:spcPts val="200"/>
              </a:spcBef>
            </a:pPr>
            <a:r>
              <a:rPr sz="1000">
                <a:solidFill>
                  <a:srgbClr val="FFFFFF"/>
                </a:solidFill>
                <a:latin typeface="Arial" panose="020B0604020202020204"/>
              </a:rPr>
              <a:t>لوحة مالك المكتب</a:t>
            </a:r>
            <a:endParaRPr sz="1000">
              <a:solidFill>
                <a:srgbClr val="FFFFFF"/>
              </a:solidFill>
              <a:latin typeface="Arial" panose="020B0604020202020204"/>
            </a:endParaRPr>
          </a:p>
        </p:txBody>
      </p:sp>
      <p:sp>
        <p:nvSpPr>
          <p:cNvPr id="18" name="Rounded Rectangle 17"/>
          <p:cNvSpPr/>
          <p:nvPr/>
        </p:nvSpPr>
        <p:spPr>
          <a:xfrm>
            <a:off x="8458200" y="3794760"/>
            <a:ext cx="3063240" cy="713232"/>
          </a:xfrm>
          <a:prstGeom prst="roundRect">
            <a:avLst/>
          </a:prstGeom>
          <a:solidFill>
            <a:srgbClr val="18314F"/>
          </a:solidFill>
          <a:ln w="19050">
            <a:solidFill>
              <a:srgbClr val="0091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FFFFFF"/>
                </a:solidFill>
                <a:latin typeface="Aptos"/>
              </a:rPr>
              <a:t>Admin Dashboard</a:t>
            </a:r>
            <a:endParaRPr sz="1200" b="1">
              <a:solidFill>
                <a:srgbClr val="FFFFFF"/>
              </a:solidFill>
              <a:latin typeface="Aptos"/>
            </a:endParaRPr>
          </a:p>
          <a:p>
            <a:pPr algn="ctr">
              <a:spcBef>
                <a:spcPts val="200"/>
              </a:spcBef>
            </a:pPr>
            <a:r>
              <a:rPr sz="1000">
                <a:solidFill>
                  <a:srgbClr val="FFFFFF"/>
                </a:solidFill>
                <a:latin typeface="Arial" panose="020B0604020202020204"/>
              </a:rPr>
              <a:t>لوحة مدير النظام</a:t>
            </a:r>
            <a:endParaRPr sz="1000">
              <a:solidFill>
                <a:srgbClr val="FFFFFF"/>
              </a:solidFill>
              <a:latin typeface="Arial" panose="020B0604020202020204"/>
            </a:endParaRPr>
          </a:p>
        </p:txBody>
      </p:sp>
      <p:cxnSp>
        <p:nvCxnSpPr>
          <p:cNvPr id="19" name="Connector 18"/>
          <p:cNvCxnSpPr/>
          <p:nvPr/>
        </p:nvCxnSpPr>
        <p:spPr>
          <a:xfrm>
            <a:off x="9875520" y="3044952"/>
            <a:ext cx="0" cy="384048"/>
          </a:xfrm>
          <a:prstGeom prst="line">
            <a:avLst/>
          </a:prstGeom>
          <a:ln w="17780">
            <a:solidFill>
              <a:srgbClr val="0091A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2125980" y="3429000"/>
            <a:ext cx="7749540" cy="0"/>
          </a:xfrm>
          <a:prstGeom prst="line">
            <a:avLst/>
          </a:prstGeom>
          <a:ln w="17780">
            <a:solidFill>
              <a:srgbClr val="0091A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125980" y="3429000"/>
            <a:ext cx="0" cy="365760"/>
          </a:xfrm>
          <a:prstGeom prst="line">
            <a:avLst/>
          </a:prstGeom>
          <a:ln w="17780">
            <a:solidFill>
              <a:srgbClr val="0091A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057900" y="3429000"/>
            <a:ext cx="0" cy="365760"/>
          </a:xfrm>
          <a:prstGeom prst="line">
            <a:avLst/>
          </a:prstGeom>
          <a:ln w="17780">
            <a:solidFill>
              <a:srgbClr val="0091A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989820" y="3429000"/>
            <a:ext cx="0" cy="365760"/>
          </a:xfrm>
          <a:prstGeom prst="line">
            <a:avLst/>
          </a:prstGeom>
          <a:ln w="17780">
            <a:solidFill>
              <a:srgbClr val="0091A0"/>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94360" y="4983480"/>
            <a:ext cx="3063240" cy="658368"/>
          </a:xfrm>
          <a:prstGeom prst="roundRect">
            <a:avLst/>
          </a:prstGeom>
          <a:solidFill>
            <a:srgbClr val="FFFFFF"/>
          </a:solidFill>
          <a:ln w="19050">
            <a:solidFill>
              <a:srgbClr val="0091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18314F"/>
                </a:solidFill>
                <a:latin typeface="Aptos"/>
              </a:rPr>
              <a:t>Browse cars • View details • Notifications</a:t>
            </a:r>
            <a:endParaRPr sz="1000" b="1">
              <a:solidFill>
                <a:srgbClr val="18314F"/>
              </a:solidFill>
              <a:latin typeface="Aptos"/>
            </a:endParaRPr>
          </a:p>
          <a:p>
            <a:pPr algn="ctr">
              <a:spcBef>
                <a:spcPts val="200"/>
              </a:spcBef>
            </a:pPr>
            <a:r>
              <a:rPr sz="900">
                <a:solidFill>
                  <a:srgbClr val="18314F"/>
                </a:solidFill>
                <a:latin typeface="Arial" panose="020B0604020202020204"/>
              </a:rPr>
              <a:t>تصفح السيارات • التفاصيل • الإشعارات</a:t>
            </a:r>
            <a:endParaRPr sz="900">
              <a:solidFill>
                <a:srgbClr val="18314F"/>
              </a:solidFill>
              <a:latin typeface="Arial" panose="020B0604020202020204"/>
            </a:endParaRPr>
          </a:p>
        </p:txBody>
      </p:sp>
      <p:sp>
        <p:nvSpPr>
          <p:cNvPr id="25" name="Rounded Rectangle 24"/>
          <p:cNvSpPr/>
          <p:nvPr/>
        </p:nvSpPr>
        <p:spPr>
          <a:xfrm>
            <a:off x="4526280" y="4983480"/>
            <a:ext cx="3063240" cy="658368"/>
          </a:xfrm>
          <a:prstGeom prst="roundRect">
            <a:avLst/>
          </a:prstGeom>
          <a:solidFill>
            <a:srgbClr val="FFFFFF"/>
          </a:solidFill>
          <a:ln w="19050">
            <a:solidFill>
              <a:srgbClr val="0091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18314F"/>
                </a:solidFill>
                <a:latin typeface="Aptos"/>
              </a:rPr>
              <a:t>Office profile • Manage cars &amp; images</a:t>
            </a:r>
            <a:endParaRPr sz="1000" b="1">
              <a:solidFill>
                <a:srgbClr val="18314F"/>
              </a:solidFill>
              <a:latin typeface="Aptos"/>
            </a:endParaRPr>
          </a:p>
          <a:p>
            <a:pPr algn="ctr">
              <a:spcBef>
                <a:spcPts val="200"/>
              </a:spcBef>
            </a:pPr>
            <a:r>
              <a:rPr sz="900">
                <a:solidFill>
                  <a:srgbClr val="18314F"/>
                </a:solidFill>
                <a:latin typeface="Arial" panose="020B0604020202020204"/>
              </a:rPr>
              <a:t>ملف المكتب • إدارة السيارات والصور</a:t>
            </a:r>
            <a:endParaRPr sz="900">
              <a:solidFill>
                <a:srgbClr val="18314F"/>
              </a:solidFill>
              <a:latin typeface="Arial" panose="020B0604020202020204"/>
            </a:endParaRPr>
          </a:p>
        </p:txBody>
      </p:sp>
      <p:sp>
        <p:nvSpPr>
          <p:cNvPr id="26" name="Rounded Rectangle 25"/>
          <p:cNvSpPr/>
          <p:nvPr/>
        </p:nvSpPr>
        <p:spPr>
          <a:xfrm>
            <a:off x="8458200" y="4983480"/>
            <a:ext cx="3063240" cy="658368"/>
          </a:xfrm>
          <a:prstGeom prst="roundRect">
            <a:avLst/>
          </a:prstGeom>
          <a:solidFill>
            <a:srgbClr val="FFFFFF"/>
          </a:solidFill>
          <a:ln w="19050">
            <a:solidFill>
              <a:srgbClr val="0091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18314F"/>
                </a:solidFill>
                <a:latin typeface="Aptos"/>
              </a:rPr>
              <a:t>Manage users • Review offices • Stats</a:t>
            </a:r>
            <a:endParaRPr sz="1000" b="1">
              <a:solidFill>
                <a:srgbClr val="18314F"/>
              </a:solidFill>
              <a:latin typeface="Aptos"/>
            </a:endParaRPr>
          </a:p>
          <a:p>
            <a:pPr algn="ctr">
              <a:spcBef>
                <a:spcPts val="200"/>
              </a:spcBef>
            </a:pPr>
            <a:r>
              <a:rPr sz="900">
                <a:solidFill>
                  <a:srgbClr val="18314F"/>
                </a:solidFill>
                <a:latin typeface="Arial" panose="020B0604020202020204"/>
              </a:rPr>
              <a:t>إدارة المستخدمين • المكاتب • الإحصاءات</a:t>
            </a:r>
            <a:endParaRPr sz="900">
              <a:solidFill>
                <a:srgbClr val="18314F"/>
              </a:solidFill>
              <a:latin typeface="Arial" panose="020B0604020202020204"/>
            </a:endParaRPr>
          </a:p>
        </p:txBody>
      </p:sp>
      <p:cxnSp>
        <p:nvCxnSpPr>
          <p:cNvPr id="27" name="Connector 26"/>
          <p:cNvCxnSpPr/>
          <p:nvPr/>
        </p:nvCxnSpPr>
        <p:spPr>
          <a:xfrm>
            <a:off x="2125980" y="4507992"/>
            <a:ext cx="0" cy="475488"/>
          </a:xfrm>
          <a:prstGeom prst="line">
            <a:avLst/>
          </a:prstGeom>
          <a:ln w="16510">
            <a:solidFill>
              <a:srgbClr val="0091A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057900" y="4507992"/>
            <a:ext cx="0" cy="475488"/>
          </a:xfrm>
          <a:prstGeom prst="line">
            <a:avLst/>
          </a:prstGeom>
          <a:ln w="16510">
            <a:solidFill>
              <a:srgbClr val="0091A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989820" y="4507992"/>
            <a:ext cx="0" cy="475488"/>
          </a:xfrm>
          <a:prstGeom prst="line">
            <a:avLst/>
          </a:prstGeom>
          <a:ln w="16510">
            <a:solidFill>
              <a:srgbClr val="0091A0"/>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48640" y="5870448"/>
            <a:ext cx="11064240" cy="411480"/>
          </a:xfrm>
          <a:prstGeom prst="rect">
            <a:avLst/>
          </a:prstGeom>
          <a:noFill/>
        </p:spPr>
        <p:txBody>
          <a:bodyPr wrap="square" lIns="54864" tIns="18288" rIns="54864" bIns="18288">
            <a:spAutoFit/>
          </a:bodyPr>
          <a:lstStyle/>
          <a:p>
            <a:pPr algn="ctr"/>
            <a:r>
              <a:rPr sz="900" b="0">
                <a:solidFill>
                  <a:srgbClr val="18314F"/>
                </a:solidFill>
                <a:latin typeface="Aptos"/>
              </a:rPr>
              <a:t>Note / ملاحظة: notifications are authenticated; office/admin functions require the corresponding role.
الإشعارات تتطلب تسجيل الدخول، ووظائف المكتب والمدير تتطلب الدور المناسب.</a:t>
            </a:r>
            <a:endParaRPr sz="900" b="0">
              <a:solidFill>
                <a:srgbClr val="18314F"/>
              </a:solidFill>
              <a:latin typeface="Apto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13369</Words>
  <Application>WPS Presentation</Application>
  <PresentationFormat>Widescreen</PresentationFormat>
  <Paragraphs>839</Paragraphs>
  <Slides>19</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19</vt:i4>
      </vt:variant>
    </vt:vector>
  </HeadingPairs>
  <TitlesOfParts>
    <vt:vector size="32" baseType="lpstr">
      <vt:lpstr>Arial</vt:lpstr>
      <vt:lpstr>SimSun</vt:lpstr>
      <vt:lpstr>Wingdings</vt:lpstr>
      <vt:lpstr>Arial</vt:lpstr>
      <vt:lpstr>Calibri Light</vt:lpstr>
      <vt:lpstr>Times New Roman</vt:lpstr>
      <vt:lpstr>Calibri</vt:lpstr>
      <vt:lpstr>Simplified Arabic</vt:lpstr>
      <vt:lpstr>Microsoft YaHei</vt:lpstr>
      <vt:lpstr>Arial Unicode MS</vt:lpstr>
      <vt:lpstr>Aptos</vt:lpstr>
      <vt:lpstr>Segoe UI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akram massouh</dc:creator>
  <cp:lastModifiedBy>User</cp:lastModifiedBy>
  <cp:revision>8</cp:revision>
  <dcterms:created xsi:type="dcterms:W3CDTF">2026-10-17T18:22:00Z</dcterms:created>
  <dcterms:modified xsi:type="dcterms:W3CDTF">2026-10-29T10:56:45Z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A34CFB61796F4E75AA3F5D1C270181BC_13</vt:lpwstr>
  </property>
  <property fmtid="{D5CDD505-2E9C-101B-9397-08002B2CF9AE}" pid="3" name="KSOProductBuildVer">
    <vt:lpwstr>1033-12.2.0.23197</vt:lpwstr>
  </property>
</Properties>
</file>